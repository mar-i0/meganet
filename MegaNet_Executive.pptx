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32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Range (km)</c:v>
                </c:pt>
              </c:strCache>
            </c:strRef>
          </c:tx>
          <c:spPr>
            <a:solidFill>
              <a:srgbClr val="008CFF"/>
            </a:solidFill>
          </c:spPr>
          <c:cat>
            <c:strRef>
              <c:f>Sheet1!$A$2:$A$7</c:f>
              <c:strCache>
                <c:ptCount val="6"/>
                <c:pt idx="0">
                  <c:v>SF7</c:v>
                </c:pt>
                <c:pt idx="1">
                  <c:v>SF8</c:v>
                </c:pt>
                <c:pt idx="2">
                  <c:v>SF9</c:v>
                </c:pt>
                <c:pt idx="3">
                  <c:v>SF10</c:v>
                </c:pt>
                <c:pt idx="4">
                  <c:v>SF11</c:v>
                </c:pt>
                <c:pt idx="5">
                  <c:v>SF12</c:v>
                </c:pt>
              </c:strCache>
            </c:strRef>
          </c:cat>
          <c:val>
            <c:numRef>
              <c:f>Sheet1!$B$2:$B$7</c:f>
              <c:numCache>
                <c:formatCode>General</c:formatCode>
                <c:ptCount val="6"/>
                <c:pt idx="0">
                  <c:v>7</c:v>
                </c:pt>
                <c:pt idx="1">
                  <c:v>9</c:v>
                </c:pt>
                <c:pt idx="2">
                  <c:v>11</c:v>
                </c:pt>
                <c:pt idx="3">
                  <c:v>13</c:v>
                </c:pt>
                <c:pt idx="4">
                  <c:v>15</c:v>
                </c:pt>
                <c:pt idx="5">
                  <c:v>17</c:v>
                </c:pt>
              </c:numCache>
            </c:numRef>
          </c:val>
        </c:ser>
        <c:ser>
          <c:idx val="1"/>
          <c:order val="1"/>
          <c:tx>
            <c:strRef>
              <c:f>Sheet1!$C$1</c:f>
              <c:strCache>
                <c:ptCount val="1"/>
                <c:pt idx="0">
                  <c:v>Data rate x10 (bps)</c:v>
                </c:pt>
              </c:strCache>
            </c:strRef>
          </c:tx>
          <c:spPr>
            <a:solidFill>
              <a:srgbClr val="00C86E"/>
            </a:solidFill>
          </c:spPr>
          <c:cat>
            <c:strRef>
              <c:f>Sheet1!$A$2:$A$7</c:f>
              <c:strCache>
                <c:ptCount val="6"/>
                <c:pt idx="0">
                  <c:v>SF7</c:v>
                </c:pt>
                <c:pt idx="1">
                  <c:v>SF8</c:v>
                </c:pt>
                <c:pt idx="2">
                  <c:v>SF9</c:v>
                </c:pt>
                <c:pt idx="3">
                  <c:v>SF10</c:v>
                </c:pt>
                <c:pt idx="4">
                  <c:v>SF11</c:v>
                </c:pt>
                <c:pt idx="5">
                  <c:v>SF12</c:v>
                </c:pt>
              </c:strCache>
            </c:strRef>
          </c:cat>
          <c:val>
            <c:numRef>
              <c:f>Sheet1!$C$2:$C$7</c:f>
              <c:numCache>
                <c:formatCode>General</c:formatCode>
                <c:ptCount val="6"/>
                <c:pt idx="0">
                  <c:v>55</c:v>
                </c:pt>
                <c:pt idx="1">
                  <c:v>32</c:v>
                </c:pt>
                <c:pt idx="2">
                  <c:v>18</c:v>
                </c:pt>
                <c:pt idx="3">
                  <c:v>11</c:v>
                </c:pt>
                <c:pt idx="4">
                  <c:v>6</c:v>
                </c:pt>
                <c:pt idx="5">
                  <c:v>3</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000">
                <a:solidFill>
                  <a:srgbClr val="FFFFFF"/>
                </a:solidFill>
              </a:defRPr>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1000">
                <a:solidFill>
                  <a:srgbClr val="FFFFFF"/>
                </a:solidFill>
              </a:defRPr>
            </a:pPr>
          </a:p>
        </c:txPr>
        <c:crossAx val="-2068027336"/>
        <c:crosses val="autoZero"/>
      </c:valAx>
    </c:plotArea>
    <c:legend>
      <c:txPr>
        <a:bodyPr/>
        <a:lstStyle/>
        <a:p>
          <a:pPr>
            <a:defRPr sz="1000">
              <a:solidFill>
                <a:srgbClr val="FFFFFF"/>
              </a:solidFill>
            </a:defRPr>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solidFill>
                  <a:srgbClr val="FFFFFF"/>
                </a:solidFill>
              </a:defRPr>
            </a:pPr>
            <a:r>
              <a:t>Signal Strength vs Distance (EU868)</a:t>
            </a:r>
          </a:p>
        </c:rich>
      </c:tx>
      <c:layout/>
      <c:overlay val="0"/>
    </c:title>
    <c:autoTitleDeleted val="0"/>
    <c:plotArea>
      <c:barChart>
        <c:barDir val="col"/>
        <c:grouping val="clustered"/>
        <c:ser>
          <c:idx val="0"/>
          <c:order val="0"/>
          <c:tx>
            <c:strRef>
              <c:f>Sheet1!$B$1</c:f>
              <c:strCache>
                <c:ptCount val="1"/>
                <c:pt idx="0">
                  <c:v>RSSI (dBm + 150 offset)</c:v>
                </c:pt>
              </c:strCache>
            </c:strRef>
          </c:tx>
          <c:spPr>
            <a:solidFill>
              <a:srgbClr val="008CFF"/>
            </a:solidFill>
          </c:spPr>
          <c:cat>
            <c:strRef>
              <c:f>Sheet1!$A$2:$A$5</c:f>
              <c:strCache>
                <c:ptCount val="4"/>
                <c:pt idx="0">
                  <c:v>1km</c:v>
                </c:pt>
                <c:pt idx="1">
                  <c:v>5km</c:v>
                </c:pt>
                <c:pt idx="2">
                  <c:v>10km</c:v>
                </c:pt>
                <c:pt idx="3">
                  <c:v>15km</c:v>
                </c:pt>
              </c:strCache>
            </c:strRef>
          </c:cat>
          <c:val>
            <c:numRef>
              <c:f>Sheet1!$B$2:$B$5</c:f>
              <c:numCache>
                <c:formatCode>General</c:formatCode>
                <c:ptCount val="4"/>
                <c:pt idx="0">
                  <c:v>52</c:v>
                </c:pt>
                <c:pt idx="1">
                  <c:v>33</c:v>
                </c:pt>
                <c:pt idx="2">
                  <c:v>25</c:v>
                </c:pt>
                <c:pt idx="3">
                  <c:v>20</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100">
                <a:solidFill>
                  <a:srgbClr val="FFFFFF"/>
                </a:solidFill>
              </a:defRPr>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1000">
                <a:solidFill>
                  <a:srgbClr val="FFFFFF"/>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solidFill>
                  <a:srgbClr val="FFFFFF"/>
                </a:solidFill>
              </a:defRPr>
            </a:pPr>
            <a:r>
              <a:t>Delivery Probability @ 5km by Spreading Factor</a:t>
            </a:r>
          </a:p>
        </c:rich>
      </c:tx>
      <c:layout/>
      <c:overlay val="0"/>
    </c:title>
    <c:autoTitleDeleted val="0"/>
    <c:plotArea>
      <c:lineChart>
        <c:grouping val="standard"/>
        <c:varyColors val="0"/>
        <c:ser>
          <c:idx val="0"/>
          <c:order val="0"/>
          <c:tx>
            <c:strRef>
              <c:f>Sheet1!$B$1</c:f>
              <c:strCache>
                <c:ptCount val="1"/>
                <c:pt idx="0">
                  <c:v>Delivery % @ 5km</c:v>
                </c:pt>
              </c:strCache>
            </c:strRef>
          </c:tx>
          <c:spPr>
            <a:ln w="31750">
              <a:solidFill>
                <a:srgbClr val="00C86E"/>
              </a:solidFill>
            </a:ln>
          </c:spPr>
          <c:marker>
            <c:symbol val="none"/>
          </c:marker>
          <c:cat>
            <c:strRef>
              <c:f>Sheet1!$A$2:$A$7</c:f>
              <c:strCache>
                <c:ptCount val="6"/>
                <c:pt idx="0">
                  <c:v>SF7</c:v>
                </c:pt>
                <c:pt idx="1">
                  <c:v>SF8</c:v>
                </c:pt>
                <c:pt idx="2">
                  <c:v>SF9</c:v>
                </c:pt>
                <c:pt idx="3">
                  <c:v>SF10</c:v>
                </c:pt>
                <c:pt idx="4">
                  <c:v>SF11</c:v>
                </c:pt>
                <c:pt idx="5">
                  <c:v>SF12</c:v>
                </c:pt>
              </c:strCache>
            </c:strRef>
          </c:cat>
          <c:val>
            <c:numRef>
              <c:f>Sheet1!$B$2:$B$7</c:f>
              <c:numCache>
                <c:formatCode>General</c:formatCode>
                <c:ptCount val="6"/>
                <c:pt idx="0">
                  <c:v>85</c:v>
                </c:pt>
                <c:pt idx="1">
                  <c:v>91</c:v>
                </c:pt>
                <c:pt idx="2">
                  <c:v>96</c:v>
                </c:pt>
                <c:pt idx="3">
                  <c:v>99</c:v>
                </c:pt>
                <c:pt idx="4">
                  <c:v>99.5</c:v>
                </c:pt>
                <c:pt idx="5">
                  <c:v>99.8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100">
                <a:solidFill>
                  <a:srgbClr val="FFFFFF"/>
                </a:solidFill>
              </a:defRPr>
            </a:pPr>
          </a:p>
        </c:txPr>
        <c:crossAx val="2140495176"/>
        <c:crosses val="autoZero"/>
        <c:auto val="1"/>
        <c:lblAlgn val="ctr"/>
        <c:lblOffset val="100"/>
        <c:noMultiLvlLbl val="0"/>
      </c:catAx>
      <c:valAx>
        <c:axId val="2140495176"/>
        <c:scaling/>
        <c:delete val="0"/>
        <c:axPos val="l"/>
        <c:majorGridlines/>
        <c:majorTickMark val="out"/>
        <c:minorTickMark val="none"/>
        <c:tickLblPos val="nextTo"/>
        <c:txPr>
          <a:bodyPr/>
          <a:lstStyle/>
          <a:p>
            <a:pPr>
              <a:defRPr sz="1000">
                <a:solidFill>
                  <a:srgbClr val="FFFFFF"/>
                </a:solidFill>
              </a:defRPr>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chart" Target="../charts/char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42A"/>
        </a:solidFill>
        <a:effectLst/>
      </p:bgPr>
    </p:bg>
    <p:spTree>
      <p:nvGrpSpPr>
        <p:cNvPr id="1" name=""/>
        <p:cNvGrpSpPr/>
        <p:nvPr/>
      </p:nvGrpSpPr>
      <p:grpSpPr/>
      <p:sp>
        <p:nvSpPr>
          <p:cNvPr id="2" name="Rectangle 1"/>
          <p:cNvSpPr/>
          <p:nvPr/>
        </p:nvSpPr>
        <p:spPr>
          <a:xfrm>
            <a:off x="0" y="0"/>
            <a:ext cx="12193200" cy="6858000"/>
          </a:xfrm>
          <a:prstGeom prst="rect">
            <a:avLst/>
          </a:prstGeom>
          <a:solidFill>
            <a:srgbClr val="0A1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706260" y="0"/>
            <a:ext cx="5486940" cy="6858000"/>
          </a:xfrm>
          <a:prstGeom prst="rect">
            <a:avLst/>
          </a:prstGeom>
          <a:solidFill>
            <a:srgbClr val="050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706260" y="0"/>
            <a:ext cx="108000" cy="6858000"/>
          </a:xfrm>
          <a:prstGeom prst="rect">
            <a:avLst/>
          </a:prstGeom>
          <a:solidFill>
            <a:srgbClr val="005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030260" y="0"/>
            <a:ext cx="108000" cy="6858000"/>
          </a:xfrm>
          <a:prstGeom prst="rect">
            <a:avLst/>
          </a:prstGeom>
          <a:solidFill>
            <a:srgbClr val="0044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54260" y="0"/>
            <a:ext cx="108000" cy="6858000"/>
          </a:xfrm>
          <a:prstGeom prst="rect">
            <a:avLst/>
          </a:prstGeom>
          <a:solidFill>
            <a:srgbClr val="0038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78260" y="0"/>
            <a:ext cx="108000" cy="6858000"/>
          </a:xfrm>
          <a:prstGeom prst="rect">
            <a:avLst/>
          </a:prstGeom>
          <a:solidFill>
            <a:srgbClr val="002C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002260" y="0"/>
            <a:ext cx="108000" cy="6858000"/>
          </a:xfrm>
          <a:prstGeom prst="rect">
            <a:avLst/>
          </a:prstGeom>
          <a:solidFill>
            <a:srgbClr val="0020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326260" y="0"/>
            <a:ext cx="108000" cy="6858000"/>
          </a:xfrm>
          <a:prstGeom prst="rect">
            <a:avLst/>
          </a:prstGeom>
          <a:solidFill>
            <a:srgbClr val="0014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768764" y="1466100"/>
            <a:ext cx="3240000" cy="3240000"/>
          </a:xfrm>
          <a:prstGeom prst="ellipse">
            <a:avLst/>
          </a:prstGeom>
          <a:solidFill>
            <a:srgbClr val="001E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236764" y="1934100"/>
            <a:ext cx="2304000" cy="2304000"/>
          </a:xfrm>
          <a:prstGeom prst="ellipse">
            <a:avLst/>
          </a:prstGeom>
          <a:solidFill>
            <a:srgbClr val="003C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668764" y="2366100"/>
            <a:ext cx="1440000" cy="14400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064764" y="2762100"/>
            <a:ext cx="648000" cy="648000"/>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9388764.0" y="3086100.0"/>
            <a:ext cx="1091192.0087683927" cy="630000.0"/>
          </a:xfrm>
          <a:prstGeom prst="line">
            <a:avLst/>
          </a:prstGeom>
          <a:ln w="19050">
            <a:solidFill>
              <a:srgbClr val="00D4FF"/>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10335956" y="3572100"/>
            <a:ext cx="288000" cy="2880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flipH="1">
            <a:off x="8297571.991231607" y="3086100.0"/>
            <a:ext cx="1091192.0087683927" cy="630000.0"/>
          </a:xfrm>
          <a:prstGeom prst="line">
            <a:avLst/>
          </a:prstGeom>
          <a:ln w="19050">
            <a:solidFill>
              <a:srgbClr val="00D4FF"/>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8153571" y="3572100"/>
            <a:ext cx="288000" cy="288000"/>
          </a:xfrm>
          <a:prstGeom prst="ellipse">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flipV="1">
            <a:off x="9388764.0" y="1826100.0"/>
            <a:ext cx="0.0" cy="1260000.0"/>
          </a:xfrm>
          <a:prstGeom prst="line">
            <a:avLst/>
          </a:prstGeom>
          <a:ln w="19050">
            <a:solidFill>
              <a:srgbClr val="00D4FF"/>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9244764" y="1682100"/>
            <a:ext cx="288000" cy="288000"/>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0000" y="1620000"/>
            <a:ext cx="6480000" cy="3600000"/>
          </a:xfrm>
          <a:prstGeom prst="rect">
            <a:avLst/>
          </a:prstGeom>
          <a:noFill/>
        </p:spPr>
        <p:txBody>
          <a:bodyPr wrap="square">
            <a:spAutoFit/>
          </a:bodyPr>
          <a:lstStyle/>
          <a:p>
            <a:pPr algn="l"/>
            <a:r>
              <a:rPr sz="6000" b="1">
                <a:solidFill>
                  <a:srgbClr val="FFFFFF"/>
                </a:solidFill>
                <a:latin typeface="Calibri"/>
              </a:rPr>
              <a:t>MegaNet</a:t>
            </a:r>
          </a:p>
          <a:p>
            <a:pPr algn="l"/>
            <a:r>
              <a:rPr sz="2400" b="0">
                <a:solidFill>
                  <a:srgbClr val="00D4FF"/>
                </a:solidFill>
                <a:latin typeface="Calibri"/>
              </a:rPr>
              <a:t>Internet Paralela Descentralizada</a:t>
            </a:r>
          </a:p>
          <a:p>
            <a:pPr algn="l">
              <a:spcAft>
                <a:spcPts val="400"/>
              </a:spcAft>
            </a:pPr>
          </a:p>
          <a:p>
            <a:pPr algn="l"/>
            <a:r>
              <a:rPr sz="1500" b="0">
                <a:solidFill>
                  <a:srgbClr val="B0C4DE"/>
                </a:solidFill>
                <a:latin typeface="Calibri"/>
              </a:rPr>
              <a:t>Executive Briefing  |  2026</a:t>
            </a:r>
          </a:p>
        </p:txBody>
      </p:sp>
      <p:sp>
        <p:nvSpPr>
          <p:cNvPr id="21" name="Rectangle 20"/>
          <p:cNvSpPr/>
          <p:nvPr/>
        </p:nvSpPr>
        <p:spPr>
          <a:xfrm>
            <a:off x="0" y="5706000"/>
            <a:ext cx="7200000" cy="827999"/>
          </a:xfrm>
          <a:prstGeom prst="rect">
            <a:avLst/>
          </a:prstGeom>
          <a:solidFill>
            <a:srgbClr val="0064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16000" y="5742000"/>
            <a:ext cx="6840000" cy="756000"/>
          </a:xfrm>
          <a:prstGeom prst="rect">
            <a:avLst/>
          </a:prstGeom>
          <a:noFill/>
        </p:spPr>
        <p:txBody>
          <a:bodyPr wrap="square">
            <a:spAutoFit/>
          </a:bodyPr>
          <a:lstStyle/>
          <a:p>
            <a:pPr algn="l"/>
            <a:r>
              <a:rPr sz="1500" b="1" i="0">
                <a:solidFill>
                  <a:srgbClr val="FFFFFF"/>
                </a:solidFill>
                <a:latin typeface="Calibri"/>
              </a:rPr>
              <a:t>The internet reimagined. No IPs. No censorship. No single point of failure.</a:t>
            </a:r>
          </a:p>
        </p:txBody>
      </p:sp>
      <p:sp>
        <p:nvSpPr>
          <p:cNvPr id="23" name="Rectangle 22"/>
          <p:cNvSpPr/>
          <p:nvPr/>
        </p:nvSpPr>
        <p:spPr>
          <a:xfrm>
            <a:off x="0" y="6534000"/>
            <a:ext cx="12193200" cy="324000"/>
          </a:xfrm>
          <a:prstGeom prst="rect">
            <a:avLst/>
          </a:prstGeom>
          <a:solidFill>
            <a:srgbClr val="0F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0000" y="6552000"/>
            <a:ext cx="11473200" cy="288000"/>
          </a:xfrm>
          <a:prstGeom prst="rect">
            <a:avLst/>
          </a:prstGeom>
          <a:noFill/>
        </p:spPr>
        <p:txBody>
          <a:bodyPr wrap="square">
            <a:spAutoFit/>
          </a:bodyPr>
          <a:lstStyle/>
          <a:p>
            <a:pPr algn="ctr"/>
            <a:r>
              <a:rPr sz="1000" b="0" i="0">
                <a:solidFill>
                  <a:srgbClr val="B0C4DE"/>
                </a:solidFill>
                <a:latin typeface="Calibri"/>
              </a:rPr>
              <a:t>CONFIDENTIAL  |  MegaNet MVP  |  Executive Briefing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42A"/>
        </a:solidFill>
        <a:effectLst/>
      </p:bgPr>
    </p:bg>
    <p:spTree>
      <p:nvGrpSpPr>
        <p:cNvPr id="1" name=""/>
        <p:cNvGrpSpPr/>
        <p:nvPr/>
      </p:nvGrpSpPr>
      <p:grpSpPr/>
      <p:sp>
        <p:nvSpPr>
          <p:cNvPr id="2" name="Rectangle 1"/>
          <p:cNvSpPr/>
          <p:nvPr/>
        </p:nvSpPr>
        <p:spPr>
          <a:xfrm>
            <a:off x="0" y="0"/>
            <a:ext cx="12193200" cy="864000"/>
          </a:xfrm>
          <a:prstGeom prst="rect">
            <a:avLst/>
          </a:prstGeom>
          <a:solidFill>
            <a:srgbClr val="0F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4000"/>
            <a:ext cx="12193200" cy="54000"/>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0000" y="90000"/>
            <a:ext cx="11473200" cy="576000"/>
          </a:xfrm>
          <a:prstGeom prst="rect">
            <a:avLst/>
          </a:prstGeom>
          <a:noFill/>
        </p:spPr>
        <p:txBody>
          <a:bodyPr wrap="square">
            <a:spAutoFit/>
          </a:bodyPr>
          <a:lstStyle/>
          <a:p>
            <a:pPr algn="l"/>
            <a:r>
              <a:rPr sz="2600" b="1" i="0">
                <a:solidFill>
                  <a:srgbClr val="FFFFFF"/>
                </a:solidFill>
                <a:latin typeface="Calibri"/>
              </a:rPr>
              <a:t>The Problem</a:t>
            </a:r>
          </a:p>
        </p:txBody>
      </p:sp>
      <p:sp>
        <p:nvSpPr>
          <p:cNvPr id="5" name="TextBox 4"/>
          <p:cNvSpPr txBox="1"/>
          <p:nvPr/>
        </p:nvSpPr>
        <p:spPr>
          <a:xfrm>
            <a:off x="360000" y="558000"/>
            <a:ext cx="11473200" cy="324000"/>
          </a:xfrm>
          <a:prstGeom prst="rect">
            <a:avLst/>
          </a:prstGeom>
          <a:noFill/>
        </p:spPr>
        <p:txBody>
          <a:bodyPr wrap="square">
            <a:spAutoFit/>
          </a:bodyPr>
          <a:lstStyle/>
          <a:p>
            <a:pPr algn="l"/>
            <a:r>
              <a:rPr sz="1300" b="0" i="0">
                <a:solidFill>
                  <a:srgbClr val="00D4FF"/>
                </a:solidFill>
                <a:latin typeface="Calibri"/>
              </a:rPr>
              <a:t>Why the current internet is broken</a:t>
            </a:r>
          </a:p>
        </p:txBody>
      </p:sp>
      <p:sp>
        <p:nvSpPr>
          <p:cNvPr id="6" name="Oval 5"/>
          <p:cNvSpPr/>
          <p:nvPr/>
        </p:nvSpPr>
        <p:spPr>
          <a:xfrm>
            <a:off x="5376600" y="3189059"/>
            <a:ext cx="1440000" cy="1440000"/>
          </a:xfrm>
          <a:prstGeom prst="ellipse">
            <a:avLst/>
          </a:prstGeom>
          <a:solidFill>
            <a:srgbClr val="6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4600" y="3693059"/>
            <a:ext cx="864000" cy="432000"/>
          </a:xfrm>
          <a:prstGeom prst="rect">
            <a:avLst/>
          </a:prstGeom>
          <a:noFill/>
        </p:spPr>
        <p:txBody>
          <a:bodyPr wrap="square">
            <a:spAutoFit/>
          </a:bodyPr>
          <a:lstStyle/>
          <a:p>
            <a:pPr algn="ctr"/>
            <a:r>
              <a:rPr sz="1300" b="1" i="0">
                <a:solidFill>
                  <a:srgbClr val="FFFFFF"/>
                </a:solidFill>
                <a:latin typeface="Calibri"/>
              </a:rPr>
              <a:t>Centralised
Control</a:t>
            </a:r>
          </a:p>
        </p:txBody>
      </p:sp>
      <p:cxnSp>
        <p:nvCxnSpPr>
          <p:cNvPr id="8" name="Connector 7"/>
          <p:cNvCxnSpPr/>
          <p:nvPr/>
        </p:nvCxnSpPr>
        <p:spPr>
          <a:xfrm>
            <a:off x="6751315.205261036" y="4287059.999999999"/>
            <a:ext cx="810599.7779422347" cy="468000.0"/>
          </a:xfrm>
          <a:prstGeom prst="line">
            <a:avLst/>
          </a:prstGeom>
          <a:ln w="19050">
            <a:solidFill>
              <a:srgbClr val="E82040"/>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7537799" y="4665059"/>
            <a:ext cx="360000" cy="360000"/>
          </a:xfrm>
          <a:prstGeom prst="ellipse">
            <a:avLst/>
          </a:prstGeom>
          <a:solidFill>
            <a:srgbClr val="E8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61799" y="5061059"/>
            <a:ext cx="1512000" cy="648000"/>
          </a:xfrm>
          <a:prstGeom prst="rect">
            <a:avLst/>
          </a:prstGeom>
          <a:noFill/>
        </p:spPr>
        <p:txBody>
          <a:bodyPr wrap="square">
            <a:spAutoFit/>
          </a:bodyPr>
          <a:lstStyle/>
          <a:p>
            <a:pPr algn="ctr"/>
            <a:r>
              <a:rPr sz="1050" b="0" i="0">
                <a:solidFill>
                  <a:srgbClr val="FFFFFF"/>
                </a:solidFill>
                <a:latin typeface="Calibri"/>
              </a:rPr>
              <a:t>IP Addresses
assigned by
governments</a:t>
            </a:r>
          </a:p>
        </p:txBody>
      </p:sp>
      <p:cxnSp>
        <p:nvCxnSpPr>
          <p:cNvPr id="11" name="Connector 10"/>
          <p:cNvCxnSpPr/>
          <p:nvPr/>
        </p:nvCxnSpPr>
        <p:spPr>
          <a:xfrm>
            <a:off x="6096600.0" y="4665060.0"/>
            <a:ext cx="0.0" cy="936000.0"/>
          </a:xfrm>
          <a:prstGeom prst="line">
            <a:avLst/>
          </a:prstGeom>
          <a:ln w="19050">
            <a:solidFill>
              <a:srgbClr val="FF8C00"/>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5916600" y="5601060"/>
            <a:ext cx="360000" cy="360000"/>
          </a:xfrm>
          <a:prstGeom prst="ellipse">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40600" y="5997060"/>
            <a:ext cx="1512000" cy="648000"/>
          </a:xfrm>
          <a:prstGeom prst="rect">
            <a:avLst/>
          </a:prstGeom>
          <a:noFill/>
        </p:spPr>
        <p:txBody>
          <a:bodyPr wrap="square">
            <a:spAutoFit/>
          </a:bodyPr>
          <a:lstStyle/>
          <a:p>
            <a:pPr algn="ctr"/>
            <a:r>
              <a:rPr sz="1050" b="0" i="0">
                <a:solidFill>
                  <a:srgbClr val="FFFFFF"/>
                </a:solidFill>
                <a:latin typeface="Calibri"/>
              </a:rPr>
              <a:t>DNS easily
blocked &amp;
monitored</a:t>
            </a:r>
          </a:p>
        </p:txBody>
      </p:sp>
      <p:cxnSp>
        <p:nvCxnSpPr>
          <p:cNvPr id="14" name="Connector 13"/>
          <p:cNvCxnSpPr/>
          <p:nvPr/>
        </p:nvCxnSpPr>
        <p:spPr>
          <a:xfrm flipH="1">
            <a:off x="4631285.0167967295" y="4287059.999999999"/>
            <a:ext cx="810599.7779422347" cy="468000.0"/>
          </a:xfrm>
          <a:prstGeom prst="line">
            <a:avLst/>
          </a:prstGeom>
          <a:ln w="19050">
            <a:solidFill>
              <a:srgbClr val="E82040"/>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4295400" y="4665059"/>
            <a:ext cx="360000" cy="360000"/>
          </a:xfrm>
          <a:prstGeom prst="ellipse">
            <a:avLst/>
          </a:prstGeom>
          <a:solidFill>
            <a:srgbClr val="E8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19400" y="5061059"/>
            <a:ext cx="1512000" cy="648000"/>
          </a:xfrm>
          <a:prstGeom prst="rect">
            <a:avLst/>
          </a:prstGeom>
          <a:noFill/>
        </p:spPr>
        <p:txBody>
          <a:bodyPr wrap="square">
            <a:spAutoFit/>
          </a:bodyPr>
          <a:lstStyle/>
          <a:p>
            <a:pPr algn="ctr"/>
            <a:r>
              <a:rPr sz="1050" b="0" i="0">
                <a:solidFill>
                  <a:srgbClr val="FFFFFF"/>
                </a:solidFill>
                <a:latin typeface="Calibri"/>
              </a:rPr>
              <a:t>ISP can
inspect all
traffic</a:t>
            </a:r>
          </a:p>
        </p:txBody>
      </p:sp>
      <p:cxnSp>
        <p:nvCxnSpPr>
          <p:cNvPr id="17" name="Connector 16"/>
          <p:cNvCxnSpPr/>
          <p:nvPr/>
        </p:nvCxnSpPr>
        <p:spPr>
          <a:xfrm flipH="1" flipV="1">
            <a:off x="4631285.0167967295" y="3063059.999999999"/>
            <a:ext cx="810599.7779422347" cy="468000.00000000047"/>
          </a:xfrm>
          <a:prstGeom prst="line">
            <a:avLst/>
          </a:prstGeom>
          <a:ln w="19050">
            <a:solidFill>
              <a:srgbClr val="FF8C00"/>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4295400" y="2793059"/>
            <a:ext cx="360000" cy="360000"/>
          </a:xfrm>
          <a:prstGeom prst="ellipse">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719400" y="3189059"/>
            <a:ext cx="1512000" cy="648000"/>
          </a:xfrm>
          <a:prstGeom prst="rect">
            <a:avLst/>
          </a:prstGeom>
          <a:noFill/>
        </p:spPr>
        <p:txBody>
          <a:bodyPr wrap="square">
            <a:spAutoFit/>
          </a:bodyPr>
          <a:lstStyle/>
          <a:p>
            <a:pPr algn="ctr"/>
            <a:r>
              <a:rPr sz="1050" b="0" i="0">
                <a:solidFill>
                  <a:srgbClr val="FFFFFF"/>
                </a:solidFill>
                <a:latin typeface="Calibri"/>
              </a:rPr>
              <a:t>BGP routing
hijackable</a:t>
            </a:r>
          </a:p>
        </p:txBody>
      </p:sp>
      <p:cxnSp>
        <p:nvCxnSpPr>
          <p:cNvPr id="20" name="Connector 19"/>
          <p:cNvCxnSpPr/>
          <p:nvPr/>
        </p:nvCxnSpPr>
        <p:spPr>
          <a:xfrm flipV="1">
            <a:off x="6096600.0" y="2217059.9999999995"/>
            <a:ext cx="0.0" cy="936000.0"/>
          </a:xfrm>
          <a:prstGeom prst="line">
            <a:avLst/>
          </a:prstGeom>
          <a:ln w="19050">
            <a:solidFill>
              <a:srgbClr val="E82040"/>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5916600" y="1857059"/>
            <a:ext cx="360000" cy="360000"/>
          </a:xfrm>
          <a:prstGeom prst="ellipse">
            <a:avLst/>
          </a:prstGeom>
          <a:solidFill>
            <a:srgbClr val="E8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40600" y="2253059"/>
            <a:ext cx="1512000" cy="648000"/>
          </a:xfrm>
          <a:prstGeom prst="rect">
            <a:avLst/>
          </a:prstGeom>
          <a:noFill/>
        </p:spPr>
        <p:txBody>
          <a:bodyPr wrap="square">
            <a:spAutoFit/>
          </a:bodyPr>
          <a:lstStyle/>
          <a:p>
            <a:pPr algn="ctr"/>
            <a:r>
              <a:rPr sz="1050" b="0" i="0">
                <a:solidFill>
                  <a:srgbClr val="FFFFFF"/>
                </a:solidFill>
                <a:latin typeface="Calibri"/>
              </a:rPr>
              <a:t>Cloud platforms
can deplatform
anyone</a:t>
            </a:r>
          </a:p>
        </p:txBody>
      </p:sp>
      <p:cxnSp>
        <p:nvCxnSpPr>
          <p:cNvPr id="23" name="Connector 22"/>
          <p:cNvCxnSpPr/>
          <p:nvPr/>
        </p:nvCxnSpPr>
        <p:spPr>
          <a:xfrm flipV="1">
            <a:off x="6751315.205261035" y="3063059.9999999986"/>
            <a:ext cx="810599.7779422347" cy="468000.00000000047"/>
          </a:xfrm>
          <a:prstGeom prst="line">
            <a:avLst/>
          </a:prstGeom>
          <a:ln w="19050">
            <a:solidFill>
              <a:srgbClr val="FF8C00"/>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7537799" y="2793059"/>
            <a:ext cx="360000" cy="360000"/>
          </a:xfrm>
          <a:prstGeom prst="ellipse">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61799" y="3189059"/>
            <a:ext cx="1512000" cy="648000"/>
          </a:xfrm>
          <a:prstGeom prst="rect">
            <a:avLst/>
          </a:prstGeom>
          <a:noFill/>
        </p:spPr>
        <p:txBody>
          <a:bodyPr wrap="square">
            <a:spAutoFit/>
          </a:bodyPr>
          <a:lstStyle/>
          <a:p>
            <a:pPr algn="ctr"/>
            <a:r>
              <a:rPr sz="1050" b="0" i="0">
                <a:solidFill>
                  <a:srgbClr val="FFFFFF"/>
                </a:solidFill>
                <a:latin typeface="Calibri"/>
              </a:rPr>
              <a:t>Single point
of failure
&amp; censorship</a:t>
            </a:r>
          </a:p>
        </p:txBody>
      </p:sp>
      <p:sp>
        <p:nvSpPr>
          <p:cNvPr id="26" name="TextBox 25"/>
          <p:cNvSpPr txBox="1"/>
          <p:nvPr/>
        </p:nvSpPr>
        <p:spPr>
          <a:xfrm>
            <a:off x="5916600" y="3657060"/>
            <a:ext cx="360000" cy="503999"/>
          </a:xfrm>
          <a:prstGeom prst="rect">
            <a:avLst/>
          </a:prstGeom>
          <a:noFill/>
        </p:spPr>
        <p:txBody>
          <a:bodyPr wrap="square">
            <a:spAutoFit/>
          </a:bodyPr>
          <a:lstStyle/>
          <a:p>
            <a:pPr algn="ctr"/>
            <a:r>
              <a:rPr sz="3600" b="1" i="0">
                <a:solidFill>
                  <a:srgbClr val="FF3232"/>
                </a:solidFill>
                <a:latin typeface="Calibri"/>
              </a:rPr>
              <a:t>X</a:t>
            </a:r>
          </a:p>
        </p:txBody>
      </p:sp>
      <p:sp>
        <p:nvSpPr>
          <p:cNvPr id="27" name="Rectangle 26"/>
          <p:cNvSpPr/>
          <p:nvPr/>
        </p:nvSpPr>
        <p:spPr>
          <a:xfrm>
            <a:off x="0" y="6534000"/>
            <a:ext cx="12193200" cy="324000"/>
          </a:xfrm>
          <a:prstGeom prst="rect">
            <a:avLst/>
          </a:prstGeom>
          <a:solidFill>
            <a:srgbClr val="0F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0000" y="6552000"/>
            <a:ext cx="11473200" cy="288000"/>
          </a:xfrm>
          <a:prstGeom prst="rect">
            <a:avLst/>
          </a:prstGeom>
          <a:noFill/>
        </p:spPr>
        <p:txBody>
          <a:bodyPr wrap="square">
            <a:spAutoFit/>
          </a:bodyPr>
          <a:lstStyle/>
          <a:p>
            <a:pPr algn="ctr"/>
            <a:r>
              <a:rPr sz="1000" b="0" i="0">
                <a:solidFill>
                  <a:srgbClr val="B0C4DE"/>
                </a:solidFill>
                <a:latin typeface="Calibri"/>
              </a:rPr>
              <a:t>MegaNet MVP  |  Executive Briefing  |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42A"/>
        </a:solidFill>
        <a:effectLst/>
      </p:bgPr>
    </p:bg>
    <p:spTree>
      <p:nvGrpSpPr>
        <p:cNvPr id="1" name=""/>
        <p:cNvGrpSpPr/>
        <p:nvPr/>
      </p:nvGrpSpPr>
      <p:grpSpPr/>
      <p:sp>
        <p:nvSpPr>
          <p:cNvPr id="2" name="Rectangle 1"/>
          <p:cNvSpPr/>
          <p:nvPr/>
        </p:nvSpPr>
        <p:spPr>
          <a:xfrm>
            <a:off x="0" y="0"/>
            <a:ext cx="12193200" cy="864000"/>
          </a:xfrm>
          <a:prstGeom prst="rect">
            <a:avLst/>
          </a:prstGeom>
          <a:solidFill>
            <a:srgbClr val="0F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4000"/>
            <a:ext cx="12193200" cy="54000"/>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0000" y="90000"/>
            <a:ext cx="11473200" cy="576000"/>
          </a:xfrm>
          <a:prstGeom prst="rect">
            <a:avLst/>
          </a:prstGeom>
          <a:noFill/>
        </p:spPr>
        <p:txBody>
          <a:bodyPr wrap="square">
            <a:spAutoFit/>
          </a:bodyPr>
          <a:lstStyle/>
          <a:p>
            <a:pPr algn="l"/>
            <a:r>
              <a:rPr sz="2600" b="1" i="0">
                <a:solidFill>
                  <a:srgbClr val="FFFFFF"/>
                </a:solidFill>
                <a:latin typeface="Calibri"/>
              </a:rPr>
              <a:t>The MegaNet Vision</a:t>
            </a:r>
          </a:p>
        </p:txBody>
      </p:sp>
      <p:sp>
        <p:nvSpPr>
          <p:cNvPr id="5" name="TextBox 4"/>
          <p:cNvSpPr txBox="1"/>
          <p:nvPr/>
        </p:nvSpPr>
        <p:spPr>
          <a:xfrm>
            <a:off x="360000" y="558000"/>
            <a:ext cx="11473200" cy="324000"/>
          </a:xfrm>
          <a:prstGeom prst="rect">
            <a:avLst/>
          </a:prstGeom>
          <a:noFill/>
        </p:spPr>
        <p:txBody>
          <a:bodyPr wrap="square">
            <a:spAutoFit/>
          </a:bodyPr>
          <a:lstStyle/>
          <a:p>
            <a:pPr algn="l"/>
            <a:r>
              <a:rPr sz="1300" b="0" i="0">
                <a:solidFill>
                  <a:srgbClr val="00D4FF"/>
                </a:solidFill>
                <a:latin typeface="Calibri"/>
              </a:rPr>
              <a:t>A parallel internet — no IPs, no DNS, no censors</a:t>
            </a:r>
          </a:p>
        </p:txBody>
      </p:sp>
      <p:sp>
        <p:nvSpPr>
          <p:cNvPr id="6" name="Rectangle 5"/>
          <p:cNvSpPr/>
          <p:nvPr/>
        </p:nvSpPr>
        <p:spPr>
          <a:xfrm>
            <a:off x="180000" y="1007999"/>
            <a:ext cx="5220000" cy="324000"/>
          </a:xfrm>
          <a:prstGeom prst="rect">
            <a:avLst/>
          </a:prstGeom>
          <a:solidFill>
            <a:srgbClr val="E8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0000" y="1007999"/>
            <a:ext cx="5220000" cy="324000"/>
          </a:xfrm>
          <a:prstGeom prst="rect">
            <a:avLst/>
          </a:prstGeom>
          <a:noFill/>
        </p:spPr>
        <p:txBody>
          <a:bodyPr wrap="square">
            <a:spAutoFit/>
          </a:bodyPr>
          <a:lstStyle/>
          <a:p>
            <a:pPr algn="ctr"/>
            <a:r>
              <a:rPr sz="1500" b="1" i="0">
                <a:solidFill>
                  <a:srgbClr val="FFFFFF"/>
                </a:solidFill>
                <a:latin typeface="Calibri"/>
              </a:rPr>
              <a:t>Traditional Internet</a:t>
            </a:r>
          </a:p>
        </p:txBody>
      </p:sp>
      <p:sp>
        <p:nvSpPr>
          <p:cNvPr id="8" name="Rectangle 7"/>
          <p:cNvSpPr/>
          <p:nvPr/>
        </p:nvSpPr>
        <p:spPr>
          <a:xfrm>
            <a:off x="6276600" y="1007999"/>
            <a:ext cx="5220000" cy="324000"/>
          </a:xfrm>
          <a:prstGeom prst="rect">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76600" y="1007999"/>
            <a:ext cx="5220000" cy="324000"/>
          </a:xfrm>
          <a:prstGeom prst="rect">
            <a:avLst/>
          </a:prstGeom>
          <a:noFill/>
        </p:spPr>
        <p:txBody>
          <a:bodyPr wrap="square">
            <a:spAutoFit/>
          </a:bodyPr>
          <a:lstStyle/>
          <a:p>
            <a:pPr algn="ctr"/>
            <a:r>
              <a:rPr sz="1500" b="1" i="0">
                <a:solidFill>
                  <a:srgbClr val="FFFFFF"/>
                </a:solidFill>
                <a:latin typeface="Calibri"/>
              </a:rPr>
              <a:t>MegaNet</a:t>
            </a:r>
          </a:p>
        </p:txBody>
      </p:sp>
      <p:sp>
        <p:nvSpPr>
          <p:cNvPr id="10" name="Rectangle 9"/>
          <p:cNvSpPr/>
          <p:nvPr/>
        </p:nvSpPr>
        <p:spPr>
          <a:xfrm>
            <a:off x="180000" y="1385999"/>
            <a:ext cx="10620000" cy="540000"/>
          </a:xfrm>
          <a:prstGeom prst="rect">
            <a:avLst/>
          </a:prstGeom>
          <a:solidFill>
            <a:srgbClr val="10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6000" y="1457999"/>
            <a:ext cx="1080000" cy="450000"/>
          </a:xfrm>
          <a:prstGeom prst="rect">
            <a:avLst/>
          </a:prstGeom>
          <a:noFill/>
        </p:spPr>
        <p:txBody>
          <a:bodyPr wrap="square">
            <a:spAutoFit/>
          </a:bodyPr>
          <a:lstStyle/>
          <a:p>
            <a:pPr algn="l"/>
            <a:r>
              <a:rPr sz="1100" b="1" i="0">
                <a:solidFill>
                  <a:srgbClr val="00D4FF"/>
                </a:solidFill>
                <a:latin typeface="Calibri"/>
              </a:rPr>
              <a:t>Identity</a:t>
            </a:r>
          </a:p>
        </p:txBody>
      </p:sp>
      <p:sp>
        <p:nvSpPr>
          <p:cNvPr id="12" name="TextBox 11"/>
          <p:cNvSpPr txBox="1"/>
          <p:nvPr/>
        </p:nvSpPr>
        <p:spPr>
          <a:xfrm>
            <a:off x="1260000" y="1457999"/>
            <a:ext cx="4140000" cy="450000"/>
          </a:xfrm>
          <a:prstGeom prst="rect">
            <a:avLst/>
          </a:prstGeom>
          <a:noFill/>
        </p:spPr>
        <p:txBody>
          <a:bodyPr wrap="square">
            <a:spAutoFit/>
          </a:bodyPr>
          <a:lstStyle/>
          <a:p>
            <a:pPr algn="l"/>
            <a:r>
              <a:rPr sz="1100" b="0" i="0">
                <a:solidFill>
                  <a:srgbClr val="FFA0A0"/>
                </a:solidFill>
                <a:latin typeface="Calibri"/>
              </a:rPr>
              <a:t>IP address (government/ISP assigned)</a:t>
            </a:r>
          </a:p>
        </p:txBody>
      </p:sp>
      <p:sp>
        <p:nvSpPr>
          <p:cNvPr id="13" name="TextBox 12"/>
          <p:cNvSpPr txBox="1"/>
          <p:nvPr/>
        </p:nvSpPr>
        <p:spPr>
          <a:xfrm>
            <a:off x="6348599" y="1457999"/>
            <a:ext cx="4860000" cy="450000"/>
          </a:xfrm>
          <a:prstGeom prst="rect">
            <a:avLst/>
          </a:prstGeom>
          <a:noFill/>
        </p:spPr>
        <p:txBody>
          <a:bodyPr wrap="square">
            <a:spAutoFit/>
          </a:bodyPr>
          <a:lstStyle/>
          <a:p>
            <a:pPr algn="l"/>
            <a:r>
              <a:rPr sz="1100" b="0" i="0">
                <a:solidFill>
                  <a:srgbClr val="A0FFC8"/>
                </a:solidFill>
                <a:latin typeface="Calibri"/>
              </a:rPr>
              <a:t>Public key (self-sovereign, cryptographic)</a:t>
            </a:r>
          </a:p>
        </p:txBody>
      </p:sp>
      <p:sp>
        <p:nvSpPr>
          <p:cNvPr id="14" name="Rectangle 13"/>
          <p:cNvSpPr/>
          <p:nvPr/>
        </p:nvSpPr>
        <p:spPr>
          <a:xfrm>
            <a:off x="180000" y="1943999"/>
            <a:ext cx="10620000" cy="540000"/>
          </a:xfrm>
          <a:prstGeom prst="rect">
            <a:avLst/>
          </a:prstGeom>
          <a:solidFill>
            <a:srgbClr val="0A1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16000" y="2015999"/>
            <a:ext cx="1080000" cy="450000"/>
          </a:xfrm>
          <a:prstGeom prst="rect">
            <a:avLst/>
          </a:prstGeom>
          <a:noFill/>
        </p:spPr>
        <p:txBody>
          <a:bodyPr wrap="square">
            <a:spAutoFit/>
          </a:bodyPr>
          <a:lstStyle/>
          <a:p>
            <a:pPr algn="l"/>
            <a:r>
              <a:rPr sz="1100" b="1" i="0">
                <a:solidFill>
                  <a:srgbClr val="00D4FF"/>
                </a:solidFill>
                <a:latin typeface="Calibri"/>
              </a:rPr>
              <a:t>Naming</a:t>
            </a:r>
          </a:p>
        </p:txBody>
      </p:sp>
      <p:sp>
        <p:nvSpPr>
          <p:cNvPr id="16" name="TextBox 15"/>
          <p:cNvSpPr txBox="1"/>
          <p:nvPr/>
        </p:nvSpPr>
        <p:spPr>
          <a:xfrm>
            <a:off x="1260000" y="2015999"/>
            <a:ext cx="4140000" cy="450000"/>
          </a:xfrm>
          <a:prstGeom prst="rect">
            <a:avLst/>
          </a:prstGeom>
          <a:noFill/>
        </p:spPr>
        <p:txBody>
          <a:bodyPr wrap="square">
            <a:spAutoFit/>
          </a:bodyPr>
          <a:lstStyle/>
          <a:p>
            <a:pPr algn="l"/>
            <a:r>
              <a:rPr sz="1100" b="0" i="0">
                <a:solidFill>
                  <a:srgbClr val="FFA0A0"/>
                </a:solidFill>
                <a:latin typeface="Calibri"/>
              </a:rPr>
              <a:t>DNS (centralised, blockable)</a:t>
            </a:r>
          </a:p>
        </p:txBody>
      </p:sp>
      <p:sp>
        <p:nvSpPr>
          <p:cNvPr id="17" name="TextBox 16"/>
          <p:cNvSpPr txBox="1"/>
          <p:nvPr/>
        </p:nvSpPr>
        <p:spPr>
          <a:xfrm>
            <a:off x="6348599" y="2015999"/>
            <a:ext cx="4860000" cy="450000"/>
          </a:xfrm>
          <a:prstGeom prst="rect">
            <a:avLst/>
          </a:prstGeom>
          <a:noFill/>
        </p:spPr>
        <p:txBody>
          <a:bodyPr wrap="square">
            <a:spAutoFit/>
          </a:bodyPr>
          <a:lstStyle/>
          <a:p>
            <a:pPr algn="l"/>
            <a:r>
              <a:rPr sz="1100" b="0" i="0">
                <a:solidFill>
                  <a:srgbClr val="A0FFC8"/>
                </a:solidFill>
                <a:latin typeface="Calibri"/>
              </a:rPr>
              <a:t>Blockchain registry (distributed, immutable)</a:t>
            </a:r>
          </a:p>
        </p:txBody>
      </p:sp>
      <p:sp>
        <p:nvSpPr>
          <p:cNvPr id="18" name="Rectangle 17"/>
          <p:cNvSpPr/>
          <p:nvPr/>
        </p:nvSpPr>
        <p:spPr>
          <a:xfrm>
            <a:off x="180000" y="2501999"/>
            <a:ext cx="10620000" cy="540000"/>
          </a:xfrm>
          <a:prstGeom prst="rect">
            <a:avLst/>
          </a:prstGeom>
          <a:solidFill>
            <a:srgbClr val="10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16000" y="2573999"/>
            <a:ext cx="1080000" cy="450000"/>
          </a:xfrm>
          <a:prstGeom prst="rect">
            <a:avLst/>
          </a:prstGeom>
          <a:noFill/>
        </p:spPr>
        <p:txBody>
          <a:bodyPr wrap="square">
            <a:spAutoFit/>
          </a:bodyPr>
          <a:lstStyle/>
          <a:p>
            <a:pPr algn="l"/>
            <a:r>
              <a:rPr sz="1100" b="1" i="0">
                <a:solidFill>
                  <a:srgbClr val="00D4FF"/>
                </a:solidFill>
                <a:latin typeface="Calibri"/>
              </a:rPr>
              <a:t>Transport</a:t>
            </a:r>
          </a:p>
        </p:txBody>
      </p:sp>
      <p:sp>
        <p:nvSpPr>
          <p:cNvPr id="20" name="TextBox 19"/>
          <p:cNvSpPr txBox="1"/>
          <p:nvPr/>
        </p:nvSpPr>
        <p:spPr>
          <a:xfrm>
            <a:off x="1260000" y="2573999"/>
            <a:ext cx="4140000" cy="450000"/>
          </a:xfrm>
          <a:prstGeom prst="rect">
            <a:avLst/>
          </a:prstGeom>
          <a:noFill/>
        </p:spPr>
        <p:txBody>
          <a:bodyPr wrap="square">
            <a:spAutoFit/>
          </a:bodyPr>
          <a:lstStyle/>
          <a:p>
            <a:pPr algn="l"/>
            <a:r>
              <a:rPr sz="1100" b="0" i="0">
                <a:solidFill>
                  <a:srgbClr val="FFA0A0"/>
                </a:solidFill>
                <a:latin typeface="Calibri"/>
              </a:rPr>
              <a:t>TCP/IP over ISP cables</a:t>
            </a:r>
          </a:p>
        </p:txBody>
      </p:sp>
      <p:sp>
        <p:nvSpPr>
          <p:cNvPr id="21" name="TextBox 20"/>
          <p:cNvSpPr txBox="1"/>
          <p:nvPr/>
        </p:nvSpPr>
        <p:spPr>
          <a:xfrm>
            <a:off x="6348599" y="2573999"/>
            <a:ext cx="4860000" cy="450000"/>
          </a:xfrm>
          <a:prstGeom prst="rect">
            <a:avLst/>
          </a:prstGeom>
          <a:noFill/>
        </p:spPr>
        <p:txBody>
          <a:bodyPr wrap="square">
            <a:spAutoFit/>
          </a:bodyPr>
          <a:lstStyle/>
          <a:p>
            <a:pPr algn="l"/>
            <a:r>
              <a:rPr sz="1100" b="0" i="0">
                <a:solidFill>
                  <a:srgbClr val="A0FFC8"/>
                </a:solidFill>
                <a:latin typeface="Calibri"/>
              </a:rPr>
              <a:t>LoRa radio (unlicensed, no ISP needed)</a:t>
            </a:r>
          </a:p>
        </p:txBody>
      </p:sp>
      <p:sp>
        <p:nvSpPr>
          <p:cNvPr id="22" name="Rectangle 21"/>
          <p:cNvSpPr/>
          <p:nvPr/>
        </p:nvSpPr>
        <p:spPr>
          <a:xfrm>
            <a:off x="180000" y="3059999"/>
            <a:ext cx="10620000" cy="540000"/>
          </a:xfrm>
          <a:prstGeom prst="rect">
            <a:avLst/>
          </a:prstGeom>
          <a:solidFill>
            <a:srgbClr val="0A1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16000" y="3131999"/>
            <a:ext cx="1080000" cy="450000"/>
          </a:xfrm>
          <a:prstGeom prst="rect">
            <a:avLst/>
          </a:prstGeom>
          <a:noFill/>
        </p:spPr>
        <p:txBody>
          <a:bodyPr wrap="square">
            <a:spAutoFit/>
          </a:bodyPr>
          <a:lstStyle/>
          <a:p>
            <a:pPr algn="l"/>
            <a:r>
              <a:rPr sz="1100" b="1" i="0">
                <a:solidFill>
                  <a:srgbClr val="00D4FF"/>
                </a:solidFill>
                <a:latin typeface="Calibri"/>
              </a:rPr>
              <a:t>Privacy</a:t>
            </a:r>
          </a:p>
        </p:txBody>
      </p:sp>
      <p:sp>
        <p:nvSpPr>
          <p:cNvPr id="24" name="TextBox 23"/>
          <p:cNvSpPr txBox="1"/>
          <p:nvPr/>
        </p:nvSpPr>
        <p:spPr>
          <a:xfrm>
            <a:off x="1260000" y="3131999"/>
            <a:ext cx="4140000" cy="450000"/>
          </a:xfrm>
          <a:prstGeom prst="rect">
            <a:avLst/>
          </a:prstGeom>
          <a:noFill/>
        </p:spPr>
        <p:txBody>
          <a:bodyPr wrap="square">
            <a:spAutoFit/>
          </a:bodyPr>
          <a:lstStyle/>
          <a:p>
            <a:pPr algn="l"/>
            <a:r>
              <a:rPr sz="1100" b="0" i="0">
                <a:solidFill>
                  <a:srgbClr val="FFA0A0"/>
                </a:solidFill>
                <a:latin typeface="Calibri"/>
              </a:rPr>
              <a:t>Unencrypted by default</a:t>
            </a:r>
          </a:p>
        </p:txBody>
      </p:sp>
      <p:sp>
        <p:nvSpPr>
          <p:cNvPr id="25" name="TextBox 24"/>
          <p:cNvSpPr txBox="1"/>
          <p:nvPr/>
        </p:nvSpPr>
        <p:spPr>
          <a:xfrm>
            <a:off x="6348599" y="3131999"/>
            <a:ext cx="4860000" cy="450000"/>
          </a:xfrm>
          <a:prstGeom prst="rect">
            <a:avLst/>
          </a:prstGeom>
          <a:noFill/>
        </p:spPr>
        <p:txBody>
          <a:bodyPr wrap="square">
            <a:spAutoFit/>
          </a:bodyPr>
          <a:lstStyle/>
          <a:p>
            <a:pPr algn="l"/>
            <a:r>
              <a:rPr sz="1100" b="0" i="0">
                <a:solidFill>
                  <a:srgbClr val="A0FFC8"/>
                </a:solidFill>
                <a:latin typeface="Calibri"/>
              </a:rPr>
              <a:t>E2E encrypted always (ChaCha20-Poly1305)</a:t>
            </a:r>
          </a:p>
        </p:txBody>
      </p:sp>
      <p:sp>
        <p:nvSpPr>
          <p:cNvPr id="26" name="Rectangle 25"/>
          <p:cNvSpPr/>
          <p:nvPr/>
        </p:nvSpPr>
        <p:spPr>
          <a:xfrm>
            <a:off x="180000" y="3617999"/>
            <a:ext cx="10620000" cy="540000"/>
          </a:xfrm>
          <a:prstGeom prst="rect">
            <a:avLst/>
          </a:prstGeom>
          <a:solidFill>
            <a:srgbClr val="10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16000" y="3689999"/>
            <a:ext cx="1080000" cy="450000"/>
          </a:xfrm>
          <a:prstGeom prst="rect">
            <a:avLst/>
          </a:prstGeom>
          <a:noFill/>
        </p:spPr>
        <p:txBody>
          <a:bodyPr wrap="square">
            <a:spAutoFit/>
          </a:bodyPr>
          <a:lstStyle/>
          <a:p>
            <a:pPr algn="l"/>
            <a:r>
              <a:rPr sz="1100" b="1" i="0">
                <a:solidFill>
                  <a:srgbClr val="00D4FF"/>
                </a:solidFill>
                <a:latin typeface="Calibri"/>
              </a:rPr>
              <a:t>Censorship</a:t>
            </a:r>
          </a:p>
        </p:txBody>
      </p:sp>
      <p:sp>
        <p:nvSpPr>
          <p:cNvPr id="28" name="TextBox 27"/>
          <p:cNvSpPr txBox="1"/>
          <p:nvPr/>
        </p:nvSpPr>
        <p:spPr>
          <a:xfrm>
            <a:off x="1260000" y="3689999"/>
            <a:ext cx="4140000" cy="450000"/>
          </a:xfrm>
          <a:prstGeom prst="rect">
            <a:avLst/>
          </a:prstGeom>
          <a:noFill/>
        </p:spPr>
        <p:txBody>
          <a:bodyPr wrap="square">
            <a:spAutoFit/>
          </a:bodyPr>
          <a:lstStyle/>
          <a:p>
            <a:pPr algn="l"/>
            <a:r>
              <a:rPr sz="1100" b="0" i="0">
                <a:solidFill>
                  <a:srgbClr val="FFA0A0"/>
                </a:solidFill>
                <a:latin typeface="Calibri"/>
              </a:rPr>
              <a:t>Single points of control</a:t>
            </a:r>
          </a:p>
        </p:txBody>
      </p:sp>
      <p:sp>
        <p:nvSpPr>
          <p:cNvPr id="29" name="TextBox 28"/>
          <p:cNvSpPr txBox="1"/>
          <p:nvPr/>
        </p:nvSpPr>
        <p:spPr>
          <a:xfrm>
            <a:off x="6348599" y="3689999"/>
            <a:ext cx="4860000" cy="450000"/>
          </a:xfrm>
          <a:prstGeom prst="rect">
            <a:avLst/>
          </a:prstGeom>
          <a:noFill/>
        </p:spPr>
        <p:txBody>
          <a:bodyPr wrap="square">
            <a:spAutoFit/>
          </a:bodyPr>
          <a:lstStyle/>
          <a:p>
            <a:pPr algn="l"/>
            <a:r>
              <a:rPr sz="1100" b="0" i="0">
                <a:solidFill>
                  <a:srgbClr val="A0FFC8"/>
                </a:solidFill>
                <a:latin typeface="Calibri"/>
              </a:rPr>
              <a:t>No central entity can block nodes</a:t>
            </a:r>
          </a:p>
        </p:txBody>
      </p:sp>
      <p:sp>
        <p:nvSpPr>
          <p:cNvPr id="30" name="Rectangle 29"/>
          <p:cNvSpPr/>
          <p:nvPr/>
        </p:nvSpPr>
        <p:spPr>
          <a:xfrm>
            <a:off x="180000" y="4175999"/>
            <a:ext cx="10620000" cy="540000"/>
          </a:xfrm>
          <a:prstGeom prst="rect">
            <a:avLst/>
          </a:prstGeom>
          <a:solidFill>
            <a:srgbClr val="0A14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16000" y="4247999"/>
            <a:ext cx="1080000" cy="450000"/>
          </a:xfrm>
          <a:prstGeom prst="rect">
            <a:avLst/>
          </a:prstGeom>
          <a:noFill/>
        </p:spPr>
        <p:txBody>
          <a:bodyPr wrap="square">
            <a:spAutoFit/>
          </a:bodyPr>
          <a:lstStyle/>
          <a:p>
            <a:pPr algn="l"/>
            <a:r>
              <a:rPr sz="1100" b="1" i="0">
                <a:solidFill>
                  <a:srgbClr val="00D4FF"/>
                </a:solidFill>
                <a:latin typeface="Calibri"/>
              </a:rPr>
              <a:t>Data</a:t>
            </a:r>
          </a:p>
        </p:txBody>
      </p:sp>
      <p:sp>
        <p:nvSpPr>
          <p:cNvPr id="32" name="TextBox 31"/>
          <p:cNvSpPr txBox="1"/>
          <p:nvPr/>
        </p:nvSpPr>
        <p:spPr>
          <a:xfrm>
            <a:off x="1260000" y="4247999"/>
            <a:ext cx="4140000" cy="450000"/>
          </a:xfrm>
          <a:prstGeom prst="rect">
            <a:avLst/>
          </a:prstGeom>
          <a:noFill/>
        </p:spPr>
        <p:txBody>
          <a:bodyPr wrap="square">
            <a:spAutoFit/>
          </a:bodyPr>
          <a:lstStyle/>
          <a:p>
            <a:pPr algn="l"/>
            <a:r>
              <a:rPr sz="1100" b="0" i="0">
                <a:solidFill>
                  <a:srgbClr val="FFA0A0"/>
                </a:solidFill>
                <a:latin typeface="Calibri"/>
              </a:rPr>
              <a:t>Stored on centralised servers</a:t>
            </a:r>
          </a:p>
        </p:txBody>
      </p:sp>
      <p:sp>
        <p:nvSpPr>
          <p:cNvPr id="33" name="TextBox 32"/>
          <p:cNvSpPr txBox="1"/>
          <p:nvPr/>
        </p:nvSpPr>
        <p:spPr>
          <a:xfrm>
            <a:off x="6348599" y="4247999"/>
            <a:ext cx="4860000" cy="450000"/>
          </a:xfrm>
          <a:prstGeom prst="rect">
            <a:avLst/>
          </a:prstGeom>
          <a:noFill/>
        </p:spPr>
        <p:txBody>
          <a:bodyPr wrap="square">
            <a:spAutoFit/>
          </a:bodyPr>
          <a:lstStyle/>
          <a:p>
            <a:pPr algn="l"/>
            <a:r>
              <a:rPr sz="1100" b="0" i="0">
                <a:solidFill>
                  <a:srgbClr val="A0FFC8"/>
                </a:solidFill>
                <a:latin typeface="Calibri"/>
              </a:rPr>
              <a:t>'Homeless' data: distributed fragments</a:t>
            </a:r>
          </a:p>
        </p:txBody>
      </p:sp>
      <p:cxnSp>
        <p:nvCxnSpPr>
          <p:cNvPr id="34" name="Connector 33"/>
          <p:cNvCxnSpPr/>
          <p:nvPr/>
        </p:nvCxnSpPr>
        <p:spPr>
          <a:xfrm>
            <a:off x="6276600.0" y="1007999"/>
            <a:ext cx="0.0" cy="5418001"/>
          </a:xfrm>
          <a:prstGeom prst="line">
            <a:avLst/>
          </a:prstGeom>
          <a:ln w="19050">
            <a:solidFill>
              <a:srgbClr val="008CFF"/>
            </a:solidFill>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0" y="6534000"/>
            <a:ext cx="12193200" cy="324000"/>
          </a:xfrm>
          <a:prstGeom prst="rect">
            <a:avLst/>
          </a:prstGeom>
          <a:solidFill>
            <a:srgbClr val="0F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0000" y="6552000"/>
            <a:ext cx="11473200" cy="288000"/>
          </a:xfrm>
          <a:prstGeom prst="rect">
            <a:avLst/>
          </a:prstGeom>
          <a:noFill/>
        </p:spPr>
        <p:txBody>
          <a:bodyPr wrap="square">
            <a:spAutoFit/>
          </a:bodyPr>
          <a:lstStyle/>
          <a:p>
            <a:pPr algn="ctr"/>
            <a:r>
              <a:rPr sz="1000" b="0" i="0">
                <a:solidFill>
                  <a:srgbClr val="B0C4DE"/>
                </a:solidFill>
                <a:latin typeface="Calibri"/>
              </a:rPr>
              <a:t>MegaNet MVP  |  Executive Briefing  |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42A"/>
        </a:solidFill>
        <a:effectLst/>
      </p:bgPr>
    </p:bg>
    <p:spTree>
      <p:nvGrpSpPr>
        <p:cNvPr id="1" name=""/>
        <p:cNvGrpSpPr/>
        <p:nvPr/>
      </p:nvGrpSpPr>
      <p:grpSpPr/>
      <p:sp>
        <p:nvSpPr>
          <p:cNvPr id="2" name="Rectangle 1"/>
          <p:cNvSpPr/>
          <p:nvPr/>
        </p:nvSpPr>
        <p:spPr>
          <a:xfrm>
            <a:off x="0" y="0"/>
            <a:ext cx="12193200" cy="864000"/>
          </a:xfrm>
          <a:prstGeom prst="rect">
            <a:avLst/>
          </a:prstGeom>
          <a:solidFill>
            <a:srgbClr val="0F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4000"/>
            <a:ext cx="12193200" cy="54000"/>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0000" y="90000"/>
            <a:ext cx="11473200" cy="576000"/>
          </a:xfrm>
          <a:prstGeom prst="rect">
            <a:avLst/>
          </a:prstGeom>
          <a:noFill/>
        </p:spPr>
        <p:txBody>
          <a:bodyPr wrap="square">
            <a:spAutoFit/>
          </a:bodyPr>
          <a:lstStyle/>
          <a:p>
            <a:pPr algn="l"/>
            <a:r>
              <a:rPr sz="2600" b="1" i="0">
                <a:solidFill>
                  <a:srgbClr val="FFFFFF"/>
                </a:solidFill>
                <a:latin typeface="Calibri"/>
              </a:rPr>
              <a:t>How It Works</a:t>
            </a:r>
          </a:p>
        </p:txBody>
      </p:sp>
      <p:sp>
        <p:nvSpPr>
          <p:cNvPr id="5" name="TextBox 4"/>
          <p:cNvSpPr txBox="1"/>
          <p:nvPr/>
        </p:nvSpPr>
        <p:spPr>
          <a:xfrm>
            <a:off x="360000" y="558000"/>
            <a:ext cx="11473200" cy="324000"/>
          </a:xfrm>
          <a:prstGeom prst="rect">
            <a:avLst/>
          </a:prstGeom>
          <a:noFill/>
        </p:spPr>
        <p:txBody>
          <a:bodyPr wrap="square">
            <a:spAutoFit/>
          </a:bodyPr>
          <a:lstStyle/>
          <a:p>
            <a:pPr algn="l"/>
            <a:r>
              <a:rPr sz="1300" b="0" i="0">
                <a:solidFill>
                  <a:srgbClr val="00D4FF"/>
                </a:solidFill>
                <a:latin typeface="Calibri"/>
              </a:rPr>
              <a:t>Sending a private message on MegaNet — end to end</a:t>
            </a:r>
          </a:p>
        </p:txBody>
      </p:sp>
      <p:cxnSp>
        <p:nvCxnSpPr>
          <p:cNvPr id="6" name="Connector 5"/>
          <p:cNvCxnSpPr/>
          <p:nvPr/>
        </p:nvCxnSpPr>
        <p:spPr>
          <a:xfrm>
            <a:off x="1367999" y="3566160.0"/>
            <a:ext cx="1440001" cy="0.0"/>
          </a:xfrm>
          <a:prstGeom prst="line">
            <a:avLst/>
          </a:prstGeom>
          <a:ln w="31750">
            <a:solidFill>
              <a:srgbClr val="00D4FF"/>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2736000" y="3512160"/>
            <a:ext cx="72000" cy="10800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Connector 7"/>
          <p:cNvCxnSpPr/>
          <p:nvPr/>
        </p:nvCxnSpPr>
        <p:spPr>
          <a:xfrm>
            <a:off x="3528000" y="3566160.0"/>
            <a:ext cx="1512000" cy="0.0"/>
          </a:xfrm>
          <a:prstGeom prst="line">
            <a:avLst/>
          </a:prstGeom>
          <a:ln w="31750">
            <a:solidFill>
              <a:srgbClr val="00D4FF"/>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4968000" y="3512160"/>
            <a:ext cx="72000" cy="10800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a:off x="5760000" y="3566160.0"/>
            <a:ext cx="1512000" cy="0.0"/>
          </a:xfrm>
          <a:prstGeom prst="line">
            <a:avLst/>
          </a:prstGeom>
          <a:ln w="31750">
            <a:solidFill>
              <a:srgbClr val="00D4FF"/>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7200000" y="3512160"/>
            <a:ext cx="72000" cy="10800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7992000" y="3566160.0"/>
            <a:ext cx="1548000" cy="0.0"/>
          </a:xfrm>
          <a:prstGeom prst="line">
            <a:avLst/>
          </a:prstGeom>
          <a:ln w="31750">
            <a:solidFill>
              <a:srgbClr val="00D4FF"/>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9468000" y="3512160"/>
            <a:ext cx="72000" cy="10800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11999" y="3170160"/>
            <a:ext cx="792000" cy="7920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9999" y="3422160"/>
            <a:ext cx="216000" cy="288000"/>
          </a:xfrm>
          <a:prstGeom prst="rect">
            <a:avLst/>
          </a:prstGeom>
          <a:noFill/>
        </p:spPr>
        <p:txBody>
          <a:bodyPr wrap="square">
            <a:spAutoFit/>
          </a:bodyPr>
          <a:lstStyle/>
          <a:p>
            <a:pPr algn="ctr"/>
            <a:r>
              <a:rPr sz="1800" b="1" i="0">
                <a:solidFill>
                  <a:srgbClr val="FFFFFF"/>
                </a:solidFill>
                <a:latin typeface="Calibri"/>
              </a:rPr>
              <a:t>1</a:t>
            </a:r>
          </a:p>
        </p:txBody>
      </p:sp>
      <p:sp>
        <p:nvSpPr>
          <p:cNvPr id="16" name="TextBox 15"/>
          <p:cNvSpPr txBox="1"/>
          <p:nvPr/>
        </p:nvSpPr>
        <p:spPr>
          <a:xfrm>
            <a:off x="467999" y="2486160"/>
            <a:ext cx="1080000" cy="540000"/>
          </a:xfrm>
          <a:prstGeom prst="rect">
            <a:avLst/>
          </a:prstGeom>
          <a:noFill/>
        </p:spPr>
        <p:txBody>
          <a:bodyPr wrap="square">
            <a:spAutoFit/>
          </a:bodyPr>
          <a:lstStyle/>
          <a:p>
            <a:pPr algn="ctr"/>
            <a:r>
              <a:rPr sz="1200" b="1" i="0">
                <a:solidFill>
                  <a:srgbClr val="008CFF"/>
                </a:solidFill>
                <a:latin typeface="Calibri"/>
              </a:rPr>
              <a:t>Alice
(Sender)</a:t>
            </a:r>
          </a:p>
        </p:txBody>
      </p:sp>
      <p:sp>
        <p:nvSpPr>
          <p:cNvPr id="17" name="TextBox 16"/>
          <p:cNvSpPr txBox="1"/>
          <p:nvPr/>
        </p:nvSpPr>
        <p:spPr>
          <a:xfrm>
            <a:off x="359999" y="4034160"/>
            <a:ext cx="1296000" cy="576000"/>
          </a:xfrm>
          <a:prstGeom prst="rect">
            <a:avLst/>
          </a:prstGeom>
          <a:noFill/>
        </p:spPr>
        <p:txBody>
          <a:bodyPr wrap="square">
            <a:spAutoFit/>
          </a:bodyPr>
          <a:lstStyle/>
          <a:p>
            <a:pPr algn="ctr"/>
            <a:r>
              <a:rPr sz="1100" b="0" i="0">
                <a:solidFill>
                  <a:srgbClr val="B0C4DE"/>
                </a:solidFill>
                <a:latin typeface="Calibri"/>
              </a:rPr>
              <a:t>1. Encrypt
message</a:t>
            </a:r>
          </a:p>
        </p:txBody>
      </p:sp>
      <p:sp>
        <p:nvSpPr>
          <p:cNvPr id="18" name="Oval 17"/>
          <p:cNvSpPr/>
          <p:nvPr/>
        </p:nvSpPr>
        <p:spPr>
          <a:xfrm>
            <a:off x="2772000" y="3170160"/>
            <a:ext cx="792000" cy="792000"/>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60000" y="3422160"/>
            <a:ext cx="216000" cy="288000"/>
          </a:xfrm>
          <a:prstGeom prst="rect">
            <a:avLst/>
          </a:prstGeom>
          <a:noFill/>
        </p:spPr>
        <p:txBody>
          <a:bodyPr wrap="square">
            <a:spAutoFit/>
          </a:bodyPr>
          <a:lstStyle/>
          <a:p>
            <a:pPr algn="ctr"/>
            <a:r>
              <a:rPr sz="1800" b="1" i="0">
                <a:solidFill>
                  <a:srgbClr val="FFFFFF"/>
                </a:solidFill>
                <a:latin typeface="Calibri"/>
              </a:rPr>
              <a:t>2</a:t>
            </a:r>
          </a:p>
        </p:txBody>
      </p:sp>
      <p:sp>
        <p:nvSpPr>
          <p:cNvPr id="20" name="TextBox 19"/>
          <p:cNvSpPr txBox="1"/>
          <p:nvPr/>
        </p:nvSpPr>
        <p:spPr>
          <a:xfrm>
            <a:off x="2628000" y="2486160"/>
            <a:ext cx="1080000" cy="540000"/>
          </a:xfrm>
          <a:prstGeom prst="rect">
            <a:avLst/>
          </a:prstGeom>
          <a:noFill/>
        </p:spPr>
        <p:txBody>
          <a:bodyPr wrap="square">
            <a:spAutoFit/>
          </a:bodyPr>
          <a:lstStyle/>
          <a:p>
            <a:pPr algn="ctr"/>
            <a:r>
              <a:rPr sz="1200" b="1" i="0">
                <a:solidFill>
                  <a:srgbClr val="00D4FF"/>
                </a:solidFill>
                <a:latin typeface="Calibri"/>
              </a:rPr>
              <a:t>Fragment
&amp; Send</a:t>
            </a:r>
          </a:p>
        </p:txBody>
      </p:sp>
      <p:sp>
        <p:nvSpPr>
          <p:cNvPr id="21" name="TextBox 20"/>
          <p:cNvSpPr txBox="1"/>
          <p:nvPr/>
        </p:nvSpPr>
        <p:spPr>
          <a:xfrm>
            <a:off x="2520000" y="4034160"/>
            <a:ext cx="1296000" cy="576000"/>
          </a:xfrm>
          <a:prstGeom prst="rect">
            <a:avLst/>
          </a:prstGeom>
          <a:noFill/>
        </p:spPr>
        <p:txBody>
          <a:bodyPr wrap="square">
            <a:spAutoFit/>
          </a:bodyPr>
          <a:lstStyle/>
          <a:p>
            <a:pPr algn="ctr"/>
            <a:r>
              <a:rPr sz="1100" b="0" i="0">
                <a:solidFill>
                  <a:srgbClr val="B0C4DE"/>
                </a:solidFill>
                <a:latin typeface="Calibri"/>
              </a:rPr>
              <a:t>2. Split into
203-byte chunks</a:t>
            </a:r>
          </a:p>
        </p:txBody>
      </p:sp>
      <p:sp>
        <p:nvSpPr>
          <p:cNvPr id="22" name="Oval 21"/>
          <p:cNvSpPr/>
          <p:nvPr/>
        </p:nvSpPr>
        <p:spPr>
          <a:xfrm>
            <a:off x="5004000" y="3170160"/>
            <a:ext cx="792000" cy="7920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92000" y="3422160"/>
            <a:ext cx="216000" cy="288000"/>
          </a:xfrm>
          <a:prstGeom prst="rect">
            <a:avLst/>
          </a:prstGeom>
          <a:noFill/>
        </p:spPr>
        <p:txBody>
          <a:bodyPr wrap="square">
            <a:spAutoFit/>
          </a:bodyPr>
          <a:lstStyle/>
          <a:p>
            <a:pPr algn="ctr"/>
            <a:r>
              <a:rPr sz="1800" b="1" i="0">
                <a:solidFill>
                  <a:srgbClr val="FFFFFF"/>
                </a:solidFill>
                <a:latin typeface="Calibri"/>
              </a:rPr>
              <a:t>3</a:t>
            </a:r>
          </a:p>
        </p:txBody>
      </p:sp>
      <p:sp>
        <p:nvSpPr>
          <p:cNvPr id="24" name="TextBox 23"/>
          <p:cNvSpPr txBox="1"/>
          <p:nvPr/>
        </p:nvSpPr>
        <p:spPr>
          <a:xfrm>
            <a:off x="4860000" y="2486160"/>
            <a:ext cx="1080000" cy="540000"/>
          </a:xfrm>
          <a:prstGeom prst="rect">
            <a:avLst/>
          </a:prstGeom>
          <a:noFill/>
        </p:spPr>
        <p:txBody>
          <a:bodyPr wrap="square">
            <a:spAutoFit/>
          </a:bodyPr>
          <a:lstStyle/>
          <a:p>
            <a:pPr algn="ctr"/>
            <a:r>
              <a:rPr sz="1200" b="1" i="0">
                <a:solidFill>
                  <a:srgbClr val="00C86E"/>
                </a:solidFill>
                <a:latin typeface="Calibri"/>
              </a:rPr>
              <a:t>LoRa
Gateway</a:t>
            </a:r>
          </a:p>
        </p:txBody>
      </p:sp>
      <p:sp>
        <p:nvSpPr>
          <p:cNvPr id="25" name="TextBox 24"/>
          <p:cNvSpPr txBox="1"/>
          <p:nvPr/>
        </p:nvSpPr>
        <p:spPr>
          <a:xfrm>
            <a:off x="4752000" y="4034160"/>
            <a:ext cx="1296000" cy="576000"/>
          </a:xfrm>
          <a:prstGeom prst="rect">
            <a:avLst/>
          </a:prstGeom>
          <a:noFill/>
        </p:spPr>
        <p:txBody>
          <a:bodyPr wrap="square">
            <a:spAutoFit/>
          </a:bodyPr>
          <a:lstStyle/>
          <a:p>
            <a:pPr algn="ctr"/>
            <a:r>
              <a:rPr sz="1100" b="0" i="0">
                <a:solidFill>
                  <a:srgbClr val="B0C4DE"/>
                </a:solidFill>
                <a:latin typeface="Calibri"/>
              </a:rPr>
              <a:t>3. Radio waves
over the air</a:t>
            </a:r>
          </a:p>
        </p:txBody>
      </p:sp>
      <p:sp>
        <p:nvSpPr>
          <p:cNvPr id="26" name="Oval 25"/>
          <p:cNvSpPr/>
          <p:nvPr/>
        </p:nvSpPr>
        <p:spPr>
          <a:xfrm>
            <a:off x="7236000" y="3170160"/>
            <a:ext cx="792000" cy="792000"/>
          </a:xfrm>
          <a:prstGeom prst="ellipse">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524000" y="3422160"/>
            <a:ext cx="216000" cy="288000"/>
          </a:xfrm>
          <a:prstGeom prst="rect">
            <a:avLst/>
          </a:prstGeom>
          <a:noFill/>
        </p:spPr>
        <p:txBody>
          <a:bodyPr wrap="square">
            <a:spAutoFit/>
          </a:bodyPr>
          <a:lstStyle/>
          <a:p>
            <a:pPr algn="ctr"/>
            <a:r>
              <a:rPr sz="1800" b="1" i="0">
                <a:solidFill>
                  <a:srgbClr val="FFFFFF"/>
                </a:solidFill>
                <a:latin typeface="Calibri"/>
              </a:rPr>
              <a:t>4</a:t>
            </a:r>
          </a:p>
        </p:txBody>
      </p:sp>
      <p:sp>
        <p:nvSpPr>
          <p:cNvPr id="28" name="TextBox 27"/>
          <p:cNvSpPr txBox="1"/>
          <p:nvPr/>
        </p:nvSpPr>
        <p:spPr>
          <a:xfrm>
            <a:off x="7092000" y="2486160"/>
            <a:ext cx="1080000" cy="540000"/>
          </a:xfrm>
          <a:prstGeom prst="rect">
            <a:avLst/>
          </a:prstGeom>
          <a:noFill/>
        </p:spPr>
        <p:txBody>
          <a:bodyPr wrap="square">
            <a:spAutoFit/>
          </a:bodyPr>
          <a:lstStyle/>
          <a:p>
            <a:pPr algn="ctr"/>
            <a:r>
              <a:rPr sz="1200" b="1" i="0">
                <a:solidFill>
                  <a:srgbClr val="FF8C00"/>
                </a:solidFill>
                <a:latin typeface="Calibri"/>
              </a:rPr>
              <a:t>Network
Nodes</a:t>
            </a:r>
          </a:p>
        </p:txBody>
      </p:sp>
      <p:sp>
        <p:nvSpPr>
          <p:cNvPr id="29" name="TextBox 28"/>
          <p:cNvSpPr txBox="1"/>
          <p:nvPr/>
        </p:nvSpPr>
        <p:spPr>
          <a:xfrm>
            <a:off x="6984000" y="4034160"/>
            <a:ext cx="1296000" cy="576000"/>
          </a:xfrm>
          <a:prstGeom prst="rect">
            <a:avLst/>
          </a:prstGeom>
          <a:noFill/>
        </p:spPr>
        <p:txBody>
          <a:bodyPr wrap="square">
            <a:spAutoFit/>
          </a:bodyPr>
          <a:lstStyle/>
          <a:p>
            <a:pPr algn="ctr"/>
            <a:r>
              <a:rPr sz="1100" b="0" i="0">
                <a:solidFill>
                  <a:srgbClr val="B0C4DE"/>
                </a:solidFill>
                <a:latin typeface="Calibri"/>
              </a:rPr>
              <a:t>4. Route via
Kademlia DHT</a:t>
            </a:r>
          </a:p>
        </p:txBody>
      </p:sp>
      <p:sp>
        <p:nvSpPr>
          <p:cNvPr id="30" name="Oval 29"/>
          <p:cNvSpPr/>
          <p:nvPr/>
        </p:nvSpPr>
        <p:spPr>
          <a:xfrm>
            <a:off x="9504000" y="3170160"/>
            <a:ext cx="792000" cy="7920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792000" y="3422160"/>
            <a:ext cx="216000" cy="288000"/>
          </a:xfrm>
          <a:prstGeom prst="rect">
            <a:avLst/>
          </a:prstGeom>
          <a:noFill/>
        </p:spPr>
        <p:txBody>
          <a:bodyPr wrap="square">
            <a:spAutoFit/>
          </a:bodyPr>
          <a:lstStyle/>
          <a:p>
            <a:pPr algn="ctr"/>
            <a:r>
              <a:rPr sz="1800" b="1" i="0">
                <a:solidFill>
                  <a:srgbClr val="FFFFFF"/>
                </a:solidFill>
                <a:latin typeface="Calibri"/>
              </a:rPr>
              <a:t>5</a:t>
            </a:r>
          </a:p>
        </p:txBody>
      </p:sp>
      <p:sp>
        <p:nvSpPr>
          <p:cNvPr id="32" name="TextBox 31"/>
          <p:cNvSpPr txBox="1"/>
          <p:nvPr/>
        </p:nvSpPr>
        <p:spPr>
          <a:xfrm>
            <a:off x="9360000" y="2486160"/>
            <a:ext cx="1080000" cy="540000"/>
          </a:xfrm>
          <a:prstGeom prst="rect">
            <a:avLst/>
          </a:prstGeom>
          <a:noFill/>
        </p:spPr>
        <p:txBody>
          <a:bodyPr wrap="square">
            <a:spAutoFit/>
          </a:bodyPr>
          <a:lstStyle/>
          <a:p>
            <a:pPr algn="ctr"/>
            <a:r>
              <a:rPr sz="1200" b="1" i="0">
                <a:solidFill>
                  <a:srgbClr val="008CFF"/>
                </a:solidFill>
                <a:latin typeface="Calibri"/>
              </a:rPr>
              <a:t>Bob
(Receiver)</a:t>
            </a:r>
          </a:p>
        </p:txBody>
      </p:sp>
      <p:sp>
        <p:nvSpPr>
          <p:cNvPr id="33" name="TextBox 32"/>
          <p:cNvSpPr txBox="1"/>
          <p:nvPr/>
        </p:nvSpPr>
        <p:spPr>
          <a:xfrm>
            <a:off x="9252000" y="4034160"/>
            <a:ext cx="1296000" cy="576000"/>
          </a:xfrm>
          <a:prstGeom prst="rect">
            <a:avLst/>
          </a:prstGeom>
          <a:noFill/>
        </p:spPr>
        <p:txBody>
          <a:bodyPr wrap="square">
            <a:spAutoFit/>
          </a:bodyPr>
          <a:lstStyle/>
          <a:p>
            <a:pPr algn="ctr"/>
            <a:r>
              <a:rPr sz="1100" b="0" i="0">
                <a:solidFill>
                  <a:srgbClr val="B0C4DE"/>
                </a:solidFill>
                <a:latin typeface="Calibri"/>
              </a:rPr>
              <a:t>5. Reassemble
&amp; Decrypt</a:t>
            </a:r>
          </a:p>
        </p:txBody>
      </p:sp>
      <p:sp>
        <p:nvSpPr>
          <p:cNvPr id="34" name="Rectangle 33"/>
          <p:cNvSpPr/>
          <p:nvPr/>
        </p:nvSpPr>
        <p:spPr>
          <a:xfrm>
            <a:off x="360000" y="5706000"/>
            <a:ext cx="11473200" cy="540000"/>
          </a:xfrm>
          <a:prstGeom prst="rect">
            <a:avLst/>
          </a:prstGeom>
          <a:solidFill>
            <a:srgbClr val="0F2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0000" y="5742000"/>
            <a:ext cx="11113200" cy="468000"/>
          </a:xfrm>
          <a:prstGeom prst="rect">
            <a:avLst/>
          </a:prstGeom>
          <a:noFill/>
        </p:spPr>
        <p:txBody>
          <a:bodyPr wrap="square">
            <a:spAutoFit/>
          </a:bodyPr>
          <a:lstStyle/>
          <a:p>
            <a:pPr algn="ctr"/>
            <a:r>
              <a:rPr sz="1200" b="0" i="0">
                <a:solidFill>
                  <a:srgbClr val="00D4FF"/>
                </a:solidFill>
                <a:latin typeface="Calibri"/>
              </a:rPr>
              <a:t>Blockchain: every registration, routing update, and delivery receipt is anchored on-chain — immutable, verifiable, decentralised</a:t>
            </a:r>
          </a:p>
        </p:txBody>
      </p:sp>
      <p:sp>
        <p:nvSpPr>
          <p:cNvPr id="36" name="Rectangle 35"/>
          <p:cNvSpPr/>
          <p:nvPr/>
        </p:nvSpPr>
        <p:spPr>
          <a:xfrm>
            <a:off x="0" y="6534000"/>
            <a:ext cx="12193200" cy="324000"/>
          </a:xfrm>
          <a:prstGeom prst="rect">
            <a:avLst/>
          </a:prstGeom>
          <a:solidFill>
            <a:srgbClr val="0F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60000" y="6552000"/>
            <a:ext cx="11473200" cy="288000"/>
          </a:xfrm>
          <a:prstGeom prst="rect">
            <a:avLst/>
          </a:prstGeom>
          <a:noFill/>
        </p:spPr>
        <p:txBody>
          <a:bodyPr wrap="square">
            <a:spAutoFit/>
          </a:bodyPr>
          <a:lstStyle/>
          <a:p>
            <a:pPr algn="ctr"/>
            <a:r>
              <a:rPr sz="1000" b="0" i="0">
                <a:solidFill>
                  <a:srgbClr val="B0C4DE"/>
                </a:solidFill>
                <a:latin typeface="Calibri"/>
              </a:rPr>
              <a:t>MegaNet MVP  |  Executive Briefing  |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42A"/>
        </a:solidFill>
        <a:effectLst/>
      </p:bgPr>
    </p:bg>
    <p:spTree>
      <p:nvGrpSpPr>
        <p:cNvPr id="1" name=""/>
        <p:cNvGrpSpPr/>
        <p:nvPr/>
      </p:nvGrpSpPr>
      <p:grpSpPr/>
      <p:sp>
        <p:nvSpPr>
          <p:cNvPr id="2" name="Rectangle 1"/>
          <p:cNvSpPr/>
          <p:nvPr/>
        </p:nvSpPr>
        <p:spPr>
          <a:xfrm>
            <a:off x="0" y="0"/>
            <a:ext cx="12193200" cy="864000"/>
          </a:xfrm>
          <a:prstGeom prst="rect">
            <a:avLst/>
          </a:prstGeom>
          <a:solidFill>
            <a:srgbClr val="0F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4000"/>
            <a:ext cx="12193200" cy="54000"/>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0000" y="90000"/>
            <a:ext cx="11473200" cy="576000"/>
          </a:xfrm>
          <a:prstGeom prst="rect">
            <a:avLst/>
          </a:prstGeom>
          <a:noFill/>
        </p:spPr>
        <p:txBody>
          <a:bodyPr wrap="square">
            <a:spAutoFit/>
          </a:bodyPr>
          <a:lstStyle/>
          <a:p>
            <a:pPr algn="l"/>
            <a:r>
              <a:rPr sz="2600" b="1" i="0">
                <a:solidFill>
                  <a:srgbClr val="FFFFFF"/>
                </a:solidFill>
                <a:latin typeface="Calibri"/>
              </a:rPr>
              <a:t>Network Topology</a:t>
            </a:r>
          </a:p>
        </p:txBody>
      </p:sp>
      <p:sp>
        <p:nvSpPr>
          <p:cNvPr id="5" name="TextBox 4"/>
          <p:cNvSpPr txBox="1"/>
          <p:nvPr/>
        </p:nvSpPr>
        <p:spPr>
          <a:xfrm>
            <a:off x="360000" y="558000"/>
            <a:ext cx="11473200" cy="324000"/>
          </a:xfrm>
          <a:prstGeom prst="rect">
            <a:avLst/>
          </a:prstGeom>
          <a:noFill/>
        </p:spPr>
        <p:txBody>
          <a:bodyPr wrap="square">
            <a:spAutoFit/>
          </a:bodyPr>
          <a:lstStyle/>
          <a:p>
            <a:pPr algn="l"/>
            <a:r>
              <a:rPr sz="1300" b="0" i="0">
                <a:solidFill>
                  <a:srgbClr val="00D4FF"/>
                </a:solidFill>
                <a:latin typeface="Calibri"/>
              </a:rPr>
              <a:t>Decentralised mesh — no single point of control or failure</a:t>
            </a:r>
          </a:p>
        </p:txBody>
      </p:sp>
      <p:sp>
        <p:nvSpPr>
          <p:cNvPr id="6" name="Rectangle 5"/>
          <p:cNvSpPr/>
          <p:nvPr/>
        </p:nvSpPr>
        <p:spPr>
          <a:xfrm>
            <a:off x="360000" y="972000"/>
            <a:ext cx="11473200" cy="5490000"/>
          </a:xfrm>
          <a:prstGeom prst="rect">
            <a:avLst/>
          </a:prstGeom>
          <a:solidFill>
            <a:srgbClr val="0812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a:off x="2654640.0" y="972000"/>
            <a:ext cx="0.0" cy="5490000"/>
          </a:xfrm>
          <a:prstGeom prst="line">
            <a:avLst/>
          </a:prstGeom>
          <a:ln w="6350">
            <a:solidFill>
              <a:srgbClr val="1A284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60000" y="2070000.0"/>
            <a:ext cx="11473200" cy="0.0"/>
          </a:xfrm>
          <a:prstGeom prst="line">
            <a:avLst/>
          </a:prstGeom>
          <a:ln w="6350">
            <a:solidFill>
              <a:srgbClr val="1A284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949280.0" y="972000"/>
            <a:ext cx="0.0" cy="5490000"/>
          </a:xfrm>
          <a:prstGeom prst="line">
            <a:avLst/>
          </a:prstGeom>
          <a:ln w="6350">
            <a:solidFill>
              <a:srgbClr val="1A284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60000" y="3168000.0"/>
            <a:ext cx="11473200" cy="0.0"/>
          </a:xfrm>
          <a:prstGeom prst="line">
            <a:avLst/>
          </a:prstGeom>
          <a:ln w="6350">
            <a:solidFill>
              <a:srgbClr val="1A284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43920.0" y="972000"/>
            <a:ext cx="0.0" cy="5490000"/>
          </a:xfrm>
          <a:prstGeom prst="line">
            <a:avLst/>
          </a:prstGeom>
          <a:ln w="6350">
            <a:solidFill>
              <a:srgbClr val="1A284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60000" y="4266000.0"/>
            <a:ext cx="11473200" cy="0.0"/>
          </a:xfrm>
          <a:prstGeom prst="line">
            <a:avLst/>
          </a:prstGeom>
          <a:ln w="6350">
            <a:solidFill>
              <a:srgbClr val="1A284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538560.0" y="972000"/>
            <a:ext cx="0.0" cy="5490000"/>
          </a:xfrm>
          <a:prstGeom prst="line">
            <a:avLst/>
          </a:prstGeom>
          <a:ln w="6350">
            <a:solidFill>
              <a:srgbClr val="1A284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360000" y="5364000.0"/>
            <a:ext cx="11473200" cy="0.0"/>
          </a:xfrm>
          <a:prstGeom prst="line">
            <a:avLst/>
          </a:prstGeom>
          <a:ln w="6350">
            <a:solidFill>
              <a:srgbClr val="1A284A"/>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1934640" y="-1691496"/>
            <a:ext cx="6424992" cy="6424992"/>
          </a:xfrm>
          <a:prstGeom prst="ellipse">
            <a:avLst/>
          </a:prstGeom>
          <a:solidFill>
            <a:srgbClr val="004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70891" y="-727747"/>
            <a:ext cx="4497494" cy="4497494"/>
          </a:xfrm>
          <a:prstGeom prst="ellipse">
            <a:avLst/>
          </a:prstGeom>
          <a:solidFill>
            <a:srgbClr val="0060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142" y="236001"/>
            <a:ext cx="2569996" cy="2569996"/>
          </a:xfrm>
          <a:prstGeom prst="ellipse">
            <a:avLst/>
          </a:prstGeom>
          <a:solidFill>
            <a:srgbClr val="009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702848" y="-1691496"/>
            <a:ext cx="6424992" cy="6424992"/>
          </a:xfrm>
          <a:prstGeom prst="ellipse">
            <a:avLst/>
          </a:prstGeom>
          <a:solidFill>
            <a:srgbClr val="004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66596" y="-727747"/>
            <a:ext cx="4497494" cy="4497494"/>
          </a:xfrm>
          <a:prstGeom prst="ellipse">
            <a:avLst/>
          </a:prstGeom>
          <a:solidFill>
            <a:srgbClr val="0060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630345" y="236001"/>
            <a:ext cx="2569996" cy="2569996"/>
          </a:xfrm>
          <a:prstGeom prst="ellipse">
            <a:avLst/>
          </a:prstGeom>
          <a:solidFill>
            <a:srgbClr val="009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934640" y="2590703"/>
            <a:ext cx="6424992" cy="6424992"/>
          </a:xfrm>
          <a:prstGeom prst="ellipse">
            <a:avLst/>
          </a:prstGeom>
          <a:solidFill>
            <a:srgbClr val="004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70891" y="3554452"/>
            <a:ext cx="4497494" cy="4497494"/>
          </a:xfrm>
          <a:prstGeom prst="ellipse">
            <a:avLst/>
          </a:prstGeom>
          <a:solidFill>
            <a:srgbClr val="0060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42" y="4518201"/>
            <a:ext cx="2569996" cy="2569996"/>
          </a:xfrm>
          <a:prstGeom prst="ellipse">
            <a:avLst/>
          </a:prstGeom>
          <a:solidFill>
            <a:srgbClr val="009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702848" y="2590703"/>
            <a:ext cx="6424992" cy="6424992"/>
          </a:xfrm>
          <a:prstGeom prst="ellipse">
            <a:avLst/>
          </a:prstGeom>
          <a:solidFill>
            <a:srgbClr val="004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666596" y="3554452"/>
            <a:ext cx="4497494" cy="4497494"/>
          </a:xfrm>
          <a:prstGeom prst="ellipse">
            <a:avLst/>
          </a:prstGeom>
          <a:solidFill>
            <a:srgbClr val="0060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30345" y="4518201"/>
            <a:ext cx="2569996" cy="2569996"/>
          </a:xfrm>
          <a:prstGeom prst="ellipse">
            <a:avLst/>
          </a:prstGeom>
          <a:solidFill>
            <a:srgbClr val="009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2884103" y="504503"/>
            <a:ext cx="6424992" cy="6424992"/>
          </a:xfrm>
          <a:prstGeom prst="ellipse">
            <a:avLst/>
          </a:prstGeom>
          <a:solidFill>
            <a:srgbClr val="004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847852" y="1468252"/>
            <a:ext cx="4497494" cy="4497494"/>
          </a:xfrm>
          <a:prstGeom prst="ellipse">
            <a:avLst/>
          </a:prstGeom>
          <a:solidFill>
            <a:srgbClr val="0060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811601" y="2432001"/>
            <a:ext cx="2569996" cy="2569996"/>
          </a:xfrm>
          <a:prstGeom prst="ellipse">
            <a:avLst/>
          </a:prstGeom>
          <a:solidFill>
            <a:srgbClr val="009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flipV="1">
            <a:off x="2654640.0" y="1960200.0"/>
            <a:ext cx="1720980.0" cy="549000.0"/>
          </a:xfrm>
          <a:prstGeom prst="line">
            <a:avLst/>
          </a:prstGeom>
          <a:ln w="10160">
            <a:solidFill>
              <a:srgbClr val="00509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2080980.0" y="2509200.0"/>
            <a:ext cx="573660.0" cy="1482300.0000000005"/>
          </a:xfrm>
          <a:prstGeom prst="line">
            <a:avLst/>
          </a:prstGeom>
          <a:ln w="10160">
            <a:solidFill>
              <a:srgbClr val="00509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654640.0" y="2509200.0"/>
            <a:ext cx="917856.0000000005" cy="2415600.0"/>
          </a:xfrm>
          <a:prstGeom prst="line">
            <a:avLst/>
          </a:prstGeom>
          <a:ln w="10160">
            <a:solidFill>
              <a:srgbClr val="005090"/>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375620.0" y="1960200.0"/>
            <a:ext cx="1147320.0" cy="933300.0"/>
          </a:xfrm>
          <a:prstGeom prst="line">
            <a:avLst/>
          </a:prstGeom>
          <a:ln w="10160">
            <a:solidFill>
              <a:srgbClr val="005090"/>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2080980.0" y="3991500.0000000005"/>
            <a:ext cx="1491516.0000000005" cy="933299.9999999995"/>
          </a:xfrm>
          <a:prstGeom prst="line">
            <a:avLst/>
          </a:prstGeom>
          <a:ln w="10160">
            <a:solidFill>
              <a:srgbClr val="00509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3572496.0000000005" y="2893500.0"/>
            <a:ext cx="1950443.9999999995" cy="2031300.0"/>
          </a:xfrm>
          <a:prstGeom prst="line">
            <a:avLst/>
          </a:prstGeom>
          <a:ln w="10160">
            <a:solidFill>
              <a:srgbClr val="005090"/>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3572496.0000000005" y="4705200.0"/>
            <a:ext cx="2753567.9999999995" cy="219600.0"/>
          </a:xfrm>
          <a:prstGeom prst="line">
            <a:avLst/>
          </a:prstGeom>
          <a:ln w="10160">
            <a:solidFill>
              <a:srgbClr val="00509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3572496.0000000005" y="4924800.0"/>
            <a:ext cx="1376783.9999999995" cy="713700.0"/>
          </a:xfrm>
          <a:prstGeom prst="line">
            <a:avLst/>
          </a:prstGeom>
          <a:ln w="10160">
            <a:solidFill>
              <a:srgbClr val="005090"/>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5522940.0" y="2893500.0"/>
            <a:ext cx="803124.0" cy="1811700.0"/>
          </a:xfrm>
          <a:prstGeom prst="line">
            <a:avLst/>
          </a:prstGeom>
          <a:ln w="10160">
            <a:solidFill>
              <a:srgbClr val="005090"/>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5522940.0" y="2179800.0"/>
            <a:ext cx="2294640.0" cy="713700.0"/>
          </a:xfrm>
          <a:prstGeom prst="line">
            <a:avLst/>
          </a:prstGeom>
          <a:ln w="10160">
            <a:solidFill>
              <a:srgbClr val="005090"/>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5522940.0" y="2893500.0"/>
            <a:ext cx="1720980.0" cy="2196000.0"/>
          </a:xfrm>
          <a:prstGeom prst="line">
            <a:avLst/>
          </a:prstGeom>
          <a:ln w="10160">
            <a:solidFill>
              <a:srgbClr val="005090"/>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4949280.0" y="2893500.0"/>
            <a:ext cx="573660.0" cy="2745000.0"/>
          </a:xfrm>
          <a:prstGeom prst="line">
            <a:avLst/>
          </a:prstGeom>
          <a:ln w="10160">
            <a:solidFill>
              <a:srgbClr val="005090"/>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6326064.0" y="3442500.0"/>
            <a:ext cx="2294640.0" cy="1262700.0"/>
          </a:xfrm>
          <a:prstGeom prst="line">
            <a:avLst/>
          </a:prstGeom>
          <a:ln w="10160">
            <a:solidFill>
              <a:srgbClr val="00509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6326064.0" y="4705200.0"/>
            <a:ext cx="917856.0" cy="384300.0"/>
          </a:xfrm>
          <a:prstGeom prst="line">
            <a:avLst/>
          </a:prstGeom>
          <a:ln w="10160">
            <a:solidFill>
              <a:srgbClr val="00509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4949280.0" y="4705200.0"/>
            <a:ext cx="1376784.0" cy="933300.0"/>
          </a:xfrm>
          <a:prstGeom prst="line">
            <a:avLst/>
          </a:prstGeom>
          <a:ln w="10160">
            <a:solidFill>
              <a:srgbClr val="00509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6326064.0" y="4705200.0"/>
            <a:ext cx="344196.00000000093" cy="1098000.0"/>
          </a:xfrm>
          <a:prstGeom prst="line">
            <a:avLst/>
          </a:prstGeom>
          <a:ln w="10160">
            <a:solidFill>
              <a:srgbClr val="00509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7817580.0" y="2179800.0"/>
            <a:ext cx="803124.0" cy="1262700.0"/>
          </a:xfrm>
          <a:prstGeom prst="line">
            <a:avLst/>
          </a:prstGeom>
          <a:ln w="10160">
            <a:solidFill>
              <a:srgbClr val="00509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7817580.0" y="2179800.0"/>
            <a:ext cx="1720980.0" cy="439200.0"/>
          </a:xfrm>
          <a:prstGeom prst="line">
            <a:avLst/>
          </a:prstGeom>
          <a:ln w="10160">
            <a:solidFill>
              <a:srgbClr val="00509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8620704.0" y="2619000.0"/>
            <a:ext cx="917856.0" cy="823500.0"/>
          </a:xfrm>
          <a:prstGeom prst="line">
            <a:avLst/>
          </a:prstGeom>
          <a:ln w="10160">
            <a:solidFill>
              <a:srgbClr val="00509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a:off x="7243920.0" y="3442500.0"/>
            <a:ext cx="1376784.0" cy="1647000.0"/>
          </a:xfrm>
          <a:prstGeom prst="line">
            <a:avLst/>
          </a:prstGeom>
          <a:ln w="10160">
            <a:solidFill>
              <a:srgbClr val="00509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8620704.0" y="3442500.0"/>
            <a:ext cx="688392.0" cy="1482300.0"/>
          </a:xfrm>
          <a:prstGeom prst="line">
            <a:avLst/>
          </a:prstGeom>
          <a:ln w="10160">
            <a:solidFill>
              <a:srgbClr val="00509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a:off x="9309096.0" y="2619000.0"/>
            <a:ext cx="229464.0" cy="2305800.0"/>
          </a:xfrm>
          <a:prstGeom prst="line">
            <a:avLst/>
          </a:prstGeom>
          <a:ln w="10160">
            <a:solidFill>
              <a:srgbClr val="005090"/>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7243920.0" y="4924800.0"/>
            <a:ext cx="2065176.0" cy="164700.0"/>
          </a:xfrm>
          <a:prstGeom prst="line">
            <a:avLst/>
          </a:prstGeom>
          <a:ln w="10160">
            <a:solidFill>
              <a:srgbClr val="005090"/>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4949280.0" y="5089500.0"/>
            <a:ext cx="2294640.0" cy="549000.0"/>
          </a:xfrm>
          <a:prstGeom prst="line">
            <a:avLst/>
          </a:prstGeom>
          <a:ln w="10160">
            <a:solidFill>
              <a:srgbClr val="005090"/>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6670260.000000001" y="5089500.0"/>
            <a:ext cx="573659.9999999991" cy="713700.0"/>
          </a:xfrm>
          <a:prstGeom prst="line">
            <a:avLst/>
          </a:prstGeom>
          <a:ln w="10160">
            <a:solidFill>
              <a:srgbClr val="005090"/>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a:off x="6670260.000000001" y="4924800.0"/>
            <a:ext cx="2638835.999999999" cy="878400.0"/>
          </a:xfrm>
          <a:prstGeom prst="line">
            <a:avLst/>
          </a:prstGeom>
          <a:ln w="10160">
            <a:solidFill>
              <a:srgbClr val="005090"/>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4949280.0" y="5638500.0"/>
            <a:ext cx="1720980.000000001" cy="164700.0"/>
          </a:xfrm>
          <a:prstGeom prst="line">
            <a:avLst/>
          </a:prstGeom>
          <a:ln w="10160">
            <a:solidFill>
              <a:srgbClr val="005090"/>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1277856.0" y="1521000.0"/>
            <a:ext cx="1376784.0" cy="988200.0"/>
          </a:xfrm>
          <a:prstGeom prst="line">
            <a:avLst/>
          </a:prstGeom>
          <a:ln w="12700">
            <a:solidFill>
              <a:srgbClr val="0080C0"/>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1277856.0" y="1521000.0"/>
            <a:ext cx="3097764.0" cy="439200.0"/>
          </a:xfrm>
          <a:prstGeom prst="line">
            <a:avLst/>
          </a:prstGeom>
          <a:ln w="12700">
            <a:solidFill>
              <a:srgbClr val="0080C0"/>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1277856.0" y="1521000.0"/>
            <a:ext cx="803124.0" cy="2470500.0000000005"/>
          </a:xfrm>
          <a:prstGeom prst="line">
            <a:avLst/>
          </a:prstGeom>
          <a:ln w="12700">
            <a:solidFill>
              <a:srgbClr val="0080C0"/>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a:off x="7817580.0" y="1521000.0"/>
            <a:ext cx="3097764.0" cy="658800.0"/>
          </a:xfrm>
          <a:prstGeom prst="line">
            <a:avLst/>
          </a:prstGeom>
          <a:ln w="12700">
            <a:solidFill>
              <a:srgbClr val="0080C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a:off x="8620704.0" y="1521000.0"/>
            <a:ext cx="2294640.0" cy="1921500.0"/>
          </a:xfrm>
          <a:prstGeom prst="line">
            <a:avLst/>
          </a:prstGeom>
          <a:ln w="12700">
            <a:solidFill>
              <a:srgbClr val="0080C0"/>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9538560.0" y="1521000.0"/>
            <a:ext cx="1376784.0" cy="1098000.0"/>
          </a:xfrm>
          <a:prstGeom prst="line">
            <a:avLst/>
          </a:prstGeom>
          <a:ln w="12700">
            <a:solidFill>
              <a:srgbClr val="0080C0"/>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a:off x="9309096.0" y="1521000.0"/>
            <a:ext cx="1606248.0" cy="3403800.0"/>
          </a:xfrm>
          <a:prstGeom prst="line">
            <a:avLst/>
          </a:prstGeom>
          <a:ln w="12700">
            <a:solidFill>
              <a:srgbClr val="0080C0"/>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1277856.0" y="2509200.0"/>
            <a:ext cx="1376784.0" cy="3294000.0"/>
          </a:xfrm>
          <a:prstGeom prst="line">
            <a:avLst/>
          </a:prstGeom>
          <a:ln w="12700">
            <a:solidFill>
              <a:srgbClr val="0080C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1277856.0" y="3991500.0000000005"/>
            <a:ext cx="803124.0" cy="1811699.9999999995"/>
          </a:xfrm>
          <a:prstGeom prst="line">
            <a:avLst/>
          </a:prstGeom>
          <a:ln w="12700">
            <a:solidFill>
              <a:srgbClr val="0080C0"/>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1277856.0" y="4924800.0"/>
            <a:ext cx="2294640.0000000005" cy="878400.0"/>
          </a:xfrm>
          <a:prstGeom prst="line">
            <a:avLst/>
          </a:prstGeom>
          <a:ln w="12700">
            <a:solidFill>
              <a:srgbClr val="0080C0"/>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1277856.0" y="5638500.0"/>
            <a:ext cx="3671424.0" cy="164700.0"/>
          </a:xfrm>
          <a:prstGeom prst="line">
            <a:avLst/>
          </a:prstGeom>
          <a:ln w="12700">
            <a:solidFill>
              <a:srgbClr val="0080C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8620704.0" y="3442500.0"/>
            <a:ext cx="2294640.0" cy="2360700.0"/>
          </a:xfrm>
          <a:prstGeom prst="line">
            <a:avLst/>
          </a:prstGeom>
          <a:ln w="12700">
            <a:solidFill>
              <a:srgbClr val="0080C0"/>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9538560.0" y="2619000.0"/>
            <a:ext cx="1376784.0" cy="3184200.0"/>
          </a:xfrm>
          <a:prstGeom prst="line">
            <a:avLst/>
          </a:prstGeom>
          <a:ln w="12700">
            <a:solidFill>
              <a:srgbClr val="0080C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7243920.0" y="5089500.0"/>
            <a:ext cx="3671424.0" cy="713700.0"/>
          </a:xfrm>
          <a:prstGeom prst="line">
            <a:avLst/>
          </a:prstGeom>
          <a:ln w="12700">
            <a:solidFill>
              <a:srgbClr val="0080C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9309096.0" y="4924800.0"/>
            <a:ext cx="1606248.0" cy="878400.0"/>
          </a:xfrm>
          <a:prstGeom prst="line">
            <a:avLst/>
          </a:prstGeom>
          <a:ln w="12700">
            <a:solidFill>
              <a:srgbClr val="0080C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654640.0" y="2509200.0"/>
            <a:ext cx="3441960.0" cy="1207800.0"/>
          </a:xfrm>
          <a:prstGeom prst="line">
            <a:avLst/>
          </a:prstGeom>
          <a:ln w="12700">
            <a:solidFill>
              <a:srgbClr val="0080C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4375620.0" y="1960200.0"/>
            <a:ext cx="1720980.0" cy="1756800.0"/>
          </a:xfrm>
          <a:prstGeom prst="line">
            <a:avLst/>
          </a:prstGeom>
          <a:ln w="12700">
            <a:solidFill>
              <a:srgbClr val="0080C0"/>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a:off x="3572496.0000000005" y="3717000.0"/>
            <a:ext cx="2524103.9999999995" cy="1207800.0"/>
          </a:xfrm>
          <a:prstGeom prst="line">
            <a:avLst/>
          </a:prstGeom>
          <a:ln w="12700">
            <a:solidFill>
              <a:srgbClr val="0080C0"/>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H="1" flipV="1">
            <a:off x="5522940.0" y="2893500.0"/>
            <a:ext cx="573660.0" cy="823500.0"/>
          </a:xfrm>
          <a:prstGeom prst="line">
            <a:avLst/>
          </a:prstGeom>
          <a:ln w="12700">
            <a:solidFill>
              <a:srgbClr val="0080C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6096600.0" y="3717000.0"/>
            <a:ext cx="229464.0" cy="988200.0"/>
          </a:xfrm>
          <a:prstGeom prst="line">
            <a:avLst/>
          </a:prstGeom>
          <a:ln w="12700">
            <a:solidFill>
              <a:srgbClr val="0080C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6096600.0" y="2179800.0"/>
            <a:ext cx="1720980.0" cy="1537200.0"/>
          </a:xfrm>
          <a:prstGeom prst="line">
            <a:avLst/>
          </a:prstGeom>
          <a:ln w="12700">
            <a:solidFill>
              <a:srgbClr val="0080C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6096600.0" y="3442500.0"/>
            <a:ext cx="2524104.0" cy="274500.0"/>
          </a:xfrm>
          <a:prstGeom prst="line">
            <a:avLst/>
          </a:prstGeom>
          <a:ln w="12700">
            <a:solidFill>
              <a:srgbClr val="0080C0"/>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6096600.0" y="2619000.0"/>
            <a:ext cx="3441960.0" cy="1098000.0"/>
          </a:xfrm>
          <a:prstGeom prst="line">
            <a:avLst/>
          </a:prstGeom>
          <a:ln w="12700">
            <a:solidFill>
              <a:srgbClr val="0080C0"/>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6096600.0" y="3717000.0"/>
            <a:ext cx="1147320.0" cy="1372500.0"/>
          </a:xfrm>
          <a:prstGeom prst="line">
            <a:avLst/>
          </a:prstGeom>
          <a:ln w="12700">
            <a:solidFill>
              <a:srgbClr val="0080C0"/>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6096600.0" y="3717000.0"/>
            <a:ext cx="3212496.0" cy="1207800.0"/>
          </a:xfrm>
          <a:prstGeom prst="line">
            <a:avLst/>
          </a:prstGeom>
          <a:ln w="12700">
            <a:solidFill>
              <a:srgbClr val="0080C0"/>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H="1">
            <a:off x="4949280.0" y="3717000.0"/>
            <a:ext cx="1147320.0" cy="1921500.0"/>
          </a:xfrm>
          <a:prstGeom prst="line">
            <a:avLst/>
          </a:prstGeom>
          <a:ln w="12700">
            <a:solidFill>
              <a:srgbClr val="0080C0"/>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6096600.0" y="3717000.0"/>
            <a:ext cx="573660.0000000009" cy="2086200.0"/>
          </a:xfrm>
          <a:prstGeom prst="line">
            <a:avLst/>
          </a:prstGeom>
          <a:ln w="12700">
            <a:solidFill>
              <a:srgbClr val="0080C0"/>
            </a:solidFill>
          </a:ln>
        </p:spPr>
        <p:style>
          <a:lnRef idx="2">
            <a:schemeClr val="accent1"/>
          </a:lnRef>
          <a:fillRef idx="0">
            <a:schemeClr val="accent1"/>
          </a:fillRef>
          <a:effectRef idx="1">
            <a:schemeClr val="accent1"/>
          </a:effectRef>
          <a:fontRef idx="minor">
            <a:schemeClr val="tx1"/>
          </a:fontRef>
        </p:style>
      </p:cxnSp>
      <p:sp>
        <p:nvSpPr>
          <p:cNvPr id="84" name="Oval 83"/>
          <p:cNvSpPr/>
          <p:nvPr/>
        </p:nvSpPr>
        <p:spPr>
          <a:xfrm>
            <a:off x="1025857" y="1269001"/>
            <a:ext cx="503998" cy="503998"/>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1151857" y="1395001"/>
            <a:ext cx="251998" cy="25199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1133856" y="1791000"/>
            <a:ext cx="288000" cy="180000"/>
          </a:xfrm>
          <a:prstGeom prst="rect">
            <a:avLst/>
          </a:prstGeom>
          <a:noFill/>
        </p:spPr>
        <p:txBody>
          <a:bodyPr wrap="square">
            <a:spAutoFit/>
          </a:bodyPr>
          <a:lstStyle/>
          <a:p>
            <a:pPr algn="ctr"/>
            <a:r>
              <a:rPr sz="900" b="1" i="0">
                <a:solidFill>
                  <a:srgbClr val="00D4FF"/>
                </a:solidFill>
                <a:latin typeface="Calibri"/>
              </a:rPr>
              <a:t>GW</a:t>
            </a:r>
          </a:p>
        </p:txBody>
      </p:sp>
      <p:sp>
        <p:nvSpPr>
          <p:cNvPr id="87" name="Oval 86"/>
          <p:cNvSpPr/>
          <p:nvPr/>
        </p:nvSpPr>
        <p:spPr>
          <a:xfrm>
            <a:off x="10663345" y="1269001"/>
            <a:ext cx="503998" cy="503998"/>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10789345" y="1395001"/>
            <a:ext cx="251998" cy="25199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10771344" y="1791000"/>
            <a:ext cx="288000" cy="180000"/>
          </a:xfrm>
          <a:prstGeom prst="rect">
            <a:avLst/>
          </a:prstGeom>
          <a:noFill/>
        </p:spPr>
        <p:txBody>
          <a:bodyPr wrap="square">
            <a:spAutoFit/>
          </a:bodyPr>
          <a:lstStyle/>
          <a:p>
            <a:pPr algn="ctr"/>
            <a:r>
              <a:rPr sz="900" b="1" i="0">
                <a:solidFill>
                  <a:srgbClr val="00D4FF"/>
                </a:solidFill>
                <a:latin typeface="Calibri"/>
              </a:rPr>
              <a:t>GW</a:t>
            </a:r>
          </a:p>
        </p:txBody>
      </p:sp>
      <p:sp>
        <p:nvSpPr>
          <p:cNvPr id="90" name="Oval 89"/>
          <p:cNvSpPr/>
          <p:nvPr/>
        </p:nvSpPr>
        <p:spPr>
          <a:xfrm>
            <a:off x="1025857" y="5551201"/>
            <a:ext cx="503998" cy="503998"/>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1151857" y="5677201"/>
            <a:ext cx="251998" cy="25199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1133856" y="6073200"/>
            <a:ext cx="288000" cy="180000"/>
          </a:xfrm>
          <a:prstGeom prst="rect">
            <a:avLst/>
          </a:prstGeom>
          <a:noFill/>
        </p:spPr>
        <p:txBody>
          <a:bodyPr wrap="square">
            <a:spAutoFit/>
          </a:bodyPr>
          <a:lstStyle/>
          <a:p>
            <a:pPr algn="ctr"/>
            <a:r>
              <a:rPr sz="900" b="1" i="0">
                <a:solidFill>
                  <a:srgbClr val="00D4FF"/>
                </a:solidFill>
                <a:latin typeface="Calibri"/>
              </a:rPr>
              <a:t>GW</a:t>
            </a:r>
          </a:p>
        </p:txBody>
      </p:sp>
      <p:sp>
        <p:nvSpPr>
          <p:cNvPr id="93" name="Oval 92"/>
          <p:cNvSpPr/>
          <p:nvPr/>
        </p:nvSpPr>
        <p:spPr>
          <a:xfrm>
            <a:off x="10663345" y="5551201"/>
            <a:ext cx="503998" cy="503998"/>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10789345" y="5677201"/>
            <a:ext cx="251998" cy="25199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10771344" y="6073200"/>
            <a:ext cx="288000" cy="180000"/>
          </a:xfrm>
          <a:prstGeom prst="rect">
            <a:avLst/>
          </a:prstGeom>
          <a:noFill/>
        </p:spPr>
        <p:txBody>
          <a:bodyPr wrap="square">
            <a:spAutoFit/>
          </a:bodyPr>
          <a:lstStyle/>
          <a:p>
            <a:pPr algn="ctr"/>
            <a:r>
              <a:rPr sz="900" b="1" i="0">
                <a:solidFill>
                  <a:srgbClr val="00D4FF"/>
                </a:solidFill>
                <a:latin typeface="Calibri"/>
              </a:rPr>
              <a:t>GW</a:t>
            </a:r>
          </a:p>
        </p:txBody>
      </p:sp>
      <p:sp>
        <p:nvSpPr>
          <p:cNvPr id="96" name="Oval 95"/>
          <p:cNvSpPr/>
          <p:nvPr/>
        </p:nvSpPr>
        <p:spPr>
          <a:xfrm>
            <a:off x="5844601" y="3465001"/>
            <a:ext cx="503998" cy="503998"/>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5970601" y="3591001"/>
            <a:ext cx="251998" cy="25199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5952600" y="3987000"/>
            <a:ext cx="288000" cy="180000"/>
          </a:xfrm>
          <a:prstGeom prst="rect">
            <a:avLst/>
          </a:prstGeom>
          <a:noFill/>
        </p:spPr>
        <p:txBody>
          <a:bodyPr wrap="square">
            <a:spAutoFit/>
          </a:bodyPr>
          <a:lstStyle/>
          <a:p>
            <a:pPr algn="ctr"/>
            <a:r>
              <a:rPr sz="900" b="1" i="0">
                <a:solidFill>
                  <a:srgbClr val="00D4FF"/>
                </a:solidFill>
                <a:latin typeface="Calibri"/>
              </a:rPr>
              <a:t>GW</a:t>
            </a:r>
          </a:p>
        </p:txBody>
      </p:sp>
      <p:sp>
        <p:nvSpPr>
          <p:cNvPr id="99" name="Oval 98"/>
          <p:cNvSpPr/>
          <p:nvPr/>
        </p:nvSpPr>
        <p:spPr>
          <a:xfrm>
            <a:off x="2553840" y="2408400"/>
            <a:ext cx="201600" cy="2016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2402641" y="2624400"/>
            <a:ext cx="503999" cy="162000"/>
          </a:xfrm>
          <a:prstGeom prst="rect">
            <a:avLst/>
          </a:prstGeom>
          <a:noFill/>
        </p:spPr>
        <p:txBody>
          <a:bodyPr wrap="square">
            <a:spAutoFit/>
          </a:bodyPr>
          <a:lstStyle/>
          <a:p>
            <a:pPr algn="ctr"/>
            <a:r>
              <a:rPr sz="800" b="0" i="0">
                <a:solidFill>
                  <a:srgbClr val="B0C4DE"/>
                </a:solidFill>
                <a:latin typeface="Calibri"/>
              </a:rPr>
              <a:t>Alice</a:t>
            </a:r>
          </a:p>
        </p:txBody>
      </p:sp>
      <p:sp>
        <p:nvSpPr>
          <p:cNvPr id="101" name="Oval 100"/>
          <p:cNvSpPr/>
          <p:nvPr/>
        </p:nvSpPr>
        <p:spPr>
          <a:xfrm>
            <a:off x="4274820" y="1859400"/>
            <a:ext cx="201600" cy="2016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4123621" y="2075400"/>
            <a:ext cx="503999" cy="162000"/>
          </a:xfrm>
          <a:prstGeom prst="rect">
            <a:avLst/>
          </a:prstGeom>
          <a:noFill/>
        </p:spPr>
        <p:txBody>
          <a:bodyPr wrap="square">
            <a:spAutoFit/>
          </a:bodyPr>
          <a:lstStyle/>
          <a:p>
            <a:pPr algn="ctr"/>
            <a:r>
              <a:rPr sz="800" b="0" i="0">
                <a:solidFill>
                  <a:srgbClr val="B0C4DE"/>
                </a:solidFill>
                <a:latin typeface="Calibri"/>
              </a:rPr>
              <a:t>Bob</a:t>
            </a:r>
          </a:p>
        </p:txBody>
      </p:sp>
      <p:sp>
        <p:nvSpPr>
          <p:cNvPr id="103" name="Oval 102"/>
          <p:cNvSpPr/>
          <p:nvPr/>
        </p:nvSpPr>
        <p:spPr>
          <a:xfrm>
            <a:off x="1980180" y="3890700"/>
            <a:ext cx="201600" cy="2016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1828981" y="4106700"/>
            <a:ext cx="503999" cy="162000"/>
          </a:xfrm>
          <a:prstGeom prst="rect">
            <a:avLst/>
          </a:prstGeom>
          <a:noFill/>
        </p:spPr>
        <p:txBody>
          <a:bodyPr wrap="square">
            <a:spAutoFit/>
          </a:bodyPr>
          <a:lstStyle/>
          <a:p>
            <a:pPr algn="ctr"/>
            <a:r>
              <a:rPr sz="800" b="0" i="0">
                <a:solidFill>
                  <a:srgbClr val="B0C4DE"/>
                </a:solidFill>
                <a:latin typeface="Calibri"/>
              </a:rPr>
              <a:t>Carol</a:t>
            </a:r>
          </a:p>
        </p:txBody>
      </p:sp>
      <p:sp>
        <p:nvSpPr>
          <p:cNvPr id="105" name="Oval 104"/>
          <p:cNvSpPr/>
          <p:nvPr/>
        </p:nvSpPr>
        <p:spPr>
          <a:xfrm>
            <a:off x="3471696" y="4824000"/>
            <a:ext cx="201600" cy="2016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3320497" y="5040000"/>
            <a:ext cx="503999" cy="162000"/>
          </a:xfrm>
          <a:prstGeom prst="rect">
            <a:avLst/>
          </a:prstGeom>
          <a:noFill/>
        </p:spPr>
        <p:txBody>
          <a:bodyPr wrap="square">
            <a:spAutoFit/>
          </a:bodyPr>
          <a:lstStyle/>
          <a:p>
            <a:pPr algn="ctr"/>
            <a:r>
              <a:rPr sz="800" b="0" i="0">
                <a:solidFill>
                  <a:srgbClr val="B0C4DE"/>
                </a:solidFill>
                <a:latin typeface="Calibri"/>
              </a:rPr>
              <a:t>Dave</a:t>
            </a:r>
          </a:p>
        </p:txBody>
      </p:sp>
      <p:sp>
        <p:nvSpPr>
          <p:cNvPr id="107" name="Oval 106"/>
          <p:cNvSpPr/>
          <p:nvPr/>
        </p:nvSpPr>
        <p:spPr>
          <a:xfrm>
            <a:off x="5422140" y="2792700"/>
            <a:ext cx="201600" cy="2016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5270941" y="3008700"/>
            <a:ext cx="503999" cy="162000"/>
          </a:xfrm>
          <a:prstGeom prst="rect">
            <a:avLst/>
          </a:prstGeom>
          <a:noFill/>
        </p:spPr>
        <p:txBody>
          <a:bodyPr wrap="square">
            <a:spAutoFit/>
          </a:bodyPr>
          <a:lstStyle/>
          <a:p>
            <a:pPr algn="ctr"/>
            <a:r>
              <a:rPr sz="800" b="0" i="0">
                <a:solidFill>
                  <a:srgbClr val="B0C4DE"/>
                </a:solidFill>
                <a:latin typeface="Calibri"/>
              </a:rPr>
              <a:t>Eve</a:t>
            </a:r>
          </a:p>
        </p:txBody>
      </p:sp>
      <p:sp>
        <p:nvSpPr>
          <p:cNvPr id="109" name="Oval 108"/>
          <p:cNvSpPr/>
          <p:nvPr/>
        </p:nvSpPr>
        <p:spPr>
          <a:xfrm>
            <a:off x="6225264" y="4604400"/>
            <a:ext cx="201600" cy="2016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6074065" y="4820400"/>
            <a:ext cx="503999" cy="162000"/>
          </a:xfrm>
          <a:prstGeom prst="rect">
            <a:avLst/>
          </a:prstGeom>
          <a:noFill/>
        </p:spPr>
        <p:txBody>
          <a:bodyPr wrap="square">
            <a:spAutoFit/>
          </a:bodyPr>
          <a:lstStyle/>
          <a:p>
            <a:pPr algn="ctr"/>
            <a:r>
              <a:rPr sz="800" b="0" i="0">
                <a:solidFill>
                  <a:srgbClr val="B0C4DE"/>
                </a:solidFill>
                <a:latin typeface="Calibri"/>
              </a:rPr>
              <a:t>Frank</a:t>
            </a:r>
          </a:p>
        </p:txBody>
      </p:sp>
      <p:sp>
        <p:nvSpPr>
          <p:cNvPr id="111" name="Oval 110"/>
          <p:cNvSpPr/>
          <p:nvPr/>
        </p:nvSpPr>
        <p:spPr>
          <a:xfrm>
            <a:off x="7716780" y="2079000"/>
            <a:ext cx="201600" cy="2016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7565581" y="2295000"/>
            <a:ext cx="503999" cy="162000"/>
          </a:xfrm>
          <a:prstGeom prst="rect">
            <a:avLst/>
          </a:prstGeom>
          <a:noFill/>
        </p:spPr>
        <p:txBody>
          <a:bodyPr wrap="square">
            <a:spAutoFit/>
          </a:bodyPr>
          <a:lstStyle/>
          <a:p>
            <a:pPr algn="ctr"/>
            <a:r>
              <a:rPr sz="800" b="0" i="0">
                <a:solidFill>
                  <a:srgbClr val="B0C4DE"/>
                </a:solidFill>
                <a:latin typeface="Calibri"/>
              </a:rPr>
              <a:t>Grace</a:t>
            </a:r>
          </a:p>
        </p:txBody>
      </p:sp>
      <p:sp>
        <p:nvSpPr>
          <p:cNvPr id="113" name="Oval 112"/>
          <p:cNvSpPr/>
          <p:nvPr/>
        </p:nvSpPr>
        <p:spPr>
          <a:xfrm>
            <a:off x="8519904" y="3341700"/>
            <a:ext cx="201600" cy="2016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8368705" y="3557700"/>
            <a:ext cx="503999" cy="162000"/>
          </a:xfrm>
          <a:prstGeom prst="rect">
            <a:avLst/>
          </a:prstGeom>
          <a:noFill/>
        </p:spPr>
        <p:txBody>
          <a:bodyPr wrap="square">
            <a:spAutoFit/>
          </a:bodyPr>
          <a:lstStyle/>
          <a:p>
            <a:pPr algn="ctr"/>
            <a:r>
              <a:rPr sz="800" b="0" i="0">
                <a:solidFill>
                  <a:srgbClr val="B0C4DE"/>
                </a:solidFill>
                <a:latin typeface="Calibri"/>
              </a:rPr>
              <a:t>Hal</a:t>
            </a:r>
          </a:p>
        </p:txBody>
      </p:sp>
      <p:sp>
        <p:nvSpPr>
          <p:cNvPr id="115" name="Oval 114"/>
          <p:cNvSpPr/>
          <p:nvPr/>
        </p:nvSpPr>
        <p:spPr>
          <a:xfrm>
            <a:off x="9437760" y="2518200"/>
            <a:ext cx="201600" cy="2016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9286561" y="2734200"/>
            <a:ext cx="503999" cy="162000"/>
          </a:xfrm>
          <a:prstGeom prst="rect">
            <a:avLst/>
          </a:prstGeom>
          <a:noFill/>
        </p:spPr>
        <p:txBody>
          <a:bodyPr wrap="square">
            <a:spAutoFit/>
          </a:bodyPr>
          <a:lstStyle/>
          <a:p>
            <a:pPr algn="ctr"/>
            <a:r>
              <a:rPr sz="800" b="0" i="0">
                <a:solidFill>
                  <a:srgbClr val="B0C4DE"/>
                </a:solidFill>
                <a:latin typeface="Calibri"/>
              </a:rPr>
              <a:t>Iris</a:t>
            </a:r>
          </a:p>
        </p:txBody>
      </p:sp>
      <p:sp>
        <p:nvSpPr>
          <p:cNvPr id="117" name="Oval 116"/>
          <p:cNvSpPr/>
          <p:nvPr/>
        </p:nvSpPr>
        <p:spPr>
          <a:xfrm>
            <a:off x="7143120" y="4988700"/>
            <a:ext cx="201600" cy="2016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6991921" y="5204700"/>
            <a:ext cx="503999" cy="162000"/>
          </a:xfrm>
          <a:prstGeom prst="rect">
            <a:avLst/>
          </a:prstGeom>
          <a:noFill/>
        </p:spPr>
        <p:txBody>
          <a:bodyPr wrap="square">
            <a:spAutoFit/>
          </a:bodyPr>
          <a:lstStyle/>
          <a:p>
            <a:pPr algn="ctr"/>
            <a:r>
              <a:rPr sz="800" b="0" i="0">
                <a:solidFill>
                  <a:srgbClr val="B0C4DE"/>
                </a:solidFill>
                <a:latin typeface="Calibri"/>
              </a:rPr>
              <a:t>Jules</a:t>
            </a:r>
          </a:p>
        </p:txBody>
      </p:sp>
      <p:sp>
        <p:nvSpPr>
          <p:cNvPr id="119" name="Oval 118"/>
          <p:cNvSpPr/>
          <p:nvPr/>
        </p:nvSpPr>
        <p:spPr>
          <a:xfrm>
            <a:off x="9208296" y="4824000"/>
            <a:ext cx="201600" cy="2016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9057097" y="5040000"/>
            <a:ext cx="503999" cy="162000"/>
          </a:xfrm>
          <a:prstGeom prst="rect">
            <a:avLst/>
          </a:prstGeom>
          <a:noFill/>
        </p:spPr>
        <p:txBody>
          <a:bodyPr wrap="square">
            <a:spAutoFit/>
          </a:bodyPr>
          <a:lstStyle/>
          <a:p>
            <a:pPr algn="ctr"/>
            <a:r>
              <a:rPr sz="800" b="0" i="0">
                <a:solidFill>
                  <a:srgbClr val="B0C4DE"/>
                </a:solidFill>
                <a:latin typeface="Calibri"/>
              </a:rPr>
              <a:t>Karl</a:t>
            </a:r>
          </a:p>
        </p:txBody>
      </p:sp>
      <p:sp>
        <p:nvSpPr>
          <p:cNvPr id="121" name="Oval 120"/>
          <p:cNvSpPr/>
          <p:nvPr/>
        </p:nvSpPr>
        <p:spPr>
          <a:xfrm>
            <a:off x="4848480" y="5537700"/>
            <a:ext cx="201600" cy="2016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4697281" y="5753700"/>
            <a:ext cx="503999" cy="162000"/>
          </a:xfrm>
          <a:prstGeom prst="rect">
            <a:avLst/>
          </a:prstGeom>
          <a:noFill/>
        </p:spPr>
        <p:txBody>
          <a:bodyPr wrap="square">
            <a:spAutoFit/>
          </a:bodyPr>
          <a:lstStyle/>
          <a:p>
            <a:pPr algn="ctr"/>
            <a:r>
              <a:rPr sz="800" b="0" i="0">
                <a:solidFill>
                  <a:srgbClr val="B0C4DE"/>
                </a:solidFill>
                <a:latin typeface="Calibri"/>
              </a:rPr>
              <a:t>Lena</a:t>
            </a:r>
          </a:p>
        </p:txBody>
      </p:sp>
      <p:sp>
        <p:nvSpPr>
          <p:cNvPr id="123" name="Oval 122"/>
          <p:cNvSpPr/>
          <p:nvPr/>
        </p:nvSpPr>
        <p:spPr>
          <a:xfrm>
            <a:off x="6569460" y="5702400"/>
            <a:ext cx="201600" cy="2016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6418261" y="5918400"/>
            <a:ext cx="503999" cy="162000"/>
          </a:xfrm>
          <a:prstGeom prst="rect">
            <a:avLst/>
          </a:prstGeom>
          <a:noFill/>
        </p:spPr>
        <p:txBody>
          <a:bodyPr wrap="square">
            <a:spAutoFit/>
          </a:bodyPr>
          <a:lstStyle/>
          <a:p>
            <a:pPr algn="ctr"/>
            <a:r>
              <a:rPr sz="800" b="0" i="0">
                <a:solidFill>
                  <a:srgbClr val="B0C4DE"/>
                </a:solidFill>
                <a:latin typeface="Calibri"/>
              </a:rPr>
              <a:t>Mo</a:t>
            </a:r>
          </a:p>
        </p:txBody>
      </p:sp>
      <p:sp>
        <p:nvSpPr>
          <p:cNvPr id="125" name="Rectangle 124"/>
          <p:cNvSpPr/>
          <p:nvPr/>
        </p:nvSpPr>
        <p:spPr>
          <a:xfrm>
            <a:off x="9493200" y="1080000"/>
            <a:ext cx="2232000" cy="900000"/>
          </a:xfrm>
          <a:prstGeom prst="rect">
            <a:avLst/>
          </a:prstGeom>
          <a:solidFill>
            <a:srgbClr val="1020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9565200" y="1116000"/>
            <a:ext cx="2160000" cy="216000"/>
          </a:xfrm>
          <a:prstGeom prst="rect">
            <a:avLst/>
          </a:prstGeom>
          <a:noFill/>
        </p:spPr>
        <p:txBody>
          <a:bodyPr wrap="square">
            <a:spAutoFit/>
          </a:bodyPr>
          <a:lstStyle/>
          <a:p>
            <a:pPr algn="l"/>
            <a:r>
              <a:rPr sz="1100" b="1" i="0">
                <a:solidFill>
                  <a:srgbClr val="FFFFFF"/>
                </a:solidFill>
                <a:latin typeface="Calibri"/>
              </a:rPr>
              <a:t>Legend</a:t>
            </a:r>
          </a:p>
        </p:txBody>
      </p:sp>
      <p:sp>
        <p:nvSpPr>
          <p:cNvPr id="127" name="Oval 126"/>
          <p:cNvSpPr/>
          <p:nvPr/>
        </p:nvSpPr>
        <p:spPr>
          <a:xfrm>
            <a:off x="9673200" y="1404000"/>
            <a:ext cx="144000" cy="1440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9853200" y="1422000"/>
            <a:ext cx="1800000" cy="180000"/>
          </a:xfrm>
          <a:prstGeom prst="rect">
            <a:avLst/>
          </a:prstGeom>
          <a:noFill/>
        </p:spPr>
        <p:txBody>
          <a:bodyPr wrap="square">
            <a:spAutoFit/>
          </a:bodyPr>
          <a:lstStyle/>
          <a:p>
            <a:pPr algn="l"/>
            <a:r>
              <a:rPr sz="1000" b="0" i="0">
                <a:solidFill>
                  <a:srgbClr val="B0C4DE"/>
                </a:solidFill>
                <a:latin typeface="Calibri"/>
              </a:rPr>
              <a:t>  LoRa Gateway (GW)</a:t>
            </a:r>
          </a:p>
        </p:txBody>
      </p:sp>
      <p:sp>
        <p:nvSpPr>
          <p:cNvPr id="129" name="Oval 128"/>
          <p:cNvSpPr/>
          <p:nvPr/>
        </p:nvSpPr>
        <p:spPr>
          <a:xfrm>
            <a:off x="9673200" y="1620000"/>
            <a:ext cx="144000" cy="1440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9853200" y="1638000"/>
            <a:ext cx="1800000" cy="180000"/>
          </a:xfrm>
          <a:prstGeom prst="rect">
            <a:avLst/>
          </a:prstGeom>
          <a:noFill/>
        </p:spPr>
        <p:txBody>
          <a:bodyPr wrap="square">
            <a:spAutoFit/>
          </a:bodyPr>
          <a:lstStyle/>
          <a:p>
            <a:pPr algn="l"/>
            <a:r>
              <a:rPr sz="1000" b="0" i="0">
                <a:solidFill>
                  <a:srgbClr val="B0C4DE"/>
                </a:solidFill>
                <a:latin typeface="Calibri"/>
              </a:rPr>
              <a:t>  User Node (device)</a:t>
            </a:r>
          </a:p>
        </p:txBody>
      </p:sp>
      <p:sp>
        <p:nvSpPr>
          <p:cNvPr id="131" name="Rectangle 130"/>
          <p:cNvSpPr/>
          <p:nvPr/>
        </p:nvSpPr>
        <p:spPr>
          <a:xfrm>
            <a:off x="0" y="6534000"/>
            <a:ext cx="12193200" cy="324000"/>
          </a:xfrm>
          <a:prstGeom prst="rect">
            <a:avLst/>
          </a:prstGeom>
          <a:solidFill>
            <a:srgbClr val="0F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360000" y="6552000"/>
            <a:ext cx="11473200" cy="288000"/>
          </a:xfrm>
          <a:prstGeom prst="rect">
            <a:avLst/>
          </a:prstGeom>
          <a:noFill/>
        </p:spPr>
        <p:txBody>
          <a:bodyPr wrap="square">
            <a:spAutoFit/>
          </a:bodyPr>
          <a:lstStyle/>
          <a:p>
            <a:pPr algn="ctr"/>
            <a:r>
              <a:rPr sz="1000" b="0" i="0">
                <a:solidFill>
                  <a:srgbClr val="B0C4DE"/>
                </a:solidFill>
                <a:latin typeface="Calibri"/>
              </a:rPr>
              <a:t>MegaNet MVP  |  Executive Briefing  |  2026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42A"/>
        </a:solidFill>
        <a:effectLst/>
      </p:bgPr>
    </p:bg>
    <p:spTree>
      <p:nvGrpSpPr>
        <p:cNvPr id="1" name=""/>
        <p:cNvGrpSpPr/>
        <p:nvPr/>
      </p:nvGrpSpPr>
      <p:grpSpPr/>
      <p:sp>
        <p:nvSpPr>
          <p:cNvPr id="2" name="Rectangle 1"/>
          <p:cNvSpPr/>
          <p:nvPr/>
        </p:nvSpPr>
        <p:spPr>
          <a:xfrm>
            <a:off x="0" y="0"/>
            <a:ext cx="12193200" cy="864000"/>
          </a:xfrm>
          <a:prstGeom prst="rect">
            <a:avLst/>
          </a:prstGeom>
          <a:solidFill>
            <a:srgbClr val="0F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4000"/>
            <a:ext cx="12193200" cy="54000"/>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0000" y="90000"/>
            <a:ext cx="11473200" cy="576000"/>
          </a:xfrm>
          <a:prstGeom prst="rect">
            <a:avLst/>
          </a:prstGeom>
          <a:noFill/>
        </p:spPr>
        <p:txBody>
          <a:bodyPr wrap="square">
            <a:spAutoFit/>
          </a:bodyPr>
          <a:lstStyle/>
          <a:p>
            <a:pPr algn="l"/>
            <a:r>
              <a:rPr sz="2600" b="1" i="0">
                <a:solidFill>
                  <a:srgbClr val="FFFFFF"/>
                </a:solidFill>
                <a:latin typeface="Calibri"/>
              </a:rPr>
              <a:t>Security Architecture</a:t>
            </a:r>
          </a:p>
        </p:txBody>
      </p:sp>
      <p:sp>
        <p:nvSpPr>
          <p:cNvPr id="5" name="TextBox 4"/>
          <p:cNvSpPr txBox="1"/>
          <p:nvPr/>
        </p:nvSpPr>
        <p:spPr>
          <a:xfrm>
            <a:off x="360000" y="558000"/>
            <a:ext cx="11473200" cy="324000"/>
          </a:xfrm>
          <a:prstGeom prst="rect">
            <a:avLst/>
          </a:prstGeom>
          <a:noFill/>
        </p:spPr>
        <p:txBody>
          <a:bodyPr wrap="square">
            <a:spAutoFit/>
          </a:bodyPr>
          <a:lstStyle/>
          <a:p>
            <a:pPr algn="l"/>
            <a:r>
              <a:rPr sz="1300" b="0" i="0">
                <a:solidFill>
                  <a:srgbClr val="00D4FF"/>
                </a:solidFill>
                <a:latin typeface="Calibri"/>
              </a:rPr>
              <a:t>Every bit is encrypted. Every node is self-sovereign.</a:t>
            </a:r>
          </a:p>
        </p:txBody>
      </p:sp>
      <p:sp>
        <p:nvSpPr>
          <p:cNvPr id="6" name="Rectangle 5"/>
          <p:cNvSpPr/>
          <p:nvPr/>
        </p:nvSpPr>
        <p:spPr>
          <a:xfrm>
            <a:off x="180000" y="972000"/>
            <a:ext cx="5580000" cy="2700000"/>
          </a:xfrm>
          <a:prstGeom prst="rect">
            <a:avLst/>
          </a:prstGeom>
          <a:solidFill>
            <a:srgbClr val="0A1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8000" y="1026000"/>
            <a:ext cx="5400000" cy="251999"/>
          </a:xfrm>
          <a:prstGeom prst="rect">
            <a:avLst/>
          </a:prstGeom>
          <a:noFill/>
        </p:spPr>
        <p:txBody>
          <a:bodyPr wrap="square">
            <a:spAutoFit/>
          </a:bodyPr>
          <a:lstStyle/>
          <a:p>
            <a:pPr algn="l"/>
            <a:r>
              <a:rPr sz="1400" b="1" i="0">
                <a:solidFill>
                  <a:srgbClr val="00D4FF"/>
                </a:solidFill>
                <a:latin typeface="Calibri"/>
              </a:rPr>
              <a:t>Public-Key Node Identity</a:t>
            </a:r>
          </a:p>
        </p:txBody>
      </p:sp>
      <p:sp>
        <p:nvSpPr>
          <p:cNvPr id="8" name="Rounded Rectangle 7"/>
          <p:cNvSpPr/>
          <p:nvPr/>
        </p:nvSpPr>
        <p:spPr>
          <a:xfrm>
            <a:off x="540000" y="1512000"/>
            <a:ext cx="1620000" cy="360000"/>
          </a:xfrm>
          <a:prstGeom prst="roundRect">
            <a:avLst>
              <a:gd name="adj" fmla="val 10000"/>
            </a:avLst>
          </a:prstGeom>
          <a:solidFill>
            <a:srgbClr val="205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0000" y="1512000"/>
            <a:ext cx="1620000" cy="360000"/>
          </a:xfrm>
          <a:prstGeom prst="rect">
            <a:avLst/>
          </a:prstGeom>
          <a:noFill/>
        </p:spPr>
        <p:txBody>
          <a:bodyPr wrap="square">
            <a:spAutoFit/>
          </a:bodyPr>
          <a:lstStyle/>
          <a:p>
            <a:pPr algn="ctr"/>
            <a:r>
              <a:rPr sz="1100" b="1" i="0">
                <a:solidFill>
                  <a:srgbClr val="FFFFFF"/>
                </a:solidFill>
                <a:latin typeface="Calibri"/>
              </a:rPr>
              <a:t>Ed25519
Private Key</a:t>
            </a:r>
          </a:p>
        </p:txBody>
      </p:sp>
      <p:sp>
        <p:nvSpPr>
          <p:cNvPr id="10" name="Rounded Rectangle 9"/>
          <p:cNvSpPr/>
          <p:nvPr/>
        </p:nvSpPr>
        <p:spPr>
          <a:xfrm>
            <a:off x="2520000" y="1512000"/>
            <a:ext cx="1620000" cy="360000"/>
          </a:xfrm>
          <a:prstGeom prst="roundRect">
            <a:avLst>
              <a:gd name="adj" fmla="val 10000"/>
            </a:avLst>
          </a:prstGeom>
          <a:solidFill>
            <a:srgbClr val="1070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20000" y="1512000"/>
            <a:ext cx="1620000" cy="360000"/>
          </a:xfrm>
          <a:prstGeom prst="rect">
            <a:avLst/>
          </a:prstGeom>
          <a:noFill/>
        </p:spPr>
        <p:txBody>
          <a:bodyPr wrap="square">
            <a:spAutoFit/>
          </a:bodyPr>
          <a:lstStyle/>
          <a:p>
            <a:pPr algn="ctr"/>
            <a:r>
              <a:rPr sz="1100" b="1" i="0">
                <a:solidFill>
                  <a:srgbClr val="FFFFFF"/>
                </a:solidFill>
                <a:latin typeface="Calibri"/>
              </a:rPr>
              <a:t>Ed25519
Public Key</a:t>
            </a:r>
          </a:p>
        </p:txBody>
      </p:sp>
      <p:sp>
        <p:nvSpPr>
          <p:cNvPr id="12" name="Rounded Rectangle 11"/>
          <p:cNvSpPr/>
          <p:nvPr/>
        </p:nvSpPr>
        <p:spPr>
          <a:xfrm>
            <a:off x="4392000" y="1512000"/>
            <a:ext cx="1152000" cy="360000"/>
          </a:xfrm>
          <a:prstGeom prst="roundRect">
            <a:avLst>
              <a:gd name="adj" fmla="val 10000"/>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92000" y="1512000"/>
            <a:ext cx="1152000" cy="360000"/>
          </a:xfrm>
          <a:prstGeom prst="rect">
            <a:avLst/>
          </a:prstGeom>
          <a:noFill/>
        </p:spPr>
        <p:txBody>
          <a:bodyPr wrap="square">
            <a:spAutoFit/>
          </a:bodyPr>
          <a:lstStyle/>
          <a:p>
            <a:pPr algn="ctr"/>
            <a:r>
              <a:rPr sz="1100" b="1" i="0">
                <a:solidFill>
                  <a:srgbClr val="FFFFFF"/>
                </a:solidFill>
                <a:latin typeface="Calibri"/>
              </a:rPr>
              <a:t>Node
Address</a:t>
            </a:r>
          </a:p>
        </p:txBody>
      </p:sp>
      <p:cxnSp>
        <p:nvCxnSpPr>
          <p:cNvPr id="14" name="Connector 13"/>
          <p:cNvCxnSpPr/>
          <p:nvPr/>
        </p:nvCxnSpPr>
        <p:spPr>
          <a:xfrm>
            <a:off x="2160000" y="1692000"/>
            <a:ext cx="360000" cy="0"/>
          </a:xfrm>
          <a:prstGeom prst="line">
            <a:avLst/>
          </a:prstGeom>
          <a:ln w="25400">
            <a:solidFill>
              <a:srgbClr val="00D4FF"/>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140000" y="1692000"/>
            <a:ext cx="252000" cy="0"/>
          </a:xfrm>
          <a:prstGeom prst="line">
            <a:avLst/>
          </a:prstGeom>
          <a:ln w="25400">
            <a:solidFill>
              <a:srgbClr val="00D4FF"/>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088000" y="1475999"/>
            <a:ext cx="503999" cy="180000"/>
          </a:xfrm>
          <a:prstGeom prst="rect">
            <a:avLst/>
          </a:prstGeom>
          <a:noFill/>
        </p:spPr>
        <p:txBody>
          <a:bodyPr wrap="square">
            <a:spAutoFit/>
          </a:bodyPr>
          <a:lstStyle/>
          <a:p>
            <a:pPr algn="l"/>
            <a:r>
              <a:rPr sz="800" b="0" i="0">
                <a:solidFill>
                  <a:srgbClr val="B0C4DE"/>
                </a:solidFill>
                <a:latin typeface="Calibri"/>
              </a:rPr>
              <a:t>generate</a:t>
            </a:r>
          </a:p>
        </p:txBody>
      </p:sp>
      <p:sp>
        <p:nvSpPr>
          <p:cNvPr id="17" name="TextBox 16"/>
          <p:cNvSpPr txBox="1"/>
          <p:nvPr/>
        </p:nvSpPr>
        <p:spPr>
          <a:xfrm>
            <a:off x="3960000" y="1475999"/>
            <a:ext cx="540000" cy="180000"/>
          </a:xfrm>
          <a:prstGeom prst="rect">
            <a:avLst/>
          </a:prstGeom>
          <a:noFill/>
        </p:spPr>
        <p:txBody>
          <a:bodyPr wrap="square">
            <a:spAutoFit/>
          </a:bodyPr>
          <a:lstStyle/>
          <a:p>
            <a:pPr algn="l"/>
            <a:r>
              <a:rPr sz="800" b="0" i="0">
                <a:solidFill>
                  <a:srgbClr val="B0C4DE"/>
                </a:solidFill>
                <a:latin typeface="Calibri"/>
              </a:rPr>
              <a:t>SHA3-256[:20]</a:t>
            </a:r>
          </a:p>
        </p:txBody>
      </p:sp>
      <p:sp>
        <p:nvSpPr>
          <p:cNvPr id="18" name="Rectangle 17"/>
          <p:cNvSpPr/>
          <p:nvPr/>
        </p:nvSpPr>
        <p:spPr>
          <a:xfrm>
            <a:off x="288000" y="1980000"/>
            <a:ext cx="5400000" cy="251999"/>
          </a:xfrm>
          <a:prstGeom prst="rect">
            <a:avLst/>
          </a:prstGeom>
          <a:solidFill>
            <a:srgbClr val="05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4000" y="1998000"/>
            <a:ext cx="5328000" cy="234000"/>
          </a:xfrm>
          <a:prstGeom prst="rect">
            <a:avLst/>
          </a:prstGeom>
          <a:noFill/>
        </p:spPr>
        <p:txBody>
          <a:bodyPr wrap="square">
            <a:spAutoFit/>
          </a:bodyPr>
          <a:lstStyle/>
          <a:p>
            <a:pPr algn="ctr"/>
            <a:r>
              <a:rPr sz="1000" b="0" i="1">
                <a:solidFill>
                  <a:srgbClr val="00D4FF"/>
                </a:solidFill>
                <a:latin typeface="Calibri"/>
              </a:rPr>
              <a:t>Address = SHA3-256(public_key_bytes)[:20]  -&gt;  unique 40-hex-char ID, no registry needed</a:t>
            </a:r>
          </a:p>
        </p:txBody>
      </p:sp>
      <p:sp>
        <p:nvSpPr>
          <p:cNvPr id="20" name="Oval 19"/>
          <p:cNvSpPr/>
          <p:nvPr/>
        </p:nvSpPr>
        <p:spPr>
          <a:xfrm>
            <a:off x="331200" y="2527200"/>
            <a:ext cx="129600" cy="1296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4000" y="2520000"/>
            <a:ext cx="1224000" cy="198000"/>
          </a:xfrm>
          <a:prstGeom prst="rect">
            <a:avLst/>
          </a:prstGeom>
          <a:noFill/>
        </p:spPr>
        <p:txBody>
          <a:bodyPr wrap="square">
            <a:spAutoFit/>
          </a:bodyPr>
          <a:lstStyle/>
          <a:p>
            <a:pPr algn="l"/>
            <a:r>
              <a:rPr sz="1000" b="0" i="0">
                <a:solidFill>
                  <a:srgbClr val="FFFFFF"/>
                </a:solidFill>
                <a:latin typeface="Calibri"/>
              </a:rPr>
              <a:t>No ISP registration</a:t>
            </a:r>
          </a:p>
        </p:txBody>
      </p:sp>
      <p:sp>
        <p:nvSpPr>
          <p:cNvPr id="22" name="Oval 21"/>
          <p:cNvSpPr/>
          <p:nvPr/>
        </p:nvSpPr>
        <p:spPr>
          <a:xfrm>
            <a:off x="1699200" y="2527200"/>
            <a:ext cx="129600" cy="1296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872000" y="2520000"/>
            <a:ext cx="1224000" cy="198000"/>
          </a:xfrm>
          <a:prstGeom prst="rect">
            <a:avLst/>
          </a:prstGeom>
          <a:noFill/>
        </p:spPr>
        <p:txBody>
          <a:bodyPr wrap="square">
            <a:spAutoFit/>
          </a:bodyPr>
          <a:lstStyle/>
          <a:p>
            <a:pPr algn="l"/>
            <a:r>
              <a:rPr sz="1000" b="0" i="0">
                <a:solidFill>
                  <a:srgbClr val="FFFFFF"/>
                </a:solidFill>
                <a:latin typeface="Calibri"/>
              </a:rPr>
              <a:t>No government ID</a:t>
            </a:r>
          </a:p>
        </p:txBody>
      </p:sp>
      <p:sp>
        <p:nvSpPr>
          <p:cNvPr id="24" name="Oval 23"/>
          <p:cNvSpPr/>
          <p:nvPr/>
        </p:nvSpPr>
        <p:spPr>
          <a:xfrm>
            <a:off x="3067200" y="2527200"/>
            <a:ext cx="129600" cy="1296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40000" y="2520000"/>
            <a:ext cx="1224000" cy="198000"/>
          </a:xfrm>
          <a:prstGeom prst="rect">
            <a:avLst/>
          </a:prstGeom>
          <a:noFill/>
        </p:spPr>
        <p:txBody>
          <a:bodyPr wrap="square">
            <a:spAutoFit/>
          </a:bodyPr>
          <a:lstStyle/>
          <a:p>
            <a:pPr algn="l"/>
            <a:r>
              <a:rPr sz="1000" b="0" i="0">
                <a:solidFill>
                  <a:srgbClr val="FFFFFF"/>
                </a:solidFill>
                <a:latin typeface="Calibri"/>
              </a:rPr>
              <a:t>Self-sovereign</a:t>
            </a:r>
          </a:p>
        </p:txBody>
      </p:sp>
      <p:sp>
        <p:nvSpPr>
          <p:cNvPr id="26" name="Oval 25"/>
          <p:cNvSpPr/>
          <p:nvPr/>
        </p:nvSpPr>
        <p:spPr>
          <a:xfrm>
            <a:off x="4435200" y="2527200"/>
            <a:ext cx="129600" cy="1296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08000" y="2520000"/>
            <a:ext cx="1224000" cy="198000"/>
          </a:xfrm>
          <a:prstGeom prst="rect">
            <a:avLst/>
          </a:prstGeom>
          <a:noFill/>
        </p:spPr>
        <p:txBody>
          <a:bodyPr wrap="square">
            <a:spAutoFit/>
          </a:bodyPr>
          <a:lstStyle/>
          <a:p>
            <a:pPr algn="l"/>
            <a:r>
              <a:rPr sz="1000" b="0" i="0">
                <a:solidFill>
                  <a:srgbClr val="FFFFFF"/>
                </a:solidFill>
                <a:latin typeface="Calibri"/>
              </a:rPr>
              <a:t>Cryptographically unique</a:t>
            </a:r>
          </a:p>
        </p:txBody>
      </p:sp>
      <p:sp>
        <p:nvSpPr>
          <p:cNvPr id="28" name="Rectangle 27"/>
          <p:cNvSpPr/>
          <p:nvPr/>
        </p:nvSpPr>
        <p:spPr>
          <a:xfrm>
            <a:off x="5940000" y="972000"/>
            <a:ext cx="6048000" cy="2700000"/>
          </a:xfrm>
          <a:prstGeom prst="rect">
            <a:avLst/>
          </a:prstGeom>
          <a:solidFill>
            <a:srgbClr val="0A1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048000" y="1026000"/>
            <a:ext cx="5760000" cy="251999"/>
          </a:xfrm>
          <a:prstGeom prst="rect">
            <a:avLst/>
          </a:prstGeom>
          <a:noFill/>
        </p:spPr>
        <p:txBody>
          <a:bodyPr wrap="square">
            <a:spAutoFit/>
          </a:bodyPr>
          <a:lstStyle/>
          <a:p>
            <a:pPr algn="l"/>
            <a:r>
              <a:rPr sz="1400" b="1" i="0">
                <a:solidFill>
                  <a:srgbClr val="00D4FF"/>
                </a:solidFill>
                <a:latin typeface="Calibri"/>
              </a:rPr>
              <a:t>End-to-End Encryption Flow</a:t>
            </a:r>
          </a:p>
        </p:txBody>
      </p:sp>
      <p:sp>
        <p:nvSpPr>
          <p:cNvPr id="30" name="Rounded Rectangle 29"/>
          <p:cNvSpPr/>
          <p:nvPr/>
        </p:nvSpPr>
        <p:spPr>
          <a:xfrm>
            <a:off x="6048000" y="1332000"/>
            <a:ext cx="5580000" cy="306000"/>
          </a:xfrm>
          <a:prstGeom prst="roundRect">
            <a:avLst>
              <a:gd name="adj" fmla="val 10000"/>
            </a:avLst>
          </a:prstGeom>
          <a:solidFill>
            <a:srgbClr val="4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156000" y="1332000"/>
            <a:ext cx="5436000" cy="306000"/>
          </a:xfrm>
          <a:prstGeom prst="rect">
            <a:avLst/>
          </a:prstGeom>
          <a:noFill/>
        </p:spPr>
        <p:txBody>
          <a:bodyPr wrap="square">
            <a:spAutoFit/>
          </a:bodyPr>
          <a:lstStyle/>
          <a:p>
            <a:pPr algn="l"/>
            <a:r>
              <a:rPr sz="1100" b="0" i="0">
                <a:solidFill>
                  <a:srgbClr val="FFFFFF"/>
                </a:solidFill>
                <a:latin typeface="Calibri"/>
              </a:rPr>
              <a:t>Plaintext message</a:t>
            </a:r>
          </a:p>
        </p:txBody>
      </p:sp>
      <p:sp>
        <p:nvSpPr>
          <p:cNvPr id="32" name="Rounded Rectangle 31"/>
          <p:cNvSpPr/>
          <p:nvPr/>
        </p:nvSpPr>
        <p:spPr>
          <a:xfrm>
            <a:off x="6156000" y="1674000"/>
            <a:ext cx="5364000" cy="306000"/>
          </a:xfrm>
          <a:prstGeom prst="roundRect">
            <a:avLst>
              <a:gd name="adj" fmla="val 10000"/>
            </a:avLst>
          </a:prstGeom>
          <a:solidFill>
            <a:srgbClr val="403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64000" y="1674000"/>
            <a:ext cx="5220000" cy="306000"/>
          </a:xfrm>
          <a:prstGeom prst="rect">
            <a:avLst/>
          </a:prstGeom>
          <a:noFill/>
        </p:spPr>
        <p:txBody>
          <a:bodyPr wrap="square">
            <a:spAutoFit/>
          </a:bodyPr>
          <a:lstStyle/>
          <a:p>
            <a:pPr algn="l"/>
            <a:r>
              <a:rPr sz="1100" b="0" i="0">
                <a:solidFill>
                  <a:srgbClr val="FFFFFF"/>
                </a:solidFill>
                <a:latin typeface="Calibri"/>
              </a:rPr>
              <a:t>X25519 ECDH -&gt; shared secret</a:t>
            </a:r>
          </a:p>
        </p:txBody>
      </p:sp>
      <p:sp>
        <p:nvSpPr>
          <p:cNvPr id="34" name="Rounded Rectangle 33"/>
          <p:cNvSpPr/>
          <p:nvPr/>
        </p:nvSpPr>
        <p:spPr>
          <a:xfrm>
            <a:off x="6264000" y="2016000"/>
            <a:ext cx="5148000" cy="306000"/>
          </a:xfrm>
          <a:prstGeom prst="roundRect">
            <a:avLst>
              <a:gd name="adj" fmla="val 10000"/>
            </a:avLst>
          </a:prstGeom>
          <a:solidFill>
            <a:srgbClr val="104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72000" y="2016000"/>
            <a:ext cx="5004000" cy="306000"/>
          </a:xfrm>
          <a:prstGeom prst="rect">
            <a:avLst/>
          </a:prstGeom>
          <a:noFill/>
        </p:spPr>
        <p:txBody>
          <a:bodyPr wrap="square">
            <a:spAutoFit/>
          </a:bodyPr>
          <a:lstStyle/>
          <a:p>
            <a:pPr algn="l"/>
            <a:r>
              <a:rPr sz="1100" b="0" i="0">
                <a:solidFill>
                  <a:srgbClr val="FFFFFF"/>
                </a:solidFill>
                <a:latin typeface="Calibri"/>
              </a:rPr>
              <a:t>ChaCha20-Poly1305 encrypt</a:t>
            </a:r>
          </a:p>
        </p:txBody>
      </p:sp>
      <p:sp>
        <p:nvSpPr>
          <p:cNvPr id="36" name="Rounded Rectangle 35"/>
          <p:cNvSpPr/>
          <p:nvPr/>
        </p:nvSpPr>
        <p:spPr>
          <a:xfrm>
            <a:off x="6372000" y="2358000"/>
            <a:ext cx="4932000" cy="306000"/>
          </a:xfrm>
          <a:prstGeom prst="roundRect">
            <a:avLst>
              <a:gd name="adj" fmla="val 10000"/>
            </a:avLst>
          </a:prstGeom>
          <a:solidFill>
            <a:srgbClr val="103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80000" y="2358000"/>
            <a:ext cx="4788000" cy="306000"/>
          </a:xfrm>
          <a:prstGeom prst="rect">
            <a:avLst/>
          </a:prstGeom>
          <a:noFill/>
        </p:spPr>
        <p:txBody>
          <a:bodyPr wrap="square">
            <a:spAutoFit/>
          </a:bodyPr>
          <a:lstStyle/>
          <a:p>
            <a:pPr algn="l"/>
            <a:r>
              <a:rPr sz="1100" b="0" i="0">
                <a:solidFill>
                  <a:srgbClr val="FFFFFF"/>
                </a:solidFill>
                <a:latin typeface="Calibri"/>
              </a:rPr>
              <a:t>Fragment (203B chunks)</a:t>
            </a:r>
          </a:p>
        </p:txBody>
      </p:sp>
      <p:sp>
        <p:nvSpPr>
          <p:cNvPr id="38" name="Rounded Rectangle 37"/>
          <p:cNvSpPr/>
          <p:nvPr/>
        </p:nvSpPr>
        <p:spPr>
          <a:xfrm>
            <a:off x="6480000" y="2700000"/>
            <a:ext cx="4716000" cy="306000"/>
          </a:xfrm>
          <a:prstGeom prst="roundRect">
            <a:avLst>
              <a:gd name="adj" fmla="val 10000"/>
            </a:avLst>
          </a:prstGeom>
          <a:solidFill>
            <a:srgbClr val="105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88000" y="2700000"/>
            <a:ext cx="4572000" cy="306000"/>
          </a:xfrm>
          <a:prstGeom prst="rect">
            <a:avLst/>
          </a:prstGeom>
          <a:noFill/>
        </p:spPr>
        <p:txBody>
          <a:bodyPr wrap="square">
            <a:spAutoFit/>
          </a:bodyPr>
          <a:lstStyle/>
          <a:p>
            <a:pPr algn="l"/>
            <a:r>
              <a:rPr sz="1100" b="0" i="0">
                <a:solidFill>
                  <a:srgbClr val="FFFFFF"/>
                </a:solidFill>
                <a:latin typeface="Calibri"/>
              </a:rPr>
              <a:t>LoRa radio transmission</a:t>
            </a:r>
          </a:p>
        </p:txBody>
      </p:sp>
      <p:sp>
        <p:nvSpPr>
          <p:cNvPr id="40" name="Rounded Rectangle 39"/>
          <p:cNvSpPr/>
          <p:nvPr/>
        </p:nvSpPr>
        <p:spPr>
          <a:xfrm>
            <a:off x="6588000" y="3042000"/>
            <a:ext cx="4500000" cy="306000"/>
          </a:xfrm>
          <a:prstGeom prst="roundRect">
            <a:avLst>
              <a:gd name="adj" fmla="val 10000"/>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696000" y="3042000"/>
            <a:ext cx="4356000" cy="306000"/>
          </a:xfrm>
          <a:prstGeom prst="rect">
            <a:avLst/>
          </a:prstGeom>
          <a:noFill/>
        </p:spPr>
        <p:txBody>
          <a:bodyPr wrap="square">
            <a:spAutoFit/>
          </a:bodyPr>
          <a:lstStyle/>
          <a:p>
            <a:pPr algn="l"/>
            <a:r>
              <a:rPr sz="1100" b="0" i="0">
                <a:solidFill>
                  <a:srgbClr val="FFFFFF"/>
                </a:solidFill>
                <a:latin typeface="Calibri"/>
              </a:rPr>
              <a:t>On-chain receipt proof</a:t>
            </a:r>
          </a:p>
        </p:txBody>
      </p:sp>
      <p:sp>
        <p:nvSpPr>
          <p:cNvPr id="42" name="Rectangle 41"/>
          <p:cNvSpPr/>
          <p:nvPr/>
        </p:nvSpPr>
        <p:spPr>
          <a:xfrm>
            <a:off x="180000" y="3816000"/>
            <a:ext cx="2808000" cy="900000"/>
          </a:xfrm>
          <a:prstGeom prst="rect">
            <a:avLst/>
          </a:prstGeom>
          <a:solidFill>
            <a:srgbClr val="0C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270001" y="3942000"/>
            <a:ext cx="251998" cy="251998"/>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12000" y="3834000"/>
            <a:ext cx="2304000" cy="234000"/>
          </a:xfrm>
          <a:prstGeom prst="rect">
            <a:avLst/>
          </a:prstGeom>
          <a:noFill/>
        </p:spPr>
        <p:txBody>
          <a:bodyPr wrap="square">
            <a:spAutoFit/>
          </a:bodyPr>
          <a:lstStyle/>
          <a:p>
            <a:pPr algn="l"/>
            <a:r>
              <a:rPr sz="1300" b="1" i="0">
                <a:solidFill>
                  <a:srgbClr val="008CFF"/>
                </a:solidFill>
                <a:latin typeface="Calibri"/>
              </a:rPr>
              <a:t>Eavesdropping</a:t>
            </a:r>
          </a:p>
        </p:txBody>
      </p:sp>
      <p:sp>
        <p:nvSpPr>
          <p:cNvPr id="45" name="TextBox 44"/>
          <p:cNvSpPr txBox="1"/>
          <p:nvPr/>
        </p:nvSpPr>
        <p:spPr>
          <a:xfrm>
            <a:off x="288000" y="4068000"/>
            <a:ext cx="2592000" cy="324000"/>
          </a:xfrm>
          <a:prstGeom prst="rect">
            <a:avLst/>
          </a:prstGeom>
          <a:noFill/>
        </p:spPr>
        <p:txBody>
          <a:bodyPr wrap="square">
            <a:spAutoFit/>
          </a:bodyPr>
          <a:lstStyle/>
          <a:p>
            <a:pPr algn="l"/>
            <a:r>
              <a:rPr sz="1100" b="0" i="0">
                <a:solidFill>
                  <a:srgbClr val="B0C4DE"/>
                </a:solidFill>
                <a:latin typeface="Calibri"/>
              </a:rPr>
              <a:t>Impossible: data
encrypted in transit</a:t>
            </a:r>
          </a:p>
        </p:txBody>
      </p:sp>
      <p:sp>
        <p:nvSpPr>
          <p:cNvPr id="46" name="Rectangle 45"/>
          <p:cNvSpPr/>
          <p:nvPr/>
        </p:nvSpPr>
        <p:spPr>
          <a:xfrm>
            <a:off x="3131999" y="3816000"/>
            <a:ext cx="2808000" cy="900000"/>
          </a:xfrm>
          <a:prstGeom prst="rect">
            <a:avLst/>
          </a:prstGeom>
          <a:solidFill>
            <a:srgbClr val="0C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3222000" y="3942000"/>
            <a:ext cx="251998" cy="251998"/>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563999" y="3834000"/>
            <a:ext cx="2304000" cy="234000"/>
          </a:xfrm>
          <a:prstGeom prst="rect">
            <a:avLst/>
          </a:prstGeom>
          <a:noFill/>
        </p:spPr>
        <p:txBody>
          <a:bodyPr wrap="square">
            <a:spAutoFit/>
          </a:bodyPr>
          <a:lstStyle/>
          <a:p>
            <a:pPr algn="l"/>
            <a:r>
              <a:rPr sz="1300" b="1" i="0">
                <a:solidFill>
                  <a:srgbClr val="00C86E"/>
                </a:solidFill>
                <a:latin typeface="Calibri"/>
              </a:rPr>
              <a:t>Impersonation</a:t>
            </a:r>
          </a:p>
        </p:txBody>
      </p:sp>
      <p:sp>
        <p:nvSpPr>
          <p:cNvPr id="49" name="TextBox 48"/>
          <p:cNvSpPr txBox="1"/>
          <p:nvPr/>
        </p:nvSpPr>
        <p:spPr>
          <a:xfrm>
            <a:off x="3239999" y="4068000"/>
            <a:ext cx="2592000" cy="324000"/>
          </a:xfrm>
          <a:prstGeom prst="rect">
            <a:avLst/>
          </a:prstGeom>
          <a:noFill/>
        </p:spPr>
        <p:txBody>
          <a:bodyPr wrap="square">
            <a:spAutoFit/>
          </a:bodyPr>
          <a:lstStyle/>
          <a:p>
            <a:pPr algn="l"/>
            <a:r>
              <a:rPr sz="1100" b="0" i="0">
                <a:solidFill>
                  <a:srgbClr val="B0C4DE"/>
                </a:solidFill>
                <a:latin typeface="Calibri"/>
              </a:rPr>
              <a:t>Impossible: Ed25519
signatures required</a:t>
            </a:r>
          </a:p>
        </p:txBody>
      </p:sp>
      <p:sp>
        <p:nvSpPr>
          <p:cNvPr id="50" name="Rectangle 49"/>
          <p:cNvSpPr/>
          <p:nvPr/>
        </p:nvSpPr>
        <p:spPr>
          <a:xfrm>
            <a:off x="6083998" y="3816000"/>
            <a:ext cx="2808000" cy="900000"/>
          </a:xfrm>
          <a:prstGeom prst="rect">
            <a:avLst/>
          </a:prstGeom>
          <a:solidFill>
            <a:srgbClr val="0C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6173999" y="3942000"/>
            <a:ext cx="251998" cy="251998"/>
          </a:xfrm>
          <a:prstGeom prst="ellipse">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515998" y="3834000"/>
            <a:ext cx="2304000" cy="234000"/>
          </a:xfrm>
          <a:prstGeom prst="rect">
            <a:avLst/>
          </a:prstGeom>
          <a:noFill/>
        </p:spPr>
        <p:txBody>
          <a:bodyPr wrap="square">
            <a:spAutoFit/>
          </a:bodyPr>
          <a:lstStyle/>
          <a:p>
            <a:pPr algn="l"/>
            <a:r>
              <a:rPr sz="1300" b="1" i="0">
                <a:solidFill>
                  <a:srgbClr val="FF8C00"/>
                </a:solidFill>
                <a:latin typeface="Calibri"/>
              </a:rPr>
              <a:t>Censorship</a:t>
            </a:r>
          </a:p>
        </p:txBody>
      </p:sp>
      <p:sp>
        <p:nvSpPr>
          <p:cNvPr id="53" name="TextBox 52"/>
          <p:cNvSpPr txBox="1"/>
          <p:nvPr/>
        </p:nvSpPr>
        <p:spPr>
          <a:xfrm>
            <a:off x="6191998" y="4068000"/>
            <a:ext cx="2592000" cy="324000"/>
          </a:xfrm>
          <a:prstGeom prst="rect">
            <a:avLst/>
          </a:prstGeom>
          <a:noFill/>
        </p:spPr>
        <p:txBody>
          <a:bodyPr wrap="square">
            <a:spAutoFit/>
          </a:bodyPr>
          <a:lstStyle/>
          <a:p>
            <a:pPr algn="l"/>
            <a:r>
              <a:rPr sz="1100" b="0" i="0">
                <a:solidFill>
                  <a:srgbClr val="B0C4DE"/>
                </a:solidFill>
                <a:latin typeface="Calibri"/>
              </a:rPr>
              <a:t>Impractical: no IP
or DNS to block</a:t>
            </a:r>
          </a:p>
        </p:txBody>
      </p:sp>
      <p:sp>
        <p:nvSpPr>
          <p:cNvPr id="54" name="Rectangle 53"/>
          <p:cNvSpPr/>
          <p:nvPr/>
        </p:nvSpPr>
        <p:spPr>
          <a:xfrm>
            <a:off x="9035997" y="3816000"/>
            <a:ext cx="2808000" cy="900000"/>
          </a:xfrm>
          <a:prstGeom prst="rect">
            <a:avLst/>
          </a:prstGeom>
          <a:solidFill>
            <a:srgbClr val="0C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9125998" y="3942000"/>
            <a:ext cx="251998" cy="251998"/>
          </a:xfrm>
          <a:prstGeom prst="ellipse">
            <a:avLst/>
          </a:prstGeom>
          <a:solidFill>
            <a:srgbClr val="E8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467997" y="3834000"/>
            <a:ext cx="2304000" cy="234000"/>
          </a:xfrm>
          <a:prstGeom prst="rect">
            <a:avLst/>
          </a:prstGeom>
          <a:noFill/>
        </p:spPr>
        <p:txBody>
          <a:bodyPr wrap="square">
            <a:spAutoFit/>
          </a:bodyPr>
          <a:lstStyle/>
          <a:p>
            <a:pPr algn="l"/>
            <a:r>
              <a:rPr sz="1300" b="1" i="0">
                <a:solidFill>
                  <a:srgbClr val="E82040"/>
                </a:solidFill>
                <a:latin typeface="Calibri"/>
              </a:rPr>
              <a:t>Tampering</a:t>
            </a:r>
          </a:p>
        </p:txBody>
      </p:sp>
      <p:sp>
        <p:nvSpPr>
          <p:cNvPr id="57" name="TextBox 56"/>
          <p:cNvSpPr txBox="1"/>
          <p:nvPr/>
        </p:nvSpPr>
        <p:spPr>
          <a:xfrm>
            <a:off x="9143997" y="4068000"/>
            <a:ext cx="2592000" cy="324000"/>
          </a:xfrm>
          <a:prstGeom prst="rect">
            <a:avLst/>
          </a:prstGeom>
          <a:noFill/>
        </p:spPr>
        <p:txBody>
          <a:bodyPr wrap="square">
            <a:spAutoFit/>
          </a:bodyPr>
          <a:lstStyle/>
          <a:p>
            <a:pPr algn="l"/>
            <a:r>
              <a:rPr sz="1100" b="0" i="0">
                <a:solidFill>
                  <a:srgbClr val="B0C4DE"/>
                </a:solidFill>
                <a:latin typeface="Calibri"/>
              </a:rPr>
              <a:t>Detectable: Poly1305
authentication tag</a:t>
            </a:r>
          </a:p>
        </p:txBody>
      </p:sp>
      <p:sp>
        <p:nvSpPr>
          <p:cNvPr id="58" name="Rectangle 57"/>
          <p:cNvSpPr/>
          <p:nvPr/>
        </p:nvSpPr>
        <p:spPr>
          <a:xfrm>
            <a:off x="0" y="6534000"/>
            <a:ext cx="12193200" cy="324000"/>
          </a:xfrm>
          <a:prstGeom prst="rect">
            <a:avLst/>
          </a:prstGeom>
          <a:solidFill>
            <a:srgbClr val="0F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60000" y="6552000"/>
            <a:ext cx="11473200" cy="288000"/>
          </a:xfrm>
          <a:prstGeom prst="rect">
            <a:avLst/>
          </a:prstGeom>
          <a:noFill/>
        </p:spPr>
        <p:txBody>
          <a:bodyPr wrap="square">
            <a:spAutoFit/>
          </a:bodyPr>
          <a:lstStyle/>
          <a:p>
            <a:pPr algn="ctr"/>
            <a:r>
              <a:rPr sz="1000" b="0" i="0">
                <a:solidFill>
                  <a:srgbClr val="B0C4DE"/>
                </a:solidFill>
                <a:latin typeface="Calibri"/>
              </a:rPr>
              <a:t>MegaNet MVP  |  Executive Briefing  |  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42A"/>
        </a:solidFill>
        <a:effectLst/>
      </p:bgPr>
    </p:bg>
    <p:spTree>
      <p:nvGrpSpPr>
        <p:cNvPr id="1" name=""/>
        <p:cNvGrpSpPr/>
        <p:nvPr/>
      </p:nvGrpSpPr>
      <p:grpSpPr/>
      <p:sp>
        <p:nvSpPr>
          <p:cNvPr id="2" name="Rectangle 1"/>
          <p:cNvSpPr/>
          <p:nvPr/>
        </p:nvSpPr>
        <p:spPr>
          <a:xfrm>
            <a:off x="0" y="0"/>
            <a:ext cx="12193200" cy="864000"/>
          </a:xfrm>
          <a:prstGeom prst="rect">
            <a:avLst/>
          </a:prstGeom>
          <a:solidFill>
            <a:srgbClr val="0F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4000"/>
            <a:ext cx="12193200" cy="54000"/>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0000" y="90000"/>
            <a:ext cx="11473200" cy="576000"/>
          </a:xfrm>
          <a:prstGeom prst="rect">
            <a:avLst/>
          </a:prstGeom>
          <a:noFill/>
        </p:spPr>
        <p:txBody>
          <a:bodyPr wrap="square">
            <a:spAutoFit/>
          </a:bodyPr>
          <a:lstStyle/>
          <a:p>
            <a:pPr algn="l"/>
            <a:r>
              <a:rPr sz="2600" b="1" i="0">
                <a:solidFill>
                  <a:srgbClr val="FFFFFF"/>
                </a:solidFill>
                <a:latin typeface="Calibri"/>
              </a:rPr>
              <a:t>The MegaNet Blockchain</a:t>
            </a:r>
          </a:p>
        </p:txBody>
      </p:sp>
      <p:sp>
        <p:nvSpPr>
          <p:cNvPr id="5" name="TextBox 4"/>
          <p:cNvSpPr txBox="1"/>
          <p:nvPr/>
        </p:nvSpPr>
        <p:spPr>
          <a:xfrm>
            <a:off x="360000" y="558000"/>
            <a:ext cx="11473200" cy="324000"/>
          </a:xfrm>
          <a:prstGeom prst="rect">
            <a:avLst/>
          </a:prstGeom>
          <a:noFill/>
        </p:spPr>
        <p:txBody>
          <a:bodyPr wrap="square">
            <a:spAutoFit/>
          </a:bodyPr>
          <a:lstStyle/>
          <a:p>
            <a:pPr algn="l"/>
            <a:r>
              <a:rPr sz="1300" b="0" i="0">
                <a:solidFill>
                  <a:srgbClr val="00D4FF"/>
                </a:solidFill>
                <a:latin typeface="Calibri"/>
              </a:rPr>
              <a:t>Immutable record of identity, routing, and delivery</a:t>
            </a:r>
          </a:p>
        </p:txBody>
      </p:sp>
      <p:sp>
        <p:nvSpPr>
          <p:cNvPr id="6" name="Rectangle 5"/>
          <p:cNvSpPr/>
          <p:nvPr/>
        </p:nvSpPr>
        <p:spPr>
          <a:xfrm>
            <a:off x="288000" y="1152000"/>
            <a:ext cx="2088000" cy="1800000"/>
          </a:xfrm>
          <a:prstGeom prst="rect">
            <a:avLst/>
          </a:prstGeom>
          <a:solidFill>
            <a:srgbClr val="0F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88000" y="1152000"/>
            <a:ext cx="2088000" cy="324000"/>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8000" y="1152000"/>
            <a:ext cx="2088000" cy="324000"/>
          </a:xfrm>
          <a:prstGeom prst="rect">
            <a:avLst/>
          </a:prstGeom>
          <a:noFill/>
        </p:spPr>
        <p:txBody>
          <a:bodyPr wrap="square">
            <a:spAutoFit/>
          </a:bodyPr>
          <a:lstStyle/>
          <a:p>
            <a:pPr algn="ctr"/>
            <a:r>
              <a:rPr sz="1100" b="1" i="0">
                <a:solidFill>
                  <a:srgbClr val="FFFFFF"/>
                </a:solidFill>
                <a:latin typeface="Calibri"/>
              </a:rPr>
              <a:t>Block 0
Genesis</a:t>
            </a:r>
          </a:p>
        </p:txBody>
      </p:sp>
      <p:sp>
        <p:nvSpPr>
          <p:cNvPr id="9" name="Rectangle 8"/>
          <p:cNvSpPr/>
          <p:nvPr/>
        </p:nvSpPr>
        <p:spPr>
          <a:xfrm>
            <a:off x="288000" y="1476000"/>
            <a:ext cx="2088000" cy="162000"/>
          </a:xfrm>
          <a:prstGeom prst="rect">
            <a:avLst/>
          </a:prstGeom>
          <a:solidFill>
            <a:srgbClr val="052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8000" y="1476000"/>
            <a:ext cx="2088000" cy="162000"/>
          </a:xfrm>
          <a:prstGeom prst="rect">
            <a:avLst/>
          </a:prstGeom>
          <a:noFill/>
        </p:spPr>
        <p:txBody>
          <a:bodyPr wrap="square">
            <a:spAutoFit/>
          </a:bodyPr>
          <a:lstStyle/>
          <a:p>
            <a:pPr algn="ctr"/>
            <a:r>
              <a:rPr sz="800" b="0" i="0">
                <a:solidFill>
                  <a:srgbClr val="00D4FF"/>
                </a:solidFill>
                <a:latin typeface="Calibri"/>
              </a:rPr>
              <a:t>SHA3-256 PoW  |  difficulty=2  |  ~1ms</a:t>
            </a:r>
          </a:p>
        </p:txBody>
      </p:sp>
      <p:sp>
        <p:nvSpPr>
          <p:cNvPr id="11" name="Oval 10"/>
          <p:cNvSpPr/>
          <p:nvPr/>
        </p:nvSpPr>
        <p:spPr>
          <a:xfrm>
            <a:off x="378000" y="1710000"/>
            <a:ext cx="108000" cy="108000"/>
          </a:xfrm>
          <a:prstGeom prst="ellipse">
            <a:avLst/>
          </a:prstGeom>
          <a:solidFill>
            <a:srgbClr val="B0C4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999" y="1692000"/>
            <a:ext cx="1800000" cy="234000"/>
          </a:xfrm>
          <a:prstGeom prst="rect">
            <a:avLst/>
          </a:prstGeom>
          <a:noFill/>
        </p:spPr>
        <p:txBody>
          <a:bodyPr wrap="square">
            <a:spAutoFit/>
          </a:bodyPr>
          <a:lstStyle/>
          <a:p>
            <a:pPr algn="l"/>
            <a:r>
              <a:rPr sz="1000" b="0" i="0">
                <a:solidFill>
                  <a:srgbClr val="B0C4DE"/>
                </a:solidFill>
                <a:latin typeface="Calibri"/>
              </a:rPr>
              <a:t>Deterministic</a:t>
            </a:r>
          </a:p>
        </p:txBody>
      </p:sp>
      <p:sp>
        <p:nvSpPr>
          <p:cNvPr id="13" name="Oval 12"/>
          <p:cNvSpPr/>
          <p:nvPr/>
        </p:nvSpPr>
        <p:spPr>
          <a:xfrm>
            <a:off x="378000" y="1980000"/>
            <a:ext cx="108000" cy="108000"/>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9999" y="1962000"/>
            <a:ext cx="1800000" cy="234000"/>
          </a:xfrm>
          <a:prstGeom prst="rect">
            <a:avLst/>
          </a:prstGeom>
          <a:noFill/>
        </p:spPr>
        <p:txBody>
          <a:bodyPr wrap="square">
            <a:spAutoFit/>
          </a:bodyPr>
          <a:lstStyle/>
          <a:p>
            <a:pPr algn="l"/>
            <a:r>
              <a:rPr sz="1000" b="0" i="0">
                <a:solidFill>
                  <a:srgbClr val="00D4FF"/>
                </a:solidFill>
                <a:latin typeface="Calibri"/>
              </a:rPr>
              <a:t>PoW hash: 00...</a:t>
            </a:r>
          </a:p>
        </p:txBody>
      </p:sp>
      <p:sp>
        <p:nvSpPr>
          <p:cNvPr id="15" name="Oval 14"/>
          <p:cNvSpPr/>
          <p:nvPr/>
        </p:nvSpPr>
        <p:spPr>
          <a:xfrm>
            <a:off x="2016000" y="2592000"/>
            <a:ext cx="324000" cy="3240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052000" y="2628000"/>
            <a:ext cx="251999" cy="251999"/>
          </a:xfrm>
          <a:prstGeom prst="rect">
            <a:avLst/>
          </a:prstGeom>
          <a:noFill/>
        </p:spPr>
        <p:txBody>
          <a:bodyPr wrap="square">
            <a:spAutoFit/>
          </a:bodyPr>
          <a:lstStyle/>
          <a:p>
            <a:pPr algn="ctr"/>
            <a:r>
              <a:rPr sz="1200" b="1" i="0">
                <a:solidFill>
                  <a:srgbClr val="FFFFFF"/>
                </a:solidFill>
                <a:latin typeface="Calibri"/>
              </a:rPr>
              <a:t>0</a:t>
            </a:r>
          </a:p>
        </p:txBody>
      </p:sp>
      <p:cxnSp>
        <p:nvCxnSpPr>
          <p:cNvPr id="17" name="Connector 16"/>
          <p:cNvCxnSpPr/>
          <p:nvPr/>
        </p:nvCxnSpPr>
        <p:spPr>
          <a:xfrm>
            <a:off x="2376000" y="2052000.0"/>
            <a:ext cx="540000" cy="0.0"/>
          </a:xfrm>
          <a:prstGeom prst="line">
            <a:avLst/>
          </a:prstGeom>
          <a:ln w="38100">
            <a:solidFill>
              <a:srgbClr val="008CFF"/>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2304000" y="2088000"/>
            <a:ext cx="540000" cy="180000"/>
          </a:xfrm>
          <a:prstGeom prst="rect">
            <a:avLst/>
          </a:prstGeom>
          <a:noFill/>
        </p:spPr>
        <p:txBody>
          <a:bodyPr wrap="square">
            <a:spAutoFit/>
          </a:bodyPr>
          <a:lstStyle/>
          <a:p>
            <a:pPr algn="ctr"/>
            <a:r>
              <a:rPr sz="800" b="0" i="0">
                <a:solidFill>
                  <a:srgbClr val="B0C4DE"/>
                </a:solidFill>
                <a:latin typeface="Calibri"/>
              </a:rPr>
              <a:t>prev_hash</a:t>
            </a:r>
          </a:p>
        </p:txBody>
      </p:sp>
      <p:sp>
        <p:nvSpPr>
          <p:cNvPr id="19" name="Rectangle 18"/>
          <p:cNvSpPr/>
          <p:nvPr/>
        </p:nvSpPr>
        <p:spPr>
          <a:xfrm>
            <a:off x="2916000" y="1152000"/>
            <a:ext cx="2088000" cy="1800000"/>
          </a:xfrm>
          <a:prstGeom prst="rect">
            <a:avLst/>
          </a:prstGeom>
          <a:solidFill>
            <a:srgbClr val="103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916000" y="1152000"/>
            <a:ext cx="2088000" cy="324000"/>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916000" y="1152000"/>
            <a:ext cx="2088000" cy="324000"/>
          </a:xfrm>
          <a:prstGeom prst="rect">
            <a:avLst/>
          </a:prstGeom>
          <a:noFill/>
        </p:spPr>
        <p:txBody>
          <a:bodyPr wrap="square">
            <a:spAutoFit/>
          </a:bodyPr>
          <a:lstStyle/>
          <a:p>
            <a:pPr algn="ctr"/>
            <a:r>
              <a:rPr sz="1100" b="1" i="0">
                <a:solidFill>
                  <a:srgbClr val="FFFFFF"/>
                </a:solidFill>
                <a:latin typeface="Calibri"/>
              </a:rPr>
              <a:t>Block 1
Registration</a:t>
            </a:r>
          </a:p>
        </p:txBody>
      </p:sp>
      <p:sp>
        <p:nvSpPr>
          <p:cNvPr id="22" name="Rectangle 21"/>
          <p:cNvSpPr/>
          <p:nvPr/>
        </p:nvSpPr>
        <p:spPr>
          <a:xfrm>
            <a:off x="2916000" y="1476000"/>
            <a:ext cx="2088000" cy="162000"/>
          </a:xfrm>
          <a:prstGeom prst="rect">
            <a:avLst/>
          </a:prstGeom>
          <a:solidFill>
            <a:srgbClr val="052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916000" y="1476000"/>
            <a:ext cx="2088000" cy="162000"/>
          </a:xfrm>
          <a:prstGeom prst="rect">
            <a:avLst/>
          </a:prstGeom>
          <a:noFill/>
        </p:spPr>
        <p:txBody>
          <a:bodyPr wrap="square">
            <a:spAutoFit/>
          </a:bodyPr>
          <a:lstStyle/>
          <a:p>
            <a:pPr algn="ctr"/>
            <a:r>
              <a:rPr sz="800" b="0" i="0">
                <a:solidFill>
                  <a:srgbClr val="00D4FF"/>
                </a:solidFill>
                <a:latin typeface="Calibri"/>
              </a:rPr>
              <a:t>SHA3-256 PoW  |  difficulty=2  |  ~1ms</a:t>
            </a:r>
          </a:p>
        </p:txBody>
      </p:sp>
      <p:sp>
        <p:nvSpPr>
          <p:cNvPr id="24" name="Oval 23"/>
          <p:cNvSpPr/>
          <p:nvPr/>
        </p:nvSpPr>
        <p:spPr>
          <a:xfrm>
            <a:off x="3006000" y="1710000"/>
            <a:ext cx="108000" cy="1080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67999" y="1692000"/>
            <a:ext cx="1800000" cy="234000"/>
          </a:xfrm>
          <a:prstGeom prst="rect">
            <a:avLst/>
          </a:prstGeom>
          <a:noFill/>
        </p:spPr>
        <p:txBody>
          <a:bodyPr wrap="square">
            <a:spAutoFit/>
          </a:bodyPr>
          <a:lstStyle/>
          <a:p>
            <a:pPr algn="l"/>
            <a:r>
              <a:rPr sz="1000" b="0" i="0">
                <a:solidFill>
                  <a:srgbClr val="00C86E"/>
                </a:solidFill>
                <a:latin typeface="Calibri"/>
              </a:rPr>
              <a:t>NODE_REGISTER x5</a:t>
            </a:r>
          </a:p>
        </p:txBody>
      </p:sp>
      <p:sp>
        <p:nvSpPr>
          <p:cNvPr id="26" name="Oval 25"/>
          <p:cNvSpPr/>
          <p:nvPr/>
        </p:nvSpPr>
        <p:spPr>
          <a:xfrm>
            <a:off x="3006000" y="1980000"/>
            <a:ext cx="108000" cy="108000"/>
          </a:xfrm>
          <a:prstGeom prst="ellipse">
            <a:avLst/>
          </a:prstGeom>
          <a:solidFill>
            <a:srgbClr val="B0C4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167999" y="1962000"/>
            <a:ext cx="1800000" cy="234000"/>
          </a:xfrm>
          <a:prstGeom prst="rect">
            <a:avLst/>
          </a:prstGeom>
          <a:noFill/>
        </p:spPr>
        <p:txBody>
          <a:bodyPr wrap="square">
            <a:spAutoFit/>
          </a:bodyPr>
          <a:lstStyle/>
          <a:p>
            <a:pPr algn="l"/>
            <a:r>
              <a:rPr sz="1000" b="0" i="0">
                <a:solidFill>
                  <a:srgbClr val="B0C4DE"/>
                </a:solidFill>
                <a:latin typeface="Calibri"/>
              </a:rPr>
              <a:t>5 nodes join</a:t>
            </a:r>
          </a:p>
        </p:txBody>
      </p:sp>
      <p:sp>
        <p:nvSpPr>
          <p:cNvPr id="28" name="Oval 27"/>
          <p:cNvSpPr/>
          <p:nvPr/>
        </p:nvSpPr>
        <p:spPr>
          <a:xfrm>
            <a:off x="4644000" y="2592000"/>
            <a:ext cx="324000" cy="3240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80000" y="2628000"/>
            <a:ext cx="251999" cy="251999"/>
          </a:xfrm>
          <a:prstGeom prst="rect">
            <a:avLst/>
          </a:prstGeom>
          <a:noFill/>
        </p:spPr>
        <p:txBody>
          <a:bodyPr wrap="square">
            <a:spAutoFit/>
          </a:bodyPr>
          <a:lstStyle/>
          <a:p>
            <a:pPr algn="ctr"/>
            <a:r>
              <a:rPr sz="1200" b="1" i="0">
                <a:solidFill>
                  <a:srgbClr val="FFFFFF"/>
                </a:solidFill>
                <a:latin typeface="Calibri"/>
              </a:rPr>
              <a:t>1</a:t>
            </a:r>
          </a:p>
        </p:txBody>
      </p:sp>
      <p:cxnSp>
        <p:nvCxnSpPr>
          <p:cNvPr id="30" name="Connector 29"/>
          <p:cNvCxnSpPr/>
          <p:nvPr/>
        </p:nvCxnSpPr>
        <p:spPr>
          <a:xfrm>
            <a:off x="5004000" y="2052000.0"/>
            <a:ext cx="540000" cy="0.0"/>
          </a:xfrm>
          <a:prstGeom prst="line">
            <a:avLst/>
          </a:prstGeom>
          <a:ln w="38100">
            <a:solidFill>
              <a:srgbClr val="008CFF"/>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4932000" y="2088000"/>
            <a:ext cx="540000" cy="180000"/>
          </a:xfrm>
          <a:prstGeom prst="rect">
            <a:avLst/>
          </a:prstGeom>
          <a:noFill/>
        </p:spPr>
        <p:txBody>
          <a:bodyPr wrap="square">
            <a:spAutoFit/>
          </a:bodyPr>
          <a:lstStyle/>
          <a:p>
            <a:pPr algn="ctr"/>
            <a:r>
              <a:rPr sz="800" b="0" i="0">
                <a:solidFill>
                  <a:srgbClr val="B0C4DE"/>
                </a:solidFill>
                <a:latin typeface="Calibri"/>
              </a:rPr>
              <a:t>prev_hash</a:t>
            </a:r>
          </a:p>
        </p:txBody>
      </p:sp>
      <p:sp>
        <p:nvSpPr>
          <p:cNvPr id="32" name="Rectangle 31"/>
          <p:cNvSpPr/>
          <p:nvPr/>
        </p:nvSpPr>
        <p:spPr>
          <a:xfrm>
            <a:off x="5544000" y="1152000"/>
            <a:ext cx="2088000" cy="1800000"/>
          </a:xfrm>
          <a:prstGeom prst="rect">
            <a:avLst/>
          </a:prstGeom>
          <a:solidFill>
            <a:srgbClr val="103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544000" y="1152000"/>
            <a:ext cx="2088000" cy="324000"/>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544000" y="1152000"/>
            <a:ext cx="2088000" cy="324000"/>
          </a:xfrm>
          <a:prstGeom prst="rect">
            <a:avLst/>
          </a:prstGeom>
          <a:noFill/>
        </p:spPr>
        <p:txBody>
          <a:bodyPr wrap="square">
            <a:spAutoFit/>
          </a:bodyPr>
          <a:lstStyle/>
          <a:p>
            <a:pPr algn="ctr"/>
            <a:r>
              <a:rPr sz="1100" b="1" i="0">
                <a:solidFill>
                  <a:srgbClr val="FFFFFF"/>
                </a:solidFill>
                <a:latin typeface="Calibri"/>
              </a:rPr>
              <a:t>Block 2
Receipts</a:t>
            </a:r>
          </a:p>
        </p:txBody>
      </p:sp>
      <p:sp>
        <p:nvSpPr>
          <p:cNvPr id="35" name="Rectangle 34"/>
          <p:cNvSpPr/>
          <p:nvPr/>
        </p:nvSpPr>
        <p:spPr>
          <a:xfrm>
            <a:off x="5544000" y="1476000"/>
            <a:ext cx="2088000" cy="162000"/>
          </a:xfrm>
          <a:prstGeom prst="rect">
            <a:avLst/>
          </a:prstGeom>
          <a:solidFill>
            <a:srgbClr val="052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544000" y="1476000"/>
            <a:ext cx="2088000" cy="162000"/>
          </a:xfrm>
          <a:prstGeom prst="rect">
            <a:avLst/>
          </a:prstGeom>
          <a:noFill/>
        </p:spPr>
        <p:txBody>
          <a:bodyPr wrap="square">
            <a:spAutoFit/>
          </a:bodyPr>
          <a:lstStyle/>
          <a:p>
            <a:pPr algn="ctr"/>
            <a:r>
              <a:rPr sz="800" b="0" i="0">
                <a:solidFill>
                  <a:srgbClr val="00D4FF"/>
                </a:solidFill>
                <a:latin typeface="Calibri"/>
              </a:rPr>
              <a:t>SHA3-256 PoW  |  difficulty=2  |  ~1ms</a:t>
            </a:r>
          </a:p>
        </p:txBody>
      </p:sp>
      <p:sp>
        <p:nvSpPr>
          <p:cNvPr id="37" name="Oval 36"/>
          <p:cNvSpPr/>
          <p:nvPr/>
        </p:nvSpPr>
        <p:spPr>
          <a:xfrm>
            <a:off x="5634000" y="1710000"/>
            <a:ext cx="108000" cy="108000"/>
          </a:xfrm>
          <a:prstGeom prst="ellipse">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795999" y="1692000"/>
            <a:ext cx="1800000" cy="234000"/>
          </a:xfrm>
          <a:prstGeom prst="rect">
            <a:avLst/>
          </a:prstGeom>
          <a:noFill/>
        </p:spPr>
        <p:txBody>
          <a:bodyPr wrap="square">
            <a:spAutoFit/>
          </a:bodyPr>
          <a:lstStyle/>
          <a:p>
            <a:pPr algn="l"/>
            <a:r>
              <a:rPr sz="1000" b="0" i="0">
                <a:solidFill>
                  <a:srgbClr val="FF8C00"/>
                </a:solidFill>
                <a:latin typeface="Calibri"/>
              </a:rPr>
              <a:t>MESSAGE_RECEIPT</a:t>
            </a:r>
          </a:p>
        </p:txBody>
      </p:sp>
      <p:sp>
        <p:nvSpPr>
          <p:cNvPr id="39" name="Oval 38"/>
          <p:cNvSpPr/>
          <p:nvPr/>
        </p:nvSpPr>
        <p:spPr>
          <a:xfrm>
            <a:off x="5634000" y="1980000"/>
            <a:ext cx="108000" cy="108000"/>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795999" y="1962000"/>
            <a:ext cx="1800000" cy="234000"/>
          </a:xfrm>
          <a:prstGeom prst="rect">
            <a:avLst/>
          </a:prstGeom>
          <a:noFill/>
        </p:spPr>
        <p:txBody>
          <a:bodyPr wrap="square">
            <a:spAutoFit/>
          </a:bodyPr>
          <a:lstStyle/>
          <a:p>
            <a:pPr algn="l"/>
            <a:r>
              <a:rPr sz="1000" b="0" i="0">
                <a:solidFill>
                  <a:srgbClr val="00D4FF"/>
                </a:solidFill>
                <a:latin typeface="Calibri"/>
              </a:rPr>
              <a:t>DATA_ANCHOR</a:t>
            </a:r>
          </a:p>
        </p:txBody>
      </p:sp>
      <p:sp>
        <p:nvSpPr>
          <p:cNvPr id="41" name="Oval 40"/>
          <p:cNvSpPr/>
          <p:nvPr/>
        </p:nvSpPr>
        <p:spPr>
          <a:xfrm>
            <a:off x="7272000" y="2592000"/>
            <a:ext cx="324000" cy="3240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08000" y="2628000"/>
            <a:ext cx="251999" cy="251999"/>
          </a:xfrm>
          <a:prstGeom prst="rect">
            <a:avLst/>
          </a:prstGeom>
          <a:noFill/>
        </p:spPr>
        <p:txBody>
          <a:bodyPr wrap="square">
            <a:spAutoFit/>
          </a:bodyPr>
          <a:lstStyle/>
          <a:p>
            <a:pPr algn="ctr"/>
            <a:r>
              <a:rPr sz="1200" b="1" i="0">
                <a:solidFill>
                  <a:srgbClr val="FFFFFF"/>
                </a:solidFill>
                <a:latin typeface="Calibri"/>
              </a:rPr>
              <a:t>2</a:t>
            </a:r>
          </a:p>
        </p:txBody>
      </p:sp>
      <p:cxnSp>
        <p:nvCxnSpPr>
          <p:cNvPr id="43" name="Connector 42"/>
          <p:cNvCxnSpPr/>
          <p:nvPr/>
        </p:nvCxnSpPr>
        <p:spPr>
          <a:xfrm>
            <a:off x="7632000" y="2052000.0"/>
            <a:ext cx="540000" cy="0.0"/>
          </a:xfrm>
          <a:prstGeom prst="line">
            <a:avLst/>
          </a:prstGeom>
          <a:ln w="38100">
            <a:solidFill>
              <a:srgbClr val="008CFF"/>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7560000" y="2088000"/>
            <a:ext cx="540000" cy="180000"/>
          </a:xfrm>
          <a:prstGeom prst="rect">
            <a:avLst/>
          </a:prstGeom>
          <a:noFill/>
        </p:spPr>
        <p:txBody>
          <a:bodyPr wrap="square">
            <a:spAutoFit/>
          </a:bodyPr>
          <a:lstStyle/>
          <a:p>
            <a:pPr algn="ctr"/>
            <a:r>
              <a:rPr sz="800" b="0" i="0">
                <a:solidFill>
                  <a:srgbClr val="B0C4DE"/>
                </a:solidFill>
                <a:latin typeface="Calibri"/>
              </a:rPr>
              <a:t>prev_hash</a:t>
            </a:r>
          </a:p>
        </p:txBody>
      </p:sp>
      <p:sp>
        <p:nvSpPr>
          <p:cNvPr id="45" name="Rectangle 44"/>
          <p:cNvSpPr/>
          <p:nvPr/>
        </p:nvSpPr>
        <p:spPr>
          <a:xfrm>
            <a:off x="8172000" y="1152000"/>
            <a:ext cx="2088000" cy="1800000"/>
          </a:xfrm>
          <a:prstGeom prst="rect">
            <a:avLst/>
          </a:prstGeom>
          <a:solidFill>
            <a:srgbClr val="10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172000" y="1152000"/>
            <a:ext cx="2088000" cy="324000"/>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172000" y="1152000"/>
            <a:ext cx="2088000" cy="324000"/>
          </a:xfrm>
          <a:prstGeom prst="rect">
            <a:avLst/>
          </a:prstGeom>
          <a:noFill/>
        </p:spPr>
        <p:txBody>
          <a:bodyPr wrap="square">
            <a:spAutoFit/>
          </a:bodyPr>
          <a:lstStyle/>
          <a:p>
            <a:pPr algn="ctr"/>
            <a:r>
              <a:rPr sz="1100" b="1" i="0">
                <a:solidFill>
                  <a:srgbClr val="FFFFFF"/>
                </a:solidFill>
                <a:latin typeface="Calibri"/>
              </a:rPr>
              <a:t>Block N
...</a:t>
            </a:r>
          </a:p>
        </p:txBody>
      </p:sp>
      <p:sp>
        <p:nvSpPr>
          <p:cNvPr id="48" name="Rectangle 47"/>
          <p:cNvSpPr/>
          <p:nvPr/>
        </p:nvSpPr>
        <p:spPr>
          <a:xfrm>
            <a:off x="8172000" y="1476000"/>
            <a:ext cx="2088000" cy="162000"/>
          </a:xfrm>
          <a:prstGeom prst="rect">
            <a:avLst/>
          </a:prstGeom>
          <a:solidFill>
            <a:srgbClr val="052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172000" y="1476000"/>
            <a:ext cx="2088000" cy="162000"/>
          </a:xfrm>
          <a:prstGeom prst="rect">
            <a:avLst/>
          </a:prstGeom>
          <a:noFill/>
        </p:spPr>
        <p:txBody>
          <a:bodyPr wrap="square">
            <a:spAutoFit/>
          </a:bodyPr>
          <a:lstStyle/>
          <a:p>
            <a:pPr algn="ctr"/>
            <a:r>
              <a:rPr sz="800" b="0" i="0">
                <a:solidFill>
                  <a:srgbClr val="00D4FF"/>
                </a:solidFill>
                <a:latin typeface="Calibri"/>
              </a:rPr>
              <a:t>SHA3-256 PoW  |  difficulty=2  |  ~1ms</a:t>
            </a:r>
          </a:p>
        </p:txBody>
      </p:sp>
      <p:sp>
        <p:nvSpPr>
          <p:cNvPr id="50" name="Oval 49"/>
          <p:cNvSpPr/>
          <p:nvPr/>
        </p:nvSpPr>
        <p:spPr>
          <a:xfrm>
            <a:off x="8262000" y="1710000"/>
            <a:ext cx="108000" cy="108000"/>
          </a:xfrm>
          <a:prstGeom prst="ellipse">
            <a:avLst/>
          </a:prstGeom>
          <a:solidFill>
            <a:srgbClr val="B0C4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423999" y="1692000"/>
            <a:ext cx="1800000" cy="234000"/>
          </a:xfrm>
          <a:prstGeom prst="rect">
            <a:avLst/>
          </a:prstGeom>
          <a:noFill/>
        </p:spPr>
        <p:txBody>
          <a:bodyPr wrap="square">
            <a:spAutoFit/>
          </a:bodyPr>
          <a:lstStyle/>
          <a:p>
            <a:pPr algn="l"/>
            <a:r>
              <a:rPr sz="1000" b="0" i="0">
                <a:solidFill>
                  <a:srgbClr val="B0C4DE"/>
                </a:solidFill>
                <a:latin typeface="Calibri"/>
              </a:rPr>
              <a:t>Continuous</a:t>
            </a:r>
          </a:p>
        </p:txBody>
      </p:sp>
      <p:sp>
        <p:nvSpPr>
          <p:cNvPr id="52" name="Oval 51"/>
          <p:cNvSpPr/>
          <p:nvPr/>
        </p:nvSpPr>
        <p:spPr>
          <a:xfrm>
            <a:off x="8262000" y="1980000"/>
            <a:ext cx="108000" cy="108000"/>
          </a:xfrm>
          <a:prstGeom prst="ellipse">
            <a:avLst/>
          </a:prstGeom>
          <a:solidFill>
            <a:srgbClr val="B0C4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423999" y="1962000"/>
            <a:ext cx="1800000" cy="234000"/>
          </a:xfrm>
          <a:prstGeom prst="rect">
            <a:avLst/>
          </a:prstGeom>
          <a:noFill/>
        </p:spPr>
        <p:txBody>
          <a:bodyPr wrap="square">
            <a:spAutoFit/>
          </a:bodyPr>
          <a:lstStyle/>
          <a:p>
            <a:pPr algn="l"/>
            <a:r>
              <a:rPr sz="1000" b="0" i="0">
                <a:solidFill>
                  <a:srgbClr val="B0C4DE"/>
                </a:solidFill>
                <a:latin typeface="Calibri"/>
              </a:rPr>
              <a:t>growth</a:t>
            </a:r>
          </a:p>
        </p:txBody>
      </p:sp>
      <p:sp>
        <p:nvSpPr>
          <p:cNvPr id="54" name="Oval 53"/>
          <p:cNvSpPr/>
          <p:nvPr/>
        </p:nvSpPr>
        <p:spPr>
          <a:xfrm>
            <a:off x="9900000" y="2592000"/>
            <a:ext cx="324000" cy="3240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936000" y="2628000"/>
            <a:ext cx="251999" cy="251999"/>
          </a:xfrm>
          <a:prstGeom prst="rect">
            <a:avLst/>
          </a:prstGeom>
          <a:noFill/>
        </p:spPr>
        <p:txBody>
          <a:bodyPr wrap="square">
            <a:spAutoFit/>
          </a:bodyPr>
          <a:lstStyle/>
          <a:p>
            <a:pPr algn="ctr"/>
            <a:r>
              <a:rPr sz="1200" b="1" i="0">
                <a:solidFill>
                  <a:srgbClr val="FFFFFF"/>
                </a:solidFill>
                <a:latin typeface="Calibri"/>
              </a:rPr>
              <a:t>3</a:t>
            </a:r>
          </a:p>
        </p:txBody>
      </p:sp>
      <p:sp>
        <p:nvSpPr>
          <p:cNvPr id="56" name="Rectangle 55"/>
          <p:cNvSpPr/>
          <p:nvPr/>
        </p:nvSpPr>
        <p:spPr>
          <a:xfrm>
            <a:off x="10620000" y="1152000"/>
            <a:ext cx="1213200" cy="1800000"/>
          </a:xfrm>
          <a:prstGeom prst="rect">
            <a:avLst/>
          </a:prstGeom>
          <a:solidFill>
            <a:srgbClr val="081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728000" y="1224000"/>
            <a:ext cx="1033200" cy="360000"/>
          </a:xfrm>
          <a:prstGeom prst="rect">
            <a:avLst/>
          </a:prstGeom>
          <a:noFill/>
        </p:spPr>
        <p:txBody>
          <a:bodyPr wrap="square">
            <a:spAutoFit/>
          </a:bodyPr>
          <a:lstStyle/>
          <a:p>
            <a:pPr algn="l"/>
            <a:r>
              <a:rPr sz="1200" b="1" i="0">
                <a:solidFill>
                  <a:srgbClr val="00D4FF"/>
                </a:solidFill>
                <a:latin typeface="Calibri"/>
              </a:rPr>
              <a:t>Live State
Indices</a:t>
            </a:r>
          </a:p>
        </p:txBody>
      </p:sp>
      <p:sp>
        <p:nvSpPr>
          <p:cNvPr id="58" name="Rounded Rectangle 57"/>
          <p:cNvSpPr/>
          <p:nvPr/>
        </p:nvSpPr>
        <p:spPr>
          <a:xfrm>
            <a:off x="10728000" y="1655999"/>
            <a:ext cx="997200" cy="324000"/>
          </a:xfrm>
          <a:prstGeom prst="roundRect">
            <a:avLst>
              <a:gd name="adj" fmla="val 10000"/>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0800000" y="1655999"/>
            <a:ext cx="925200" cy="324000"/>
          </a:xfrm>
          <a:prstGeom prst="rect">
            <a:avLst/>
          </a:prstGeom>
          <a:noFill/>
        </p:spPr>
        <p:txBody>
          <a:bodyPr wrap="square">
            <a:spAutoFit/>
          </a:bodyPr>
          <a:lstStyle/>
          <a:p>
            <a:pPr algn="l"/>
            <a:r>
              <a:rPr sz="1100" b="1" i="0">
                <a:solidFill>
                  <a:srgbClr val="FFFFFF"/>
                </a:solidFill>
                <a:latin typeface="Calibri"/>
              </a:rPr>
              <a:t>node_registry</a:t>
            </a:r>
          </a:p>
        </p:txBody>
      </p:sp>
      <p:sp>
        <p:nvSpPr>
          <p:cNvPr id="60" name="Rounded Rectangle 59"/>
          <p:cNvSpPr/>
          <p:nvPr/>
        </p:nvSpPr>
        <p:spPr>
          <a:xfrm>
            <a:off x="10728000" y="2051999"/>
            <a:ext cx="997200" cy="324000"/>
          </a:xfrm>
          <a:prstGeom prst="roundRect">
            <a:avLst>
              <a:gd name="adj" fmla="val 10000"/>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800000" y="2051999"/>
            <a:ext cx="925200" cy="324000"/>
          </a:xfrm>
          <a:prstGeom prst="rect">
            <a:avLst/>
          </a:prstGeom>
          <a:noFill/>
        </p:spPr>
        <p:txBody>
          <a:bodyPr wrap="square">
            <a:spAutoFit/>
          </a:bodyPr>
          <a:lstStyle/>
          <a:p>
            <a:pPr algn="l"/>
            <a:r>
              <a:rPr sz="1100" b="1" i="0">
                <a:solidFill>
                  <a:srgbClr val="FFFFFF"/>
                </a:solidFill>
                <a:latin typeface="Calibri"/>
              </a:rPr>
              <a:t>message_receipts</a:t>
            </a:r>
          </a:p>
        </p:txBody>
      </p:sp>
      <p:sp>
        <p:nvSpPr>
          <p:cNvPr id="62" name="Rounded Rectangle 61"/>
          <p:cNvSpPr/>
          <p:nvPr/>
        </p:nvSpPr>
        <p:spPr>
          <a:xfrm>
            <a:off x="10728000" y="2447999"/>
            <a:ext cx="997200" cy="324000"/>
          </a:xfrm>
          <a:prstGeom prst="roundRect">
            <a:avLst>
              <a:gd name="adj" fmla="val 10000"/>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800000" y="2447999"/>
            <a:ext cx="925200" cy="324000"/>
          </a:xfrm>
          <a:prstGeom prst="rect">
            <a:avLst/>
          </a:prstGeom>
          <a:noFill/>
        </p:spPr>
        <p:txBody>
          <a:bodyPr wrap="square">
            <a:spAutoFit/>
          </a:bodyPr>
          <a:lstStyle/>
          <a:p>
            <a:pPr algn="l"/>
            <a:r>
              <a:rPr sz="1100" b="1" i="0">
                <a:solidFill>
                  <a:srgbClr val="FFFFFF"/>
                </a:solidFill>
                <a:latin typeface="Calibri"/>
              </a:rPr>
              <a:t>data_anchors</a:t>
            </a:r>
          </a:p>
        </p:txBody>
      </p:sp>
      <p:sp>
        <p:nvSpPr>
          <p:cNvPr id="64" name="Rectangle 63"/>
          <p:cNvSpPr/>
          <p:nvPr/>
        </p:nvSpPr>
        <p:spPr>
          <a:xfrm>
            <a:off x="180000" y="5418000"/>
            <a:ext cx="3851999" cy="900000"/>
          </a:xfrm>
          <a:prstGeom prst="rect">
            <a:avLst/>
          </a:prstGeom>
          <a:solidFill>
            <a:srgbClr val="0C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24000" y="5454000"/>
            <a:ext cx="3600000" cy="251999"/>
          </a:xfrm>
          <a:prstGeom prst="rect">
            <a:avLst/>
          </a:prstGeom>
          <a:noFill/>
        </p:spPr>
        <p:txBody>
          <a:bodyPr wrap="square">
            <a:spAutoFit/>
          </a:bodyPr>
          <a:lstStyle/>
          <a:p>
            <a:pPr algn="l"/>
            <a:r>
              <a:rPr sz="1400" b="1" i="0">
                <a:solidFill>
                  <a:srgbClr val="00D4FF"/>
                </a:solidFill>
                <a:latin typeface="Calibri"/>
              </a:rPr>
              <a:t>Immutable</a:t>
            </a:r>
          </a:p>
        </p:txBody>
      </p:sp>
      <p:sp>
        <p:nvSpPr>
          <p:cNvPr id="66" name="TextBox 65"/>
          <p:cNvSpPr txBox="1"/>
          <p:nvPr/>
        </p:nvSpPr>
        <p:spPr>
          <a:xfrm>
            <a:off x="324000" y="5742000"/>
            <a:ext cx="3600000" cy="540000"/>
          </a:xfrm>
          <a:prstGeom prst="rect">
            <a:avLst/>
          </a:prstGeom>
          <a:noFill/>
        </p:spPr>
        <p:txBody>
          <a:bodyPr wrap="square">
            <a:spAutoFit/>
          </a:bodyPr>
          <a:lstStyle/>
          <a:p>
            <a:pPr algn="l"/>
            <a:r>
              <a:rPr sz="1100" b="0" i="0">
                <a:solidFill>
                  <a:srgbClr val="B0C4DE"/>
                </a:solidFill>
                <a:latin typeface="Calibri"/>
              </a:rPr>
              <a:t>Once written, blocks cannot be altered without redoing all PoW</a:t>
            </a:r>
          </a:p>
        </p:txBody>
      </p:sp>
      <p:sp>
        <p:nvSpPr>
          <p:cNvPr id="67" name="Rectangle 66"/>
          <p:cNvSpPr/>
          <p:nvPr/>
        </p:nvSpPr>
        <p:spPr>
          <a:xfrm>
            <a:off x="4176000" y="5418000"/>
            <a:ext cx="3851999" cy="900000"/>
          </a:xfrm>
          <a:prstGeom prst="rect">
            <a:avLst/>
          </a:prstGeom>
          <a:solidFill>
            <a:srgbClr val="0C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320000" y="5454000"/>
            <a:ext cx="3600000" cy="251999"/>
          </a:xfrm>
          <a:prstGeom prst="rect">
            <a:avLst/>
          </a:prstGeom>
          <a:noFill/>
        </p:spPr>
        <p:txBody>
          <a:bodyPr wrap="square">
            <a:spAutoFit/>
          </a:bodyPr>
          <a:lstStyle/>
          <a:p>
            <a:pPr algn="l"/>
            <a:r>
              <a:rPr sz="1400" b="1" i="0">
                <a:solidFill>
                  <a:srgbClr val="00C86E"/>
                </a:solidFill>
                <a:latin typeface="Calibri"/>
              </a:rPr>
              <a:t>Verifiable</a:t>
            </a:r>
          </a:p>
        </p:txBody>
      </p:sp>
      <p:sp>
        <p:nvSpPr>
          <p:cNvPr id="69" name="TextBox 68"/>
          <p:cNvSpPr txBox="1"/>
          <p:nvPr/>
        </p:nvSpPr>
        <p:spPr>
          <a:xfrm>
            <a:off x="4320000" y="5742000"/>
            <a:ext cx="3600000" cy="540000"/>
          </a:xfrm>
          <a:prstGeom prst="rect">
            <a:avLst/>
          </a:prstGeom>
          <a:noFill/>
        </p:spPr>
        <p:txBody>
          <a:bodyPr wrap="square">
            <a:spAutoFit/>
          </a:bodyPr>
          <a:lstStyle/>
          <a:p>
            <a:pPr algn="l"/>
            <a:r>
              <a:rPr sz="1100" b="0" i="0">
                <a:solidFill>
                  <a:srgbClr val="B0C4DE"/>
                </a:solidFill>
                <a:latin typeface="Calibri"/>
              </a:rPr>
              <a:t>Every transaction is signed; anyone can verify</a:t>
            </a:r>
          </a:p>
        </p:txBody>
      </p:sp>
      <p:sp>
        <p:nvSpPr>
          <p:cNvPr id="70" name="Rectangle 69"/>
          <p:cNvSpPr/>
          <p:nvPr/>
        </p:nvSpPr>
        <p:spPr>
          <a:xfrm>
            <a:off x="8172000" y="5418000"/>
            <a:ext cx="3851999" cy="900000"/>
          </a:xfrm>
          <a:prstGeom prst="rect">
            <a:avLst/>
          </a:prstGeom>
          <a:solidFill>
            <a:srgbClr val="0C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316000" y="5454000"/>
            <a:ext cx="3600000" cy="251999"/>
          </a:xfrm>
          <a:prstGeom prst="rect">
            <a:avLst/>
          </a:prstGeom>
          <a:noFill/>
        </p:spPr>
        <p:txBody>
          <a:bodyPr wrap="square">
            <a:spAutoFit/>
          </a:bodyPr>
          <a:lstStyle/>
          <a:p>
            <a:pPr algn="l"/>
            <a:r>
              <a:rPr sz="1400" b="1" i="0">
                <a:solidFill>
                  <a:srgbClr val="FF8C00"/>
                </a:solidFill>
                <a:latin typeface="Calibri"/>
              </a:rPr>
              <a:t>Decentralised</a:t>
            </a:r>
          </a:p>
        </p:txBody>
      </p:sp>
      <p:sp>
        <p:nvSpPr>
          <p:cNvPr id="72" name="TextBox 71"/>
          <p:cNvSpPr txBox="1"/>
          <p:nvPr/>
        </p:nvSpPr>
        <p:spPr>
          <a:xfrm>
            <a:off x="8316000" y="5742000"/>
            <a:ext cx="3600000" cy="540000"/>
          </a:xfrm>
          <a:prstGeom prst="rect">
            <a:avLst/>
          </a:prstGeom>
          <a:noFill/>
        </p:spPr>
        <p:txBody>
          <a:bodyPr wrap="square">
            <a:spAutoFit/>
          </a:bodyPr>
          <a:lstStyle/>
          <a:p>
            <a:pPr algn="l"/>
            <a:r>
              <a:rPr sz="1100" b="0" i="0">
                <a:solidFill>
                  <a:srgbClr val="B0C4DE"/>
                </a:solidFill>
                <a:latin typeface="Calibri"/>
              </a:rPr>
              <a:t>Every node holds a full copy — no central server</a:t>
            </a:r>
          </a:p>
        </p:txBody>
      </p:sp>
      <p:sp>
        <p:nvSpPr>
          <p:cNvPr id="73" name="Rectangle 72"/>
          <p:cNvSpPr/>
          <p:nvPr/>
        </p:nvSpPr>
        <p:spPr>
          <a:xfrm>
            <a:off x="0" y="6534000"/>
            <a:ext cx="12193200" cy="324000"/>
          </a:xfrm>
          <a:prstGeom prst="rect">
            <a:avLst/>
          </a:prstGeom>
          <a:solidFill>
            <a:srgbClr val="0F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360000" y="6552000"/>
            <a:ext cx="11473200" cy="288000"/>
          </a:xfrm>
          <a:prstGeom prst="rect">
            <a:avLst/>
          </a:prstGeom>
          <a:noFill/>
        </p:spPr>
        <p:txBody>
          <a:bodyPr wrap="square">
            <a:spAutoFit/>
          </a:bodyPr>
          <a:lstStyle/>
          <a:p>
            <a:pPr algn="ctr"/>
            <a:r>
              <a:rPr sz="1000" b="0" i="0">
                <a:solidFill>
                  <a:srgbClr val="B0C4DE"/>
                </a:solidFill>
                <a:latin typeface="Calibri"/>
              </a:rPr>
              <a:t>MegaNet MVP  |  Executive Briefing  |  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42A"/>
        </a:solidFill>
        <a:effectLst/>
      </p:bgPr>
    </p:bg>
    <p:spTree>
      <p:nvGrpSpPr>
        <p:cNvPr id="1" name=""/>
        <p:cNvGrpSpPr/>
        <p:nvPr/>
      </p:nvGrpSpPr>
      <p:grpSpPr/>
      <p:sp>
        <p:nvSpPr>
          <p:cNvPr id="2" name="Rectangle 1"/>
          <p:cNvSpPr/>
          <p:nvPr/>
        </p:nvSpPr>
        <p:spPr>
          <a:xfrm>
            <a:off x="0" y="0"/>
            <a:ext cx="12193200" cy="864000"/>
          </a:xfrm>
          <a:prstGeom prst="rect">
            <a:avLst/>
          </a:prstGeom>
          <a:solidFill>
            <a:srgbClr val="0F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4000"/>
            <a:ext cx="12193200" cy="54000"/>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0000" y="90000"/>
            <a:ext cx="11473200" cy="576000"/>
          </a:xfrm>
          <a:prstGeom prst="rect">
            <a:avLst/>
          </a:prstGeom>
          <a:noFill/>
        </p:spPr>
        <p:txBody>
          <a:bodyPr wrap="square">
            <a:spAutoFit/>
          </a:bodyPr>
          <a:lstStyle/>
          <a:p>
            <a:pPr algn="l"/>
            <a:r>
              <a:rPr sz="2600" b="1" i="0">
                <a:solidFill>
                  <a:srgbClr val="FFFFFF"/>
                </a:solidFill>
                <a:latin typeface="Calibri"/>
              </a:rPr>
              <a:t>LoRaWAN Radio Transport</a:t>
            </a:r>
          </a:p>
        </p:txBody>
      </p:sp>
      <p:sp>
        <p:nvSpPr>
          <p:cNvPr id="5" name="TextBox 4"/>
          <p:cNvSpPr txBox="1"/>
          <p:nvPr/>
        </p:nvSpPr>
        <p:spPr>
          <a:xfrm>
            <a:off x="360000" y="558000"/>
            <a:ext cx="11473200" cy="324000"/>
          </a:xfrm>
          <a:prstGeom prst="rect">
            <a:avLst/>
          </a:prstGeom>
          <a:noFill/>
        </p:spPr>
        <p:txBody>
          <a:bodyPr wrap="square">
            <a:spAutoFit/>
          </a:bodyPr>
          <a:lstStyle/>
          <a:p>
            <a:pPr algn="l"/>
            <a:r>
              <a:rPr sz="1300" b="0" i="0">
                <a:solidFill>
                  <a:srgbClr val="00D4FF"/>
                </a:solidFill>
                <a:latin typeface="Calibri"/>
              </a:rPr>
              <a:t>Long-range, low-power — no ISP, no cables needed</a:t>
            </a:r>
          </a:p>
        </p:txBody>
      </p:sp>
      <p:sp>
        <p:nvSpPr>
          <p:cNvPr id="6" name="Rectangle 5"/>
          <p:cNvSpPr/>
          <p:nvPr/>
        </p:nvSpPr>
        <p:spPr>
          <a:xfrm>
            <a:off x="180000" y="972000"/>
            <a:ext cx="5040000" cy="5490000"/>
          </a:xfrm>
          <a:prstGeom prst="rect">
            <a:avLst/>
          </a:prstGeom>
          <a:solidFill>
            <a:srgbClr val="0812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0000" y="1008000"/>
            <a:ext cx="5040000" cy="180000"/>
          </a:xfrm>
          <a:prstGeom prst="rect">
            <a:avLst/>
          </a:prstGeom>
          <a:noFill/>
        </p:spPr>
        <p:txBody>
          <a:bodyPr wrap="square">
            <a:spAutoFit/>
          </a:bodyPr>
          <a:lstStyle/>
          <a:p>
            <a:pPr algn="ctr"/>
            <a:r>
              <a:rPr sz="1100" b="1" i="0">
                <a:solidFill>
                  <a:srgbClr val="00D4FF"/>
                </a:solidFill>
                <a:latin typeface="Calibri"/>
              </a:rPr>
              <a:t>LoRa Coverage (20x20 km grid)</a:t>
            </a:r>
          </a:p>
        </p:txBody>
      </p:sp>
      <p:sp>
        <p:nvSpPr>
          <p:cNvPr id="8" name="Oval 7"/>
          <p:cNvSpPr/>
          <p:nvPr/>
        </p:nvSpPr>
        <p:spPr>
          <a:xfrm>
            <a:off x="1861344" y="2878344"/>
            <a:ext cx="1677312" cy="1677312"/>
          </a:xfrm>
          <a:prstGeom prst="ellipse">
            <a:avLst/>
          </a:prstGeom>
          <a:solidFill>
            <a:srgbClr val="802000"/>
          </a:solidFill>
          <a:ln w="12700">
            <a:solidFill>
              <a:srgbClr val="BC5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45126" y="3609000"/>
            <a:ext cx="1080000" cy="180000"/>
          </a:xfrm>
          <a:prstGeom prst="rect">
            <a:avLst/>
          </a:prstGeom>
          <a:noFill/>
        </p:spPr>
        <p:txBody>
          <a:bodyPr wrap="square">
            <a:spAutoFit/>
          </a:bodyPr>
          <a:lstStyle/>
          <a:p>
            <a:pPr algn="l"/>
            <a:r>
              <a:rPr sz="900" b="0" i="0">
                <a:solidFill>
                  <a:srgbClr val="FFFFFF"/>
                </a:solidFill>
                <a:latin typeface="Calibri"/>
              </a:rPr>
              <a:t>SF7 ~7km</a:t>
            </a:r>
          </a:p>
        </p:txBody>
      </p:sp>
      <p:sp>
        <p:nvSpPr>
          <p:cNvPr id="10" name="Oval 9"/>
          <p:cNvSpPr/>
          <p:nvPr/>
        </p:nvSpPr>
        <p:spPr>
          <a:xfrm>
            <a:off x="1546848" y="2563848"/>
            <a:ext cx="2306304" cy="2306304"/>
          </a:xfrm>
          <a:prstGeom prst="ellipse">
            <a:avLst/>
          </a:prstGeom>
          <a:solidFill>
            <a:srgbClr val="805000"/>
          </a:solidFill>
          <a:ln w="12700">
            <a:solidFill>
              <a:srgbClr val="BC8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49548" y="3609000"/>
            <a:ext cx="1080000" cy="180000"/>
          </a:xfrm>
          <a:prstGeom prst="rect">
            <a:avLst/>
          </a:prstGeom>
          <a:noFill/>
        </p:spPr>
        <p:txBody>
          <a:bodyPr wrap="square">
            <a:spAutoFit/>
          </a:bodyPr>
          <a:lstStyle/>
          <a:p>
            <a:pPr algn="l"/>
            <a:r>
              <a:rPr sz="900" b="0" i="0">
                <a:solidFill>
                  <a:srgbClr val="FFFFFF"/>
                </a:solidFill>
                <a:latin typeface="Calibri"/>
              </a:rPr>
              <a:t>SF9 ~11km</a:t>
            </a:r>
          </a:p>
        </p:txBody>
      </p:sp>
      <p:sp>
        <p:nvSpPr>
          <p:cNvPr id="12" name="Oval 11"/>
          <p:cNvSpPr/>
          <p:nvPr/>
        </p:nvSpPr>
        <p:spPr>
          <a:xfrm>
            <a:off x="1232351" y="2249352"/>
            <a:ext cx="2935296" cy="2935296"/>
          </a:xfrm>
          <a:prstGeom prst="ellipse">
            <a:avLst/>
          </a:prstGeom>
          <a:solidFill>
            <a:srgbClr val="006020"/>
          </a:solidFill>
          <a:ln w="12700">
            <a:solidFill>
              <a:srgbClr val="3C9C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3971" y="3609000"/>
            <a:ext cx="1080000" cy="180000"/>
          </a:xfrm>
          <a:prstGeom prst="rect">
            <a:avLst/>
          </a:prstGeom>
          <a:noFill/>
        </p:spPr>
        <p:txBody>
          <a:bodyPr wrap="square">
            <a:spAutoFit/>
          </a:bodyPr>
          <a:lstStyle/>
          <a:p>
            <a:pPr algn="l"/>
            <a:r>
              <a:rPr sz="900" b="0" i="0">
                <a:solidFill>
                  <a:srgbClr val="FFFFFF"/>
                </a:solidFill>
                <a:latin typeface="Calibri"/>
              </a:rPr>
              <a:t>SF12 ~17km</a:t>
            </a:r>
          </a:p>
        </p:txBody>
      </p:sp>
      <p:sp>
        <p:nvSpPr>
          <p:cNvPr id="14" name="Oval 13"/>
          <p:cNvSpPr/>
          <p:nvPr/>
        </p:nvSpPr>
        <p:spPr>
          <a:xfrm>
            <a:off x="2484000" y="3501000"/>
            <a:ext cx="432000" cy="4320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56000" y="3951000"/>
            <a:ext cx="288000" cy="180000"/>
          </a:xfrm>
          <a:prstGeom prst="rect">
            <a:avLst/>
          </a:prstGeom>
          <a:noFill/>
        </p:spPr>
        <p:txBody>
          <a:bodyPr wrap="square">
            <a:spAutoFit/>
          </a:bodyPr>
          <a:lstStyle/>
          <a:p>
            <a:pPr algn="ctr"/>
            <a:r>
              <a:rPr sz="1000" b="1" i="0">
                <a:solidFill>
                  <a:srgbClr val="00D4FF"/>
                </a:solidFill>
                <a:latin typeface="Calibri"/>
              </a:rPr>
              <a:t>GW</a:t>
            </a:r>
          </a:p>
        </p:txBody>
      </p:sp>
      <p:cxnSp>
        <p:nvCxnSpPr>
          <p:cNvPr id="16" name="Connector 15"/>
          <p:cNvCxnSpPr/>
          <p:nvPr/>
        </p:nvCxnSpPr>
        <p:spPr>
          <a:xfrm flipH="1" flipV="1">
            <a:off x="1591200.0000000002" y="2619000.0"/>
            <a:ext cx="1108799.9999999998" cy="1098000.0"/>
          </a:xfrm>
          <a:prstGeom prst="line">
            <a:avLst/>
          </a:prstGeom>
          <a:ln w="12700">
            <a:solidFill>
              <a:srgbClr val="0070A0"/>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1501200" y="2529000"/>
            <a:ext cx="180000" cy="1800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flipV="1">
            <a:off x="2700000.0" y="2179800.0"/>
            <a:ext cx="504000.0" cy="1537200.0"/>
          </a:xfrm>
          <a:prstGeom prst="line">
            <a:avLst/>
          </a:prstGeom>
          <a:ln w="12700">
            <a:solidFill>
              <a:srgbClr val="0070A0"/>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3114000" y="2089800"/>
            <a:ext cx="180000" cy="1800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flipH="1">
            <a:off x="1188000.0" y="3717000.0"/>
            <a:ext cx="1512000.0" cy="823500.0"/>
          </a:xfrm>
          <a:prstGeom prst="line">
            <a:avLst/>
          </a:prstGeom>
          <a:ln w="12700">
            <a:solidFill>
              <a:srgbClr val="0070A0"/>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1098000" y="4450500"/>
            <a:ext cx="180000" cy="1800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Connector 21"/>
          <p:cNvCxnSpPr/>
          <p:nvPr/>
        </p:nvCxnSpPr>
        <p:spPr>
          <a:xfrm>
            <a:off x="2700000.0" y="3717000.0"/>
            <a:ext cx="1008000.0" cy="1098000.0"/>
          </a:xfrm>
          <a:prstGeom prst="line">
            <a:avLst/>
          </a:prstGeom>
          <a:ln w="12700">
            <a:solidFill>
              <a:srgbClr val="0070A0"/>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3618000" y="4725000"/>
            <a:ext cx="180000" cy="1800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flipV="1">
            <a:off x="2700000.0" y="3442500.0"/>
            <a:ext cx="1512000.0" cy="274500.0"/>
          </a:xfrm>
          <a:prstGeom prst="line">
            <a:avLst/>
          </a:prstGeom>
          <a:ln w="12700">
            <a:solidFill>
              <a:srgbClr val="0070A0"/>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4122000" y="3352500"/>
            <a:ext cx="180000" cy="1800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Connector 25"/>
          <p:cNvCxnSpPr/>
          <p:nvPr/>
        </p:nvCxnSpPr>
        <p:spPr>
          <a:xfrm>
            <a:off x="360000" y="6174000"/>
            <a:ext cx="1512000.0" cy="0"/>
          </a:xfrm>
          <a:prstGeom prst="line">
            <a:avLst/>
          </a:prstGeom>
          <a:ln w="19050">
            <a:solidFill>
              <a:srgbClr val="FFFFFF"/>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56000" y="5976000"/>
            <a:ext cx="720000" cy="180000"/>
          </a:xfrm>
          <a:prstGeom prst="rect">
            <a:avLst/>
          </a:prstGeom>
          <a:noFill/>
        </p:spPr>
        <p:txBody>
          <a:bodyPr wrap="square">
            <a:spAutoFit/>
          </a:bodyPr>
          <a:lstStyle/>
          <a:p>
            <a:pPr algn="ctr"/>
            <a:r>
              <a:rPr sz="900" b="0" i="0">
                <a:solidFill>
                  <a:srgbClr val="FFFFFF"/>
                </a:solidFill>
                <a:latin typeface="Calibri"/>
              </a:rPr>
              <a:t>~10 km</a:t>
            </a:r>
          </a:p>
        </p:txBody>
      </p:sp>
      <p:sp>
        <p:nvSpPr>
          <p:cNvPr id="28" name="Rectangle 27"/>
          <p:cNvSpPr/>
          <p:nvPr/>
        </p:nvSpPr>
        <p:spPr>
          <a:xfrm>
            <a:off x="5400000" y="972000"/>
            <a:ext cx="6613200" cy="5490000"/>
          </a:xfrm>
          <a:prstGeom prst="rect">
            <a:avLst/>
          </a:prstGeom>
          <a:solidFill>
            <a:srgbClr val="0812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72000" y="1026000"/>
            <a:ext cx="6120000" cy="180000"/>
          </a:xfrm>
          <a:prstGeom prst="rect">
            <a:avLst/>
          </a:prstGeom>
          <a:noFill/>
        </p:spPr>
        <p:txBody>
          <a:bodyPr wrap="square">
            <a:spAutoFit/>
          </a:bodyPr>
          <a:lstStyle/>
          <a:p>
            <a:pPr algn="l"/>
            <a:r>
              <a:rPr sz="1100" b="1" i="0">
                <a:solidFill>
                  <a:srgbClr val="00D4FF"/>
                </a:solidFill>
                <a:latin typeface="Calibri"/>
              </a:rPr>
              <a:t>Spreading Factor Trade-offs</a:t>
            </a:r>
          </a:p>
        </p:txBody>
      </p:sp>
      <p:graphicFrame>
        <p:nvGraphicFramePr>
          <p:cNvPr id="30" name="Chart 29"/>
          <p:cNvGraphicFramePr>
            <a:graphicFrameLocks noGrp="1"/>
          </p:cNvGraphicFramePr>
          <p:nvPr/>
        </p:nvGraphicFramePr>
        <p:xfrm>
          <a:off x="5400000" y="1260000"/>
          <a:ext cx="6505200" cy="5166000"/>
        </p:xfrm>
        <a:graphic>
          <a:graphicData uri="http://schemas.openxmlformats.org/drawingml/2006/chart">
            <c:chart xmlns:c="http://schemas.openxmlformats.org/drawingml/2006/chart" r:id="rId2"/>
          </a:graphicData>
        </a:graphic>
      </p:graphicFrame>
      <p:sp>
        <p:nvSpPr>
          <p:cNvPr id="31" name="Rectangle 30"/>
          <p:cNvSpPr/>
          <p:nvPr/>
        </p:nvSpPr>
        <p:spPr>
          <a:xfrm>
            <a:off x="0" y="6534000"/>
            <a:ext cx="12193200" cy="324000"/>
          </a:xfrm>
          <a:prstGeom prst="rect">
            <a:avLst/>
          </a:prstGeom>
          <a:solidFill>
            <a:srgbClr val="0F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0000" y="6552000"/>
            <a:ext cx="11473200" cy="288000"/>
          </a:xfrm>
          <a:prstGeom prst="rect">
            <a:avLst/>
          </a:prstGeom>
          <a:noFill/>
        </p:spPr>
        <p:txBody>
          <a:bodyPr wrap="square">
            <a:spAutoFit/>
          </a:bodyPr>
          <a:lstStyle/>
          <a:p>
            <a:pPr algn="ctr"/>
            <a:r>
              <a:rPr sz="1000" b="0" i="0">
                <a:solidFill>
                  <a:srgbClr val="B0C4DE"/>
                </a:solidFill>
                <a:latin typeface="Calibri"/>
              </a:rPr>
              <a:t>MegaNet MVP  |  Executive Briefing  |  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42A"/>
        </a:solidFill>
        <a:effectLst/>
      </p:bgPr>
    </p:bg>
    <p:spTree>
      <p:nvGrpSpPr>
        <p:cNvPr id="1" name=""/>
        <p:cNvGrpSpPr/>
        <p:nvPr/>
      </p:nvGrpSpPr>
      <p:grpSpPr/>
      <p:sp>
        <p:nvSpPr>
          <p:cNvPr id="2" name="Rectangle 1"/>
          <p:cNvSpPr/>
          <p:nvPr/>
        </p:nvSpPr>
        <p:spPr>
          <a:xfrm>
            <a:off x="0" y="0"/>
            <a:ext cx="12193200" cy="864000"/>
          </a:xfrm>
          <a:prstGeom prst="rect">
            <a:avLst/>
          </a:prstGeom>
          <a:solidFill>
            <a:srgbClr val="0F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4000"/>
            <a:ext cx="12193200" cy="54000"/>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0000" y="90000"/>
            <a:ext cx="11473200" cy="576000"/>
          </a:xfrm>
          <a:prstGeom prst="rect">
            <a:avLst/>
          </a:prstGeom>
          <a:noFill/>
        </p:spPr>
        <p:txBody>
          <a:bodyPr wrap="square">
            <a:spAutoFit/>
          </a:bodyPr>
          <a:lstStyle/>
          <a:p>
            <a:pPr algn="l"/>
            <a:r>
              <a:rPr sz="2600" b="1" i="0">
                <a:solidFill>
                  <a:srgbClr val="FFFFFF"/>
                </a:solidFill>
                <a:latin typeface="Calibri"/>
              </a:rPr>
              <a:t>Use Cases &amp; Market Opportunity</a:t>
            </a:r>
          </a:p>
        </p:txBody>
      </p:sp>
      <p:sp>
        <p:nvSpPr>
          <p:cNvPr id="5" name="TextBox 4"/>
          <p:cNvSpPr txBox="1"/>
          <p:nvPr/>
        </p:nvSpPr>
        <p:spPr>
          <a:xfrm>
            <a:off x="360000" y="558000"/>
            <a:ext cx="11473200" cy="324000"/>
          </a:xfrm>
          <a:prstGeom prst="rect">
            <a:avLst/>
          </a:prstGeom>
          <a:noFill/>
        </p:spPr>
        <p:txBody>
          <a:bodyPr wrap="square">
            <a:spAutoFit/>
          </a:bodyPr>
          <a:lstStyle/>
          <a:p>
            <a:pPr algn="l"/>
            <a:r>
              <a:rPr sz="1300" b="0" i="0">
                <a:solidFill>
                  <a:srgbClr val="00D4FF"/>
                </a:solidFill>
                <a:latin typeface="Calibri"/>
              </a:rPr>
              <a:t>Where MegaNet delivers unique value</a:t>
            </a:r>
          </a:p>
        </p:txBody>
      </p:sp>
      <p:sp>
        <p:nvSpPr>
          <p:cNvPr id="6" name="Rectangle 5"/>
          <p:cNvSpPr/>
          <p:nvPr/>
        </p:nvSpPr>
        <p:spPr>
          <a:xfrm>
            <a:off x="180000" y="1007999"/>
            <a:ext cx="2808000" cy="2232000"/>
          </a:xfrm>
          <a:prstGeom prst="rect">
            <a:avLst/>
          </a:prstGeom>
          <a:solidFill>
            <a:srgbClr val="0C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0000" y="1007999"/>
            <a:ext cx="2808000" cy="180000"/>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2574001" y="1133999"/>
            <a:ext cx="324000" cy="3240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8000" y="1205999"/>
            <a:ext cx="1980000" cy="432000"/>
          </a:xfrm>
          <a:prstGeom prst="rect">
            <a:avLst/>
          </a:prstGeom>
          <a:noFill/>
        </p:spPr>
        <p:txBody>
          <a:bodyPr wrap="square">
            <a:spAutoFit/>
          </a:bodyPr>
          <a:lstStyle/>
          <a:p>
            <a:pPr algn="l"/>
            <a:r>
              <a:rPr sz="1400" b="1" i="0">
                <a:solidFill>
                  <a:srgbClr val="008CFF"/>
                </a:solidFill>
                <a:latin typeface="Calibri"/>
              </a:rPr>
              <a:t>Disaster
Response</a:t>
            </a:r>
          </a:p>
        </p:txBody>
      </p:sp>
      <p:sp>
        <p:nvSpPr>
          <p:cNvPr id="10" name="TextBox 9"/>
          <p:cNvSpPr txBox="1"/>
          <p:nvPr/>
        </p:nvSpPr>
        <p:spPr>
          <a:xfrm>
            <a:off x="288000" y="1655999"/>
            <a:ext cx="2592000" cy="900000"/>
          </a:xfrm>
          <a:prstGeom prst="rect">
            <a:avLst/>
          </a:prstGeom>
          <a:noFill/>
        </p:spPr>
        <p:txBody>
          <a:bodyPr wrap="square">
            <a:spAutoFit/>
          </a:bodyPr>
          <a:lstStyle/>
          <a:p>
            <a:pPr algn="l"/>
            <a:r>
              <a:rPr sz="1050" b="0" i="0">
                <a:solidFill>
                  <a:srgbClr val="FFFFFF"/>
                </a:solidFill>
                <a:latin typeface="Calibri"/>
              </a:rPr>
              <a:t>When traditional networks fail,
MegaNet keeps communicating.
No towers, no cables needed.</a:t>
            </a:r>
          </a:p>
        </p:txBody>
      </p:sp>
      <p:sp>
        <p:nvSpPr>
          <p:cNvPr id="11" name="TextBox 10"/>
          <p:cNvSpPr txBox="1"/>
          <p:nvPr/>
        </p:nvSpPr>
        <p:spPr>
          <a:xfrm>
            <a:off x="288000" y="2627999"/>
            <a:ext cx="2592000" cy="324000"/>
          </a:xfrm>
          <a:prstGeom prst="rect">
            <a:avLst/>
          </a:prstGeom>
          <a:noFill/>
        </p:spPr>
        <p:txBody>
          <a:bodyPr wrap="square">
            <a:spAutoFit/>
          </a:bodyPr>
          <a:lstStyle/>
          <a:p>
            <a:pPr algn="l"/>
            <a:r>
              <a:rPr sz="950" b="0" i="1">
                <a:solidFill>
                  <a:srgbClr val="008CFF"/>
                </a:solidFill>
                <a:latin typeface="Calibri"/>
              </a:rPr>
              <a:t>Emergency Services
NGOs  |  Military</a:t>
            </a:r>
          </a:p>
        </p:txBody>
      </p:sp>
      <p:sp>
        <p:nvSpPr>
          <p:cNvPr id="12" name="Rectangle 11"/>
          <p:cNvSpPr/>
          <p:nvPr/>
        </p:nvSpPr>
        <p:spPr>
          <a:xfrm>
            <a:off x="3204000" y="1007999"/>
            <a:ext cx="2808000" cy="2232000"/>
          </a:xfrm>
          <a:prstGeom prst="rect">
            <a:avLst/>
          </a:prstGeom>
          <a:solidFill>
            <a:srgbClr val="0C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04000" y="1007999"/>
            <a:ext cx="2808000" cy="180000"/>
          </a:xfrm>
          <a:prstGeom prst="rect">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598001" y="1133999"/>
            <a:ext cx="324000" cy="3240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12000" y="1205999"/>
            <a:ext cx="1980000" cy="432000"/>
          </a:xfrm>
          <a:prstGeom prst="rect">
            <a:avLst/>
          </a:prstGeom>
          <a:noFill/>
        </p:spPr>
        <p:txBody>
          <a:bodyPr wrap="square">
            <a:spAutoFit/>
          </a:bodyPr>
          <a:lstStyle/>
          <a:p>
            <a:pPr algn="l"/>
            <a:r>
              <a:rPr sz="1400" b="1" i="0">
                <a:solidFill>
                  <a:srgbClr val="00C86E"/>
                </a:solidFill>
                <a:latin typeface="Calibri"/>
              </a:rPr>
              <a:t>Censored
Regions</a:t>
            </a:r>
          </a:p>
        </p:txBody>
      </p:sp>
      <p:sp>
        <p:nvSpPr>
          <p:cNvPr id="16" name="TextBox 15"/>
          <p:cNvSpPr txBox="1"/>
          <p:nvPr/>
        </p:nvSpPr>
        <p:spPr>
          <a:xfrm>
            <a:off x="3312000" y="1655999"/>
            <a:ext cx="2592000" cy="900000"/>
          </a:xfrm>
          <a:prstGeom prst="rect">
            <a:avLst/>
          </a:prstGeom>
          <a:noFill/>
        </p:spPr>
        <p:txBody>
          <a:bodyPr wrap="square">
            <a:spAutoFit/>
          </a:bodyPr>
          <a:lstStyle/>
          <a:p>
            <a:pPr algn="l"/>
            <a:r>
              <a:rPr sz="1050" b="0" i="0">
                <a:solidFill>
                  <a:srgbClr val="FFFFFF"/>
                </a:solidFill>
                <a:latin typeface="Calibri"/>
              </a:rPr>
              <a:t>Citizens in authoritarian states
communicate freely — no IP
to block, no DNS to poison.</a:t>
            </a:r>
          </a:p>
        </p:txBody>
      </p:sp>
      <p:sp>
        <p:nvSpPr>
          <p:cNvPr id="17" name="TextBox 16"/>
          <p:cNvSpPr txBox="1"/>
          <p:nvPr/>
        </p:nvSpPr>
        <p:spPr>
          <a:xfrm>
            <a:off x="3312000" y="2627999"/>
            <a:ext cx="2592000" cy="324000"/>
          </a:xfrm>
          <a:prstGeom prst="rect">
            <a:avLst/>
          </a:prstGeom>
          <a:noFill/>
        </p:spPr>
        <p:txBody>
          <a:bodyPr wrap="square">
            <a:spAutoFit/>
          </a:bodyPr>
          <a:lstStyle/>
          <a:p>
            <a:pPr algn="l"/>
            <a:r>
              <a:rPr sz="950" b="0" i="1">
                <a:solidFill>
                  <a:srgbClr val="00C86E"/>
                </a:solidFill>
                <a:latin typeface="Calibri"/>
              </a:rPr>
              <a:t>Journalists
Activists  |  Dissidents</a:t>
            </a:r>
          </a:p>
        </p:txBody>
      </p:sp>
      <p:sp>
        <p:nvSpPr>
          <p:cNvPr id="18" name="Rectangle 17"/>
          <p:cNvSpPr/>
          <p:nvPr/>
        </p:nvSpPr>
        <p:spPr>
          <a:xfrm>
            <a:off x="6228000" y="1007999"/>
            <a:ext cx="2808000" cy="2232000"/>
          </a:xfrm>
          <a:prstGeom prst="rect">
            <a:avLst/>
          </a:prstGeom>
          <a:solidFill>
            <a:srgbClr val="0C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28000" y="1007999"/>
            <a:ext cx="2808000" cy="18000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622001" y="1133999"/>
            <a:ext cx="324000" cy="324000"/>
          </a:xfrm>
          <a:prstGeom prst="ellipse">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36000" y="1205999"/>
            <a:ext cx="1980000" cy="432000"/>
          </a:xfrm>
          <a:prstGeom prst="rect">
            <a:avLst/>
          </a:prstGeom>
          <a:noFill/>
        </p:spPr>
        <p:txBody>
          <a:bodyPr wrap="square">
            <a:spAutoFit/>
          </a:bodyPr>
          <a:lstStyle/>
          <a:p>
            <a:pPr algn="l"/>
            <a:r>
              <a:rPr sz="1400" b="1" i="0">
                <a:solidFill>
                  <a:srgbClr val="FF8C00"/>
                </a:solidFill>
                <a:latin typeface="Calibri"/>
              </a:rPr>
              <a:t>IoT &amp;
Smart Cities</a:t>
            </a:r>
          </a:p>
        </p:txBody>
      </p:sp>
      <p:sp>
        <p:nvSpPr>
          <p:cNvPr id="22" name="TextBox 21"/>
          <p:cNvSpPr txBox="1"/>
          <p:nvPr/>
        </p:nvSpPr>
        <p:spPr>
          <a:xfrm>
            <a:off x="6336000" y="1655999"/>
            <a:ext cx="2592000" cy="900000"/>
          </a:xfrm>
          <a:prstGeom prst="rect">
            <a:avLst/>
          </a:prstGeom>
          <a:noFill/>
        </p:spPr>
        <p:txBody>
          <a:bodyPr wrap="square">
            <a:spAutoFit/>
          </a:bodyPr>
          <a:lstStyle/>
          <a:p>
            <a:pPr algn="l"/>
            <a:r>
              <a:rPr sz="1050" b="0" i="0">
                <a:solidFill>
                  <a:srgbClr val="FFFFFF"/>
                </a:solidFill>
                <a:latin typeface="Calibri"/>
              </a:rPr>
              <a:t>Billions of sensors reporting
without SIM cards or ISPs.
LoRa covers 10+ km per gateway.</a:t>
            </a:r>
          </a:p>
        </p:txBody>
      </p:sp>
      <p:sp>
        <p:nvSpPr>
          <p:cNvPr id="23" name="TextBox 22"/>
          <p:cNvSpPr txBox="1"/>
          <p:nvPr/>
        </p:nvSpPr>
        <p:spPr>
          <a:xfrm>
            <a:off x="6336000" y="2627999"/>
            <a:ext cx="2592000" cy="324000"/>
          </a:xfrm>
          <a:prstGeom prst="rect">
            <a:avLst/>
          </a:prstGeom>
          <a:noFill/>
        </p:spPr>
        <p:txBody>
          <a:bodyPr wrap="square">
            <a:spAutoFit/>
          </a:bodyPr>
          <a:lstStyle/>
          <a:p>
            <a:pPr algn="l"/>
            <a:r>
              <a:rPr sz="950" b="0" i="1">
                <a:solidFill>
                  <a:srgbClr val="FF8C00"/>
                </a:solidFill>
                <a:latin typeface="Calibri"/>
              </a:rPr>
              <a:t>Agriculture
Infrastructure  |  Logistics</a:t>
            </a:r>
          </a:p>
        </p:txBody>
      </p:sp>
      <p:sp>
        <p:nvSpPr>
          <p:cNvPr id="24" name="Rectangle 23"/>
          <p:cNvSpPr/>
          <p:nvPr/>
        </p:nvSpPr>
        <p:spPr>
          <a:xfrm>
            <a:off x="9252000" y="1007999"/>
            <a:ext cx="2808000" cy="2232000"/>
          </a:xfrm>
          <a:prstGeom prst="rect">
            <a:avLst/>
          </a:prstGeom>
          <a:solidFill>
            <a:srgbClr val="0C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252000" y="1007999"/>
            <a:ext cx="2808000" cy="1800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1646001" y="1133999"/>
            <a:ext cx="324000" cy="324000"/>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60000" y="1205999"/>
            <a:ext cx="1980000" cy="432000"/>
          </a:xfrm>
          <a:prstGeom prst="rect">
            <a:avLst/>
          </a:prstGeom>
          <a:noFill/>
        </p:spPr>
        <p:txBody>
          <a:bodyPr wrap="square">
            <a:spAutoFit/>
          </a:bodyPr>
          <a:lstStyle/>
          <a:p>
            <a:pPr algn="l"/>
            <a:r>
              <a:rPr sz="1400" b="1" i="0">
                <a:solidFill>
                  <a:srgbClr val="FFD700"/>
                </a:solidFill>
                <a:latin typeface="Calibri"/>
              </a:rPr>
              <a:t>Privacy-
First Apps</a:t>
            </a:r>
          </a:p>
        </p:txBody>
      </p:sp>
      <p:sp>
        <p:nvSpPr>
          <p:cNvPr id="28" name="TextBox 27"/>
          <p:cNvSpPr txBox="1"/>
          <p:nvPr/>
        </p:nvSpPr>
        <p:spPr>
          <a:xfrm>
            <a:off x="9360000" y="1655999"/>
            <a:ext cx="2592000" cy="900000"/>
          </a:xfrm>
          <a:prstGeom prst="rect">
            <a:avLst/>
          </a:prstGeom>
          <a:noFill/>
        </p:spPr>
        <p:txBody>
          <a:bodyPr wrap="square">
            <a:spAutoFit/>
          </a:bodyPr>
          <a:lstStyle/>
          <a:p>
            <a:pPr algn="l"/>
            <a:r>
              <a:rPr sz="1050" b="0" i="0">
                <a:solidFill>
                  <a:srgbClr val="FFFFFF"/>
                </a:solidFill>
                <a:latin typeface="Calibri"/>
              </a:rPr>
              <a:t>Messaging, payments, and
identity without revealing
IP address or personal data.</a:t>
            </a:r>
          </a:p>
        </p:txBody>
      </p:sp>
      <p:sp>
        <p:nvSpPr>
          <p:cNvPr id="29" name="TextBox 28"/>
          <p:cNvSpPr txBox="1"/>
          <p:nvPr/>
        </p:nvSpPr>
        <p:spPr>
          <a:xfrm>
            <a:off x="9360000" y="2627999"/>
            <a:ext cx="2592000" cy="324000"/>
          </a:xfrm>
          <a:prstGeom prst="rect">
            <a:avLst/>
          </a:prstGeom>
          <a:noFill/>
        </p:spPr>
        <p:txBody>
          <a:bodyPr wrap="square">
            <a:spAutoFit/>
          </a:bodyPr>
          <a:lstStyle/>
          <a:p>
            <a:pPr algn="l"/>
            <a:r>
              <a:rPr sz="950" b="0" i="1">
                <a:solidFill>
                  <a:srgbClr val="FFD700"/>
                </a:solidFill>
                <a:latin typeface="Calibri"/>
              </a:rPr>
              <a:t>Financial Privacy
Secure Comms  |  Web3</a:t>
            </a:r>
          </a:p>
        </p:txBody>
      </p:sp>
      <p:sp>
        <p:nvSpPr>
          <p:cNvPr id="30" name="Rectangle 29"/>
          <p:cNvSpPr/>
          <p:nvPr/>
        </p:nvSpPr>
        <p:spPr>
          <a:xfrm>
            <a:off x="180000" y="3528000"/>
            <a:ext cx="2808000" cy="2232000"/>
          </a:xfrm>
          <a:prstGeom prst="rect">
            <a:avLst/>
          </a:prstGeom>
          <a:solidFill>
            <a:srgbClr val="0C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80000" y="3528000"/>
            <a:ext cx="2808000" cy="180000"/>
          </a:xfrm>
          <a:prstGeom prst="rect">
            <a:avLst/>
          </a:prstGeom>
          <a:solidFill>
            <a:srgbClr val="804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2574001" y="3654000"/>
            <a:ext cx="324000" cy="324000"/>
          </a:xfrm>
          <a:prstGeom prst="ellipse">
            <a:avLst/>
          </a:prstGeom>
          <a:solidFill>
            <a:srgbClr val="804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88000" y="3726000"/>
            <a:ext cx="1980000" cy="432000"/>
          </a:xfrm>
          <a:prstGeom prst="rect">
            <a:avLst/>
          </a:prstGeom>
          <a:noFill/>
        </p:spPr>
        <p:txBody>
          <a:bodyPr wrap="square">
            <a:spAutoFit/>
          </a:bodyPr>
          <a:lstStyle/>
          <a:p>
            <a:pPr algn="l"/>
            <a:r>
              <a:rPr sz="1400" b="1" i="0">
                <a:solidFill>
                  <a:srgbClr val="8040C0"/>
                </a:solidFill>
                <a:latin typeface="Calibri"/>
              </a:rPr>
              <a:t>Offshore &amp;
Maritime</a:t>
            </a:r>
          </a:p>
        </p:txBody>
      </p:sp>
      <p:sp>
        <p:nvSpPr>
          <p:cNvPr id="34" name="TextBox 33"/>
          <p:cNvSpPr txBox="1"/>
          <p:nvPr/>
        </p:nvSpPr>
        <p:spPr>
          <a:xfrm>
            <a:off x="288000" y="4176000"/>
            <a:ext cx="2592000" cy="900000"/>
          </a:xfrm>
          <a:prstGeom prst="rect">
            <a:avLst/>
          </a:prstGeom>
          <a:noFill/>
        </p:spPr>
        <p:txBody>
          <a:bodyPr wrap="square">
            <a:spAutoFit/>
          </a:bodyPr>
          <a:lstStyle/>
          <a:p>
            <a:pPr algn="l"/>
            <a:r>
              <a:rPr sz="1050" b="0" i="0">
                <a:solidFill>
                  <a:srgbClr val="FFFFFF"/>
                </a:solidFill>
                <a:latin typeface="Calibri"/>
              </a:rPr>
              <a:t>Ships and remote platforms
with LoRa coverage over
hundreds of km of open sea.</a:t>
            </a:r>
          </a:p>
        </p:txBody>
      </p:sp>
      <p:sp>
        <p:nvSpPr>
          <p:cNvPr id="35" name="TextBox 34"/>
          <p:cNvSpPr txBox="1"/>
          <p:nvPr/>
        </p:nvSpPr>
        <p:spPr>
          <a:xfrm>
            <a:off x="288000" y="5148000"/>
            <a:ext cx="2592000" cy="324000"/>
          </a:xfrm>
          <a:prstGeom prst="rect">
            <a:avLst/>
          </a:prstGeom>
          <a:noFill/>
        </p:spPr>
        <p:txBody>
          <a:bodyPr wrap="square">
            <a:spAutoFit/>
          </a:bodyPr>
          <a:lstStyle/>
          <a:p>
            <a:pPr algn="l"/>
            <a:r>
              <a:rPr sz="950" b="0" i="1">
                <a:solidFill>
                  <a:srgbClr val="8040C0"/>
                </a:solidFill>
                <a:latin typeface="Calibri"/>
              </a:rPr>
              <a:t>Shipping
Fishing  |  Energy</a:t>
            </a:r>
          </a:p>
        </p:txBody>
      </p:sp>
      <p:sp>
        <p:nvSpPr>
          <p:cNvPr id="36" name="Rectangle 35"/>
          <p:cNvSpPr/>
          <p:nvPr/>
        </p:nvSpPr>
        <p:spPr>
          <a:xfrm>
            <a:off x="3204000" y="3528000"/>
            <a:ext cx="2808000" cy="2232000"/>
          </a:xfrm>
          <a:prstGeom prst="rect">
            <a:avLst/>
          </a:prstGeom>
          <a:solidFill>
            <a:srgbClr val="0C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204000" y="3528000"/>
            <a:ext cx="2808000" cy="18000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5598001" y="3654000"/>
            <a:ext cx="324000" cy="324000"/>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312000" y="3726000"/>
            <a:ext cx="1980000" cy="432000"/>
          </a:xfrm>
          <a:prstGeom prst="rect">
            <a:avLst/>
          </a:prstGeom>
          <a:noFill/>
        </p:spPr>
        <p:txBody>
          <a:bodyPr wrap="square">
            <a:spAutoFit/>
          </a:bodyPr>
          <a:lstStyle/>
          <a:p>
            <a:pPr algn="l"/>
            <a:r>
              <a:rPr sz="1400" b="1" i="0">
                <a:solidFill>
                  <a:srgbClr val="00D4FF"/>
                </a:solidFill>
                <a:latin typeface="Calibri"/>
              </a:rPr>
              <a:t>National
Security</a:t>
            </a:r>
          </a:p>
        </p:txBody>
      </p:sp>
      <p:sp>
        <p:nvSpPr>
          <p:cNvPr id="40" name="TextBox 39"/>
          <p:cNvSpPr txBox="1"/>
          <p:nvPr/>
        </p:nvSpPr>
        <p:spPr>
          <a:xfrm>
            <a:off x="3312000" y="4176000"/>
            <a:ext cx="2592000" cy="900000"/>
          </a:xfrm>
          <a:prstGeom prst="rect">
            <a:avLst/>
          </a:prstGeom>
          <a:noFill/>
        </p:spPr>
        <p:txBody>
          <a:bodyPr wrap="square">
            <a:spAutoFit/>
          </a:bodyPr>
          <a:lstStyle/>
          <a:p>
            <a:pPr algn="l"/>
            <a:r>
              <a:rPr sz="1050" b="0" i="0">
                <a:solidFill>
                  <a:srgbClr val="FFFFFF"/>
                </a:solidFill>
                <a:latin typeface="Calibri"/>
              </a:rPr>
              <a:t>Resilient backup comms
that survive infrastructure
attacks or EMP events.</a:t>
            </a:r>
          </a:p>
        </p:txBody>
      </p:sp>
      <p:sp>
        <p:nvSpPr>
          <p:cNvPr id="41" name="TextBox 40"/>
          <p:cNvSpPr txBox="1"/>
          <p:nvPr/>
        </p:nvSpPr>
        <p:spPr>
          <a:xfrm>
            <a:off x="3312000" y="5148000"/>
            <a:ext cx="2592000" cy="324000"/>
          </a:xfrm>
          <a:prstGeom prst="rect">
            <a:avLst/>
          </a:prstGeom>
          <a:noFill/>
        </p:spPr>
        <p:txBody>
          <a:bodyPr wrap="square">
            <a:spAutoFit/>
          </a:bodyPr>
          <a:lstStyle/>
          <a:p>
            <a:pPr algn="l"/>
            <a:r>
              <a:rPr sz="950" b="0" i="1">
                <a:solidFill>
                  <a:srgbClr val="00D4FF"/>
                </a:solidFill>
                <a:latin typeface="Calibri"/>
              </a:rPr>
              <a:t>Government
Defence  |  Intelligence</a:t>
            </a:r>
          </a:p>
        </p:txBody>
      </p:sp>
      <p:sp>
        <p:nvSpPr>
          <p:cNvPr id="42" name="Rectangle 41"/>
          <p:cNvSpPr/>
          <p:nvPr/>
        </p:nvSpPr>
        <p:spPr>
          <a:xfrm>
            <a:off x="6228000" y="3528000"/>
            <a:ext cx="2808000" cy="2232000"/>
          </a:xfrm>
          <a:prstGeom prst="rect">
            <a:avLst/>
          </a:prstGeom>
          <a:solidFill>
            <a:srgbClr val="0C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28000" y="3528000"/>
            <a:ext cx="2808000" cy="180000"/>
          </a:xfrm>
          <a:prstGeom prst="rect">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622001" y="3654000"/>
            <a:ext cx="324000" cy="3240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36000" y="3726000"/>
            <a:ext cx="1980000" cy="432000"/>
          </a:xfrm>
          <a:prstGeom prst="rect">
            <a:avLst/>
          </a:prstGeom>
          <a:noFill/>
        </p:spPr>
        <p:txBody>
          <a:bodyPr wrap="square">
            <a:spAutoFit/>
          </a:bodyPr>
          <a:lstStyle/>
          <a:p>
            <a:pPr algn="l"/>
            <a:r>
              <a:rPr sz="1400" b="1" i="0">
                <a:solidFill>
                  <a:srgbClr val="00C86E"/>
                </a:solidFill>
                <a:latin typeface="Calibri"/>
              </a:rPr>
              <a:t>Rural
Connectivity</a:t>
            </a:r>
          </a:p>
        </p:txBody>
      </p:sp>
      <p:sp>
        <p:nvSpPr>
          <p:cNvPr id="46" name="TextBox 45"/>
          <p:cNvSpPr txBox="1"/>
          <p:nvPr/>
        </p:nvSpPr>
        <p:spPr>
          <a:xfrm>
            <a:off x="6336000" y="4176000"/>
            <a:ext cx="2592000" cy="900000"/>
          </a:xfrm>
          <a:prstGeom prst="rect">
            <a:avLst/>
          </a:prstGeom>
          <a:noFill/>
        </p:spPr>
        <p:txBody>
          <a:bodyPr wrap="square">
            <a:spAutoFit/>
          </a:bodyPr>
          <a:lstStyle/>
          <a:p>
            <a:pPr algn="l"/>
            <a:r>
              <a:rPr sz="1050" b="0" i="0">
                <a:solidFill>
                  <a:srgbClr val="FFFFFF"/>
                </a:solidFill>
                <a:latin typeface="Calibri"/>
              </a:rPr>
              <a:t>Bring internet-like services
to areas with no mobile
coverage at near-zero cost.</a:t>
            </a:r>
          </a:p>
        </p:txBody>
      </p:sp>
      <p:sp>
        <p:nvSpPr>
          <p:cNvPr id="47" name="TextBox 46"/>
          <p:cNvSpPr txBox="1"/>
          <p:nvPr/>
        </p:nvSpPr>
        <p:spPr>
          <a:xfrm>
            <a:off x="6336000" y="5148000"/>
            <a:ext cx="2592000" cy="324000"/>
          </a:xfrm>
          <a:prstGeom prst="rect">
            <a:avLst/>
          </a:prstGeom>
          <a:noFill/>
        </p:spPr>
        <p:txBody>
          <a:bodyPr wrap="square">
            <a:spAutoFit/>
          </a:bodyPr>
          <a:lstStyle/>
          <a:p>
            <a:pPr algn="l"/>
            <a:r>
              <a:rPr sz="950" b="0" i="1">
                <a:solidFill>
                  <a:srgbClr val="00C86E"/>
                </a:solidFill>
                <a:latin typeface="Calibri"/>
              </a:rPr>
              <a:t>Rural Communities
Developing Nations</a:t>
            </a:r>
          </a:p>
        </p:txBody>
      </p:sp>
      <p:sp>
        <p:nvSpPr>
          <p:cNvPr id="48" name="Rectangle 47"/>
          <p:cNvSpPr/>
          <p:nvPr/>
        </p:nvSpPr>
        <p:spPr>
          <a:xfrm>
            <a:off x="9252000" y="3528000"/>
            <a:ext cx="2808000" cy="2232000"/>
          </a:xfrm>
          <a:prstGeom prst="rect">
            <a:avLst/>
          </a:prstGeom>
          <a:solidFill>
            <a:srgbClr val="0C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9252000" y="3528000"/>
            <a:ext cx="2808000" cy="180000"/>
          </a:xfrm>
          <a:prstGeom prst="rect">
            <a:avLst/>
          </a:prstGeom>
          <a:solidFill>
            <a:srgbClr val="E8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1646001" y="3654000"/>
            <a:ext cx="324000" cy="324000"/>
          </a:xfrm>
          <a:prstGeom prst="ellipse">
            <a:avLst/>
          </a:prstGeom>
          <a:solidFill>
            <a:srgbClr val="E8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360000" y="3726000"/>
            <a:ext cx="1980000" cy="432000"/>
          </a:xfrm>
          <a:prstGeom prst="rect">
            <a:avLst/>
          </a:prstGeom>
          <a:noFill/>
        </p:spPr>
        <p:txBody>
          <a:bodyPr wrap="square">
            <a:spAutoFit/>
          </a:bodyPr>
          <a:lstStyle/>
          <a:p>
            <a:pPr algn="l"/>
            <a:r>
              <a:rPr sz="1400" b="1" i="0">
                <a:solidFill>
                  <a:srgbClr val="E82040"/>
                </a:solidFill>
                <a:latin typeface="Calibri"/>
              </a:rPr>
              <a:t>Critical
Infrastructure</a:t>
            </a:r>
          </a:p>
        </p:txBody>
      </p:sp>
      <p:sp>
        <p:nvSpPr>
          <p:cNvPr id="52" name="TextBox 51"/>
          <p:cNvSpPr txBox="1"/>
          <p:nvPr/>
        </p:nvSpPr>
        <p:spPr>
          <a:xfrm>
            <a:off x="9360000" y="4176000"/>
            <a:ext cx="2592000" cy="900000"/>
          </a:xfrm>
          <a:prstGeom prst="rect">
            <a:avLst/>
          </a:prstGeom>
          <a:noFill/>
        </p:spPr>
        <p:txBody>
          <a:bodyPr wrap="square">
            <a:spAutoFit/>
          </a:bodyPr>
          <a:lstStyle/>
          <a:p>
            <a:pPr algn="l"/>
            <a:r>
              <a:rPr sz="1050" b="0" i="0">
                <a:solidFill>
                  <a:srgbClr val="FFFFFF"/>
                </a:solidFill>
                <a:latin typeface="Calibri"/>
              </a:rPr>
              <a:t>Power grids, water systems,
transport networks with
censorship-proof control planes.</a:t>
            </a:r>
          </a:p>
        </p:txBody>
      </p:sp>
      <p:sp>
        <p:nvSpPr>
          <p:cNvPr id="53" name="TextBox 52"/>
          <p:cNvSpPr txBox="1"/>
          <p:nvPr/>
        </p:nvSpPr>
        <p:spPr>
          <a:xfrm>
            <a:off x="9360000" y="5148000"/>
            <a:ext cx="2592000" cy="324000"/>
          </a:xfrm>
          <a:prstGeom prst="rect">
            <a:avLst/>
          </a:prstGeom>
          <a:noFill/>
        </p:spPr>
        <p:txBody>
          <a:bodyPr wrap="square">
            <a:spAutoFit/>
          </a:bodyPr>
          <a:lstStyle/>
          <a:p>
            <a:pPr algn="l"/>
            <a:r>
              <a:rPr sz="950" b="0" i="1">
                <a:solidFill>
                  <a:srgbClr val="E82040"/>
                </a:solidFill>
                <a:latin typeface="Calibri"/>
              </a:rPr>
              <a:t>Utilities
Transport  |  Industry</a:t>
            </a:r>
          </a:p>
        </p:txBody>
      </p:sp>
      <p:sp>
        <p:nvSpPr>
          <p:cNvPr id="54" name="Rectangle 53"/>
          <p:cNvSpPr/>
          <p:nvPr/>
        </p:nvSpPr>
        <p:spPr>
          <a:xfrm>
            <a:off x="0" y="6534000"/>
            <a:ext cx="12193200" cy="324000"/>
          </a:xfrm>
          <a:prstGeom prst="rect">
            <a:avLst/>
          </a:prstGeom>
          <a:solidFill>
            <a:srgbClr val="0F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60000" y="6552000"/>
            <a:ext cx="11473200" cy="288000"/>
          </a:xfrm>
          <a:prstGeom prst="rect">
            <a:avLst/>
          </a:prstGeom>
          <a:noFill/>
        </p:spPr>
        <p:txBody>
          <a:bodyPr wrap="square">
            <a:spAutoFit/>
          </a:bodyPr>
          <a:lstStyle/>
          <a:p>
            <a:pPr algn="ctr"/>
            <a:r>
              <a:rPr sz="1000" b="0" i="0">
                <a:solidFill>
                  <a:srgbClr val="B0C4DE"/>
                </a:solidFill>
                <a:latin typeface="Calibri"/>
              </a:rPr>
              <a:t>MegaNet MVP  |  Executive Briefing  |  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42A"/>
        </a:solidFill>
        <a:effectLst/>
      </p:bgPr>
    </p:bg>
    <p:spTree>
      <p:nvGrpSpPr>
        <p:cNvPr id="1" name=""/>
        <p:cNvGrpSpPr/>
        <p:nvPr/>
      </p:nvGrpSpPr>
      <p:grpSpPr/>
      <p:sp>
        <p:nvSpPr>
          <p:cNvPr id="2" name="Rectangle 1"/>
          <p:cNvSpPr/>
          <p:nvPr/>
        </p:nvSpPr>
        <p:spPr>
          <a:xfrm>
            <a:off x="0" y="0"/>
            <a:ext cx="12193200" cy="864000"/>
          </a:xfrm>
          <a:prstGeom prst="rect">
            <a:avLst/>
          </a:prstGeom>
          <a:solidFill>
            <a:srgbClr val="0F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4000"/>
            <a:ext cx="12193200" cy="54000"/>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0000" y="90000"/>
            <a:ext cx="11473200" cy="576000"/>
          </a:xfrm>
          <a:prstGeom prst="rect">
            <a:avLst/>
          </a:prstGeom>
          <a:noFill/>
        </p:spPr>
        <p:txBody>
          <a:bodyPr wrap="square">
            <a:spAutoFit/>
          </a:bodyPr>
          <a:lstStyle/>
          <a:p>
            <a:pPr algn="l"/>
            <a:r>
              <a:rPr sz="2600" b="1" i="0">
                <a:solidFill>
                  <a:srgbClr val="FFFFFF"/>
                </a:solidFill>
                <a:latin typeface="Calibri"/>
              </a:rPr>
              <a:t>Key Metrics &amp; Performance</a:t>
            </a:r>
          </a:p>
        </p:txBody>
      </p:sp>
      <p:sp>
        <p:nvSpPr>
          <p:cNvPr id="5" name="TextBox 4"/>
          <p:cNvSpPr txBox="1"/>
          <p:nvPr/>
        </p:nvSpPr>
        <p:spPr>
          <a:xfrm>
            <a:off x="360000" y="558000"/>
            <a:ext cx="11473200" cy="324000"/>
          </a:xfrm>
          <a:prstGeom prst="rect">
            <a:avLst/>
          </a:prstGeom>
          <a:noFill/>
        </p:spPr>
        <p:txBody>
          <a:bodyPr wrap="square">
            <a:spAutoFit/>
          </a:bodyPr>
          <a:lstStyle/>
          <a:p>
            <a:pPr algn="l"/>
            <a:r>
              <a:rPr sz="1300" b="0" i="0">
                <a:solidFill>
                  <a:srgbClr val="00D4FF"/>
                </a:solidFill>
                <a:latin typeface="Calibri"/>
              </a:rPr>
              <a:t>What the MVP achieves — measured, verified</a:t>
            </a:r>
          </a:p>
        </p:txBody>
      </p:sp>
      <p:sp>
        <p:nvSpPr>
          <p:cNvPr id="6" name="Rectangle 5"/>
          <p:cNvSpPr/>
          <p:nvPr/>
        </p:nvSpPr>
        <p:spPr>
          <a:xfrm>
            <a:off x="180000" y="972000"/>
            <a:ext cx="2808000" cy="1440000"/>
          </a:xfrm>
          <a:prstGeom prst="rect">
            <a:avLst/>
          </a:prstGeom>
          <a:solidFill>
            <a:srgbClr val="0C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0000" y="972000"/>
            <a:ext cx="2808000" cy="64800"/>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0000" y="1116000"/>
            <a:ext cx="2808000" cy="648000"/>
          </a:xfrm>
          <a:prstGeom prst="rect">
            <a:avLst/>
          </a:prstGeom>
          <a:noFill/>
        </p:spPr>
        <p:txBody>
          <a:bodyPr wrap="square">
            <a:spAutoFit/>
          </a:bodyPr>
          <a:lstStyle/>
          <a:p>
            <a:pPr algn="ctr"/>
            <a:r>
              <a:rPr sz="4400" b="1" i="0">
                <a:solidFill>
                  <a:srgbClr val="008CFF"/>
                </a:solidFill>
                <a:latin typeface="Calibri"/>
              </a:rPr>
              <a:t>42</a:t>
            </a:r>
          </a:p>
        </p:txBody>
      </p:sp>
      <p:sp>
        <p:nvSpPr>
          <p:cNvPr id="9" name="TextBox 8"/>
          <p:cNvSpPr txBox="1"/>
          <p:nvPr/>
        </p:nvSpPr>
        <p:spPr>
          <a:xfrm>
            <a:off x="180000" y="1764000"/>
            <a:ext cx="2808000" cy="324000"/>
          </a:xfrm>
          <a:prstGeom prst="rect">
            <a:avLst/>
          </a:prstGeom>
          <a:noFill/>
        </p:spPr>
        <p:txBody>
          <a:bodyPr wrap="square">
            <a:spAutoFit/>
          </a:bodyPr>
          <a:lstStyle/>
          <a:p>
            <a:pPr algn="ctr"/>
            <a:r>
              <a:rPr sz="1200" b="1" i="0">
                <a:solidFill>
                  <a:srgbClr val="FFFFFF"/>
                </a:solidFill>
                <a:latin typeface="Calibri"/>
              </a:rPr>
              <a:t>Unit Tests
Passing</a:t>
            </a:r>
          </a:p>
        </p:txBody>
      </p:sp>
      <p:sp>
        <p:nvSpPr>
          <p:cNvPr id="10" name="TextBox 9"/>
          <p:cNvSpPr txBox="1"/>
          <p:nvPr/>
        </p:nvSpPr>
        <p:spPr>
          <a:xfrm>
            <a:off x="180000" y="2088000"/>
            <a:ext cx="2808000" cy="216000"/>
          </a:xfrm>
          <a:prstGeom prst="rect">
            <a:avLst/>
          </a:prstGeom>
          <a:noFill/>
        </p:spPr>
        <p:txBody>
          <a:bodyPr wrap="square">
            <a:spAutoFit/>
          </a:bodyPr>
          <a:lstStyle/>
          <a:p>
            <a:pPr algn="ctr"/>
            <a:r>
              <a:rPr sz="1000" b="0" i="1">
                <a:solidFill>
                  <a:srgbClr val="B0C4DE"/>
                </a:solidFill>
                <a:latin typeface="Calibri"/>
              </a:rPr>
              <a:t>100% pass rate</a:t>
            </a:r>
          </a:p>
        </p:txBody>
      </p:sp>
      <p:sp>
        <p:nvSpPr>
          <p:cNvPr id="11" name="Rectangle 10"/>
          <p:cNvSpPr/>
          <p:nvPr/>
        </p:nvSpPr>
        <p:spPr>
          <a:xfrm>
            <a:off x="3131999" y="972000"/>
            <a:ext cx="2808000" cy="1440000"/>
          </a:xfrm>
          <a:prstGeom prst="rect">
            <a:avLst/>
          </a:prstGeom>
          <a:solidFill>
            <a:srgbClr val="0C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131999" y="972000"/>
            <a:ext cx="2808000" cy="64800"/>
          </a:xfrm>
          <a:prstGeom prst="rect">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31999" y="1116000"/>
            <a:ext cx="2808000" cy="648000"/>
          </a:xfrm>
          <a:prstGeom prst="rect">
            <a:avLst/>
          </a:prstGeom>
          <a:noFill/>
        </p:spPr>
        <p:txBody>
          <a:bodyPr wrap="square">
            <a:spAutoFit/>
          </a:bodyPr>
          <a:lstStyle/>
          <a:p>
            <a:pPr algn="ctr"/>
            <a:r>
              <a:rPr sz="4400" b="1" i="0">
                <a:solidFill>
                  <a:srgbClr val="00C86E"/>
                </a:solidFill>
                <a:latin typeface="Calibri"/>
              </a:rPr>
              <a:t>0.16s</a:t>
            </a:r>
          </a:p>
        </p:txBody>
      </p:sp>
      <p:sp>
        <p:nvSpPr>
          <p:cNvPr id="14" name="TextBox 13"/>
          <p:cNvSpPr txBox="1"/>
          <p:nvPr/>
        </p:nvSpPr>
        <p:spPr>
          <a:xfrm>
            <a:off x="3131999" y="1764000"/>
            <a:ext cx="2808000" cy="324000"/>
          </a:xfrm>
          <a:prstGeom prst="rect">
            <a:avLst/>
          </a:prstGeom>
          <a:noFill/>
        </p:spPr>
        <p:txBody>
          <a:bodyPr wrap="square">
            <a:spAutoFit/>
          </a:bodyPr>
          <a:lstStyle/>
          <a:p>
            <a:pPr algn="ctr"/>
            <a:r>
              <a:rPr sz="1200" b="1" i="0">
                <a:solidFill>
                  <a:srgbClr val="FFFFFF"/>
                </a:solidFill>
                <a:latin typeface="Calibri"/>
              </a:rPr>
              <a:t>Full Test
Suite Runtime</a:t>
            </a:r>
          </a:p>
        </p:txBody>
      </p:sp>
      <p:sp>
        <p:nvSpPr>
          <p:cNvPr id="15" name="TextBox 14"/>
          <p:cNvSpPr txBox="1"/>
          <p:nvPr/>
        </p:nvSpPr>
        <p:spPr>
          <a:xfrm>
            <a:off x="3131999" y="2088000"/>
            <a:ext cx="2808000" cy="216000"/>
          </a:xfrm>
          <a:prstGeom prst="rect">
            <a:avLst/>
          </a:prstGeom>
          <a:noFill/>
        </p:spPr>
        <p:txBody>
          <a:bodyPr wrap="square">
            <a:spAutoFit/>
          </a:bodyPr>
          <a:lstStyle/>
          <a:p>
            <a:pPr algn="ctr"/>
            <a:r>
              <a:rPr sz="1000" b="0" i="1">
                <a:solidFill>
                  <a:srgbClr val="B0C4DE"/>
                </a:solidFill>
                <a:latin typeface="Calibri"/>
              </a:rPr>
              <a:t>No hardware needed</a:t>
            </a:r>
          </a:p>
        </p:txBody>
      </p:sp>
      <p:sp>
        <p:nvSpPr>
          <p:cNvPr id="16" name="Rectangle 15"/>
          <p:cNvSpPr/>
          <p:nvPr/>
        </p:nvSpPr>
        <p:spPr>
          <a:xfrm>
            <a:off x="6083999" y="972000"/>
            <a:ext cx="2808000" cy="1440000"/>
          </a:xfrm>
          <a:prstGeom prst="rect">
            <a:avLst/>
          </a:prstGeom>
          <a:solidFill>
            <a:srgbClr val="0C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083999" y="972000"/>
            <a:ext cx="2808000" cy="6480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83999" y="1116000"/>
            <a:ext cx="2808000" cy="648000"/>
          </a:xfrm>
          <a:prstGeom prst="rect">
            <a:avLst/>
          </a:prstGeom>
          <a:noFill/>
        </p:spPr>
        <p:txBody>
          <a:bodyPr wrap="square">
            <a:spAutoFit/>
          </a:bodyPr>
          <a:lstStyle/>
          <a:p>
            <a:pPr algn="ctr"/>
            <a:r>
              <a:rPr sz="4400" b="1" i="0">
                <a:solidFill>
                  <a:srgbClr val="FF8C00"/>
                </a:solidFill>
                <a:latin typeface="Calibri"/>
              </a:rPr>
              <a:t>~1ms</a:t>
            </a:r>
          </a:p>
        </p:txBody>
      </p:sp>
      <p:sp>
        <p:nvSpPr>
          <p:cNvPr id="19" name="TextBox 18"/>
          <p:cNvSpPr txBox="1"/>
          <p:nvPr/>
        </p:nvSpPr>
        <p:spPr>
          <a:xfrm>
            <a:off x="6083999" y="1764000"/>
            <a:ext cx="2808000" cy="324000"/>
          </a:xfrm>
          <a:prstGeom prst="rect">
            <a:avLst/>
          </a:prstGeom>
          <a:noFill/>
        </p:spPr>
        <p:txBody>
          <a:bodyPr wrap="square">
            <a:spAutoFit/>
          </a:bodyPr>
          <a:lstStyle/>
          <a:p>
            <a:pPr algn="ctr"/>
            <a:r>
              <a:rPr sz="1200" b="1" i="0">
                <a:solidFill>
                  <a:srgbClr val="FFFFFF"/>
                </a:solidFill>
                <a:latin typeface="Calibri"/>
              </a:rPr>
              <a:t>Block
Mine Time</a:t>
            </a:r>
          </a:p>
        </p:txBody>
      </p:sp>
      <p:sp>
        <p:nvSpPr>
          <p:cNvPr id="20" name="TextBox 19"/>
          <p:cNvSpPr txBox="1"/>
          <p:nvPr/>
        </p:nvSpPr>
        <p:spPr>
          <a:xfrm>
            <a:off x="6083999" y="2088000"/>
            <a:ext cx="2808000" cy="216000"/>
          </a:xfrm>
          <a:prstGeom prst="rect">
            <a:avLst/>
          </a:prstGeom>
          <a:noFill/>
        </p:spPr>
        <p:txBody>
          <a:bodyPr wrap="square">
            <a:spAutoFit/>
          </a:bodyPr>
          <a:lstStyle/>
          <a:p>
            <a:pPr algn="ctr"/>
            <a:r>
              <a:rPr sz="1000" b="0" i="1">
                <a:solidFill>
                  <a:srgbClr val="B0C4DE"/>
                </a:solidFill>
                <a:latin typeface="Calibri"/>
              </a:rPr>
              <a:t>PoW difficulty=2</a:t>
            </a:r>
          </a:p>
        </p:txBody>
      </p:sp>
      <p:sp>
        <p:nvSpPr>
          <p:cNvPr id="21" name="Rectangle 20"/>
          <p:cNvSpPr/>
          <p:nvPr/>
        </p:nvSpPr>
        <p:spPr>
          <a:xfrm>
            <a:off x="9036000" y="972000"/>
            <a:ext cx="2808000" cy="1440000"/>
          </a:xfrm>
          <a:prstGeom prst="rect">
            <a:avLst/>
          </a:prstGeom>
          <a:solidFill>
            <a:srgbClr val="0C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36000" y="972000"/>
            <a:ext cx="2808000" cy="6480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36000" y="1116000"/>
            <a:ext cx="2808000" cy="648000"/>
          </a:xfrm>
          <a:prstGeom prst="rect">
            <a:avLst/>
          </a:prstGeom>
          <a:noFill/>
        </p:spPr>
        <p:txBody>
          <a:bodyPr wrap="square">
            <a:spAutoFit/>
          </a:bodyPr>
          <a:lstStyle/>
          <a:p>
            <a:pPr algn="ctr"/>
            <a:r>
              <a:rPr sz="4400" b="1" i="0">
                <a:solidFill>
                  <a:srgbClr val="00D4FF"/>
                </a:solidFill>
                <a:latin typeface="Calibri"/>
              </a:rPr>
              <a:t>203 B</a:t>
            </a:r>
          </a:p>
        </p:txBody>
      </p:sp>
      <p:sp>
        <p:nvSpPr>
          <p:cNvPr id="24" name="TextBox 23"/>
          <p:cNvSpPr txBox="1"/>
          <p:nvPr/>
        </p:nvSpPr>
        <p:spPr>
          <a:xfrm>
            <a:off x="9036000" y="1764000"/>
            <a:ext cx="2808000" cy="324000"/>
          </a:xfrm>
          <a:prstGeom prst="rect">
            <a:avLst/>
          </a:prstGeom>
          <a:noFill/>
        </p:spPr>
        <p:txBody>
          <a:bodyPr wrap="square">
            <a:spAutoFit/>
          </a:bodyPr>
          <a:lstStyle/>
          <a:p>
            <a:pPr algn="ctr"/>
            <a:r>
              <a:rPr sz="1200" b="1" i="0">
                <a:solidFill>
                  <a:srgbClr val="FFFFFF"/>
                </a:solidFill>
                <a:latin typeface="Calibri"/>
              </a:rPr>
              <a:t>Max Fragment
Size (SF7)</a:t>
            </a:r>
          </a:p>
        </p:txBody>
      </p:sp>
      <p:sp>
        <p:nvSpPr>
          <p:cNvPr id="25" name="TextBox 24"/>
          <p:cNvSpPr txBox="1"/>
          <p:nvPr/>
        </p:nvSpPr>
        <p:spPr>
          <a:xfrm>
            <a:off x="9036000" y="2088000"/>
            <a:ext cx="2808000" cy="216000"/>
          </a:xfrm>
          <a:prstGeom prst="rect">
            <a:avLst/>
          </a:prstGeom>
          <a:noFill/>
        </p:spPr>
        <p:txBody>
          <a:bodyPr wrap="square">
            <a:spAutoFit/>
          </a:bodyPr>
          <a:lstStyle/>
          <a:p>
            <a:pPr algn="ctr"/>
            <a:r>
              <a:rPr sz="1000" b="0" i="1">
                <a:solidFill>
                  <a:srgbClr val="B0C4DE"/>
                </a:solidFill>
                <a:latin typeface="Calibri"/>
              </a:rPr>
              <a:t>19B header overhead</a:t>
            </a:r>
          </a:p>
        </p:txBody>
      </p:sp>
      <p:graphicFrame>
        <p:nvGraphicFramePr>
          <p:cNvPr id="26" name="Chart 25"/>
          <p:cNvGraphicFramePr>
            <a:graphicFrameLocks noGrp="1"/>
          </p:cNvGraphicFramePr>
          <p:nvPr/>
        </p:nvGraphicFramePr>
        <p:xfrm>
          <a:off x="180000" y="2520000"/>
          <a:ext cx="5040000" cy="3240000"/>
        </p:xfrm>
        <a:graphic>
          <a:graphicData uri="http://schemas.openxmlformats.org/drawingml/2006/chart">
            <c:chart xmlns:c="http://schemas.openxmlformats.org/drawingml/2006/chart" r:id="rId2"/>
          </a:graphicData>
        </a:graphic>
      </p:graphicFrame>
      <p:sp>
        <p:nvSpPr>
          <p:cNvPr id="27" name="TextBox 26"/>
          <p:cNvSpPr txBox="1"/>
          <p:nvPr/>
        </p:nvSpPr>
        <p:spPr>
          <a:xfrm>
            <a:off x="288000" y="5436000"/>
            <a:ext cx="4320000" cy="324000"/>
          </a:xfrm>
          <a:prstGeom prst="rect">
            <a:avLst/>
          </a:prstGeom>
          <a:noFill/>
        </p:spPr>
        <p:txBody>
          <a:bodyPr wrap="square">
            <a:spAutoFit/>
          </a:bodyPr>
          <a:lstStyle/>
          <a:p>
            <a:pPr algn="l"/>
            <a:r>
              <a:rPr sz="1000" b="0" i="1">
                <a:solidFill>
                  <a:srgbClr val="00D4FF"/>
                </a:solidFill>
                <a:latin typeface="Calibri"/>
              </a:rPr>
              <a:t>SF7 sensitivity: -123 dBm
(-98 dBm @ 1km = +25 dBm margin!)</a:t>
            </a:r>
          </a:p>
        </p:txBody>
      </p:sp>
      <p:graphicFrame>
        <p:nvGraphicFramePr>
          <p:cNvPr id="28" name="Chart 27"/>
          <p:cNvGraphicFramePr>
            <a:graphicFrameLocks noGrp="1"/>
          </p:cNvGraphicFramePr>
          <p:nvPr/>
        </p:nvGraphicFramePr>
        <p:xfrm>
          <a:off x="5580000" y="2520000"/>
          <a:ext cx="6300000" cy="3240000"/>
        </p:xfrm>
        <a:graphic>
          <a:graphicData uri="http://schemas.openxmlformats.org/drawingml/2006/chart">
            <c:chart xmlns:c="http://schemas.openxmlformats.org/drawingml/2006/chart" r:id="rId3"/>
          </a:graphicData>
        </a:graphic>
      </p:graphicFrame>
      <p:sp>
        <p:nvSpPr>
          <p:cNvPr id="29" name="Rectangle 28"/>
          <p:cNvSpPr/>
          <p:nvPr/>
        </p:nvSpPr>
        <p:spPr>
          <a:xfrm>
            <a:off x="0" y="6534000"/>
            <a:ext cx="12193200" cy="324000"/>
          </a:xfrm>
          <a:prstGeom prst="rect">
            <a:avLst/>
          </a:prstGeom>
          <a:solidFill>
            <a:srgbClr val="0F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0000" y="6552000"/>
            <a:ext cx="11473200" cy="288000"/>
          </a:xfrm>
          <a:prstGeom prst="rect">
            <a:avLst/>
          </a:prstGeom>
          <a:noFill/>
        </p:spPr>
        <p:txBody>
          <a:bodyPr wrap="square">
            <a:spAutoFit/>
          </a:bodyPr>
          <a:lstStyle/>
          <a:p>
            <a:pPr algn="ctr"/>
            <a:r>
              <a:rPr sz="1000" b="0" i="0">
                <a:solidFill>
                  <a:srgbClr val="B0C4DE"/>
                </a:solidFill>
                <a:latin typeface="Calibri"/>
              </a:rPr>
              <a:t>MegaNet MVP  |  Executive Briefing  |  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42A"/>
        </a:solidFill>
        <a:effectLst/>
      </p:bgPr>
    </p:bg>
    <p:spTree>
      <p:nvGrpSpPr>
        <p:cNvPr id="1" name=""/>
        <p:cNvGrpSpPr/>
        <p:nvPr/>
      </p:nvGrpSpPr>
      <p:grpSpPr/>
      <p:sp>
        <p:nvSpPr>
          <p:cNvPr id="2" name="Rectangle 1"/>
          <p:cNvSpPr/>
          <p:nvPr/>
        </p:nvSpPr>
        <p:spPr>
          <a:xfrm>
            <a:off x="0" y="0"/>
            <a:ext cx="12193200" cy="864000"/>
          </a:xfrm>
          <a:prstGeom prst="rect">
            <a:avLst/>
          </a:prstGeom>
          <a:solidFill>
            <a:srgbClr val="0F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4000"/>
            <a:ext cx="12193200" cy="54000"/>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0000" y="90000"/>
            <a:ext cx="11473200" cy="576000"/>
          </a:xfrm>
          <a:prstGeom prst="rect">
            <a:avLst/>
          </a:prstGeom>
          <a:noFill/>
        </p:spPr>
        <p:txBody>
          <a:bodyPr wrap="square">
            <a:spAutoFit/>
          </a:bodyPr>
          <a:lstStyle/>
          <a:p>
            <a:pPr algn="l"/>
            <a:r>
              <a:rPr sz="2600" b="1" i="0">
                <a:solidFill>
                  <a:srgbClr val="FFFFFF"/>
                </a:solidFill>
                <a:latin typeface="Calibri"/>
              </a:rPr>
              <a:t>Roadmap</a:t>
            </a:r>
          </a:p>
        </p:txBody>
      </p:sp>
      <p:sp>
        <p:nvSpPr>
          <p:cNvPr id="5" name="TextBox 4"/>
          <p:cNvSpPr txBox="1"/>
          <p:nvPr/>
        </p:nvSpPr>
        <p:spPr>
          <a:xfrm>
            <a:off x="360000" y="558000"/>
            <a:ext cx="11473200" cy="324000"/>
          </a:xfrm>
          <a:prstGeom prst="rect">
            <a:avLst/>
          </a:prstGeom>
          <a:noFill/>
        </p:spPr>
        <p:txBody>
          <a:bodyPr wrap="square">
            <a:spAutoFit/>
          </a:bodyPr>
          <a:lstStyle/>
          <a:p>
            <a:pPr algn="l"/>
            <a:r>
              <a:rPr sz="1300" b="0" i="0">
                <a:solidFill>
                  <a:srgbClr val="00D4FF"/>
                </a:solidFill>
                <a:latin typeface="Calibri"/>
              </a:rPr>
              <a:t>From MVP prototype to production global network</a:t>
            </a:r>
          </a:p>
        </p:txBody>
      </p:sp>
      <p:cxnSp>
        <p:nvCxnSpPr>
          <p:cNvPr id="6" name="Connector 5"/>
          <p:cNvCxnSpPr/>
          <p:nvPr/>
        </p:nvCxnSpPr>
        <p:spPr>
          <a:xfrm>
            <a:off x="540000" y="3291840.0"/>
            <a:ext cx="11113200" cy="0.0"/>
          </a:xfrm>
          <a:prstGeom prst="line">
            <a:avLst/>
          </a:prstGeom>
          <a:ln w="38100">
            <a:solidFill>
              <a:srgbClr val="008CFF"/>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1026792" y="3111840"/>
            <a:ext cx="360000" cy="3600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34792" y="3165841"/>
            <a:ext cx="144000" cy="180000"/>
          </a:xfrm>
          <a:prstGeom prst="rect">
            <a:avLst/>
          </a:prstGeom>
          <a:noFill/>
        </p:spPr>
        <p:txBody>
          <a:bodyPr wrap="square">
            <a:spAutoFit/>
          </a:bodyPr>
          <a:lstStyle/>
          <a:p>
            <a:pPr algn="ctr"/>
            <a:r>
              <a:rPr sz="1400" b="1" i="0">
                <a:solidFill>
                  <a:srgbClr val="FFFFFF"/>
                </a:solidFill>
                <a:latin typeface="Calibri"/>
              </a:rPr>
              <a:t>v</a:t>
            </a:r>
          </a:p>
        </p:txBody>
      </p:sp>
      <p:cxnSp>
        <p:nvCxnSpPr>
          <p:cNvPr id="9" name="Connector 8"/>
          <p:cNvCxnSpPr/>
          <p:nvPr/>
        </p:nvCxnSpPr>
        <p:spPr>
          <a:xfrm>
            <a:off x="1206792.0" y="3075840.0"/>
            <a:ext cx="0.0" cy="36000.0"/>
          </a:xfrm>
          <a:prstGeom prst="line">
            <a:avLst/>
          </a:prstGeom>
          <a:ln w="19050">
            <a:solidFill>
              <a:srgbClr val="008CFF"/>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162792" y="1707840"/>
            <a:ext cx="2088000" cy="1368000"/>
          </a:xfrm>
          <a:prstGeom prst="rect">
            <a:avLst/>
          </a:prstGeom>
          <a:solidFill>
            <a:srgbClr val="0C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62792" y="1707840"/>
            <a:ext cx="2088000" cy="162000"/>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2792" y="1707840"/>
            <a:ext cx="2088000" cy="162000"/>
          </a:xfrm>
          <a:prstGeom prst="rect">
            <a:avLst/>
          </a:prstGeom>
          <a:noFill/>
        </p:spPr>
        <p:txBody>
          <a:bodyPr wrap="square">
            <a:spAutoFit/>
          </a:bodyPr>
          <a:lstStyle/>
          <a:p>
            <a:pPr algn="ctr"/>
            <a:r>
              <a:rPr sz="1000" b="1" i="0">
                <a:solidFill>
                  <a:srgbClr val="FFFFFF"/>
                </a:solidFill>
                <a:latin typeface="Calibri"/>
              </a:rPr>
              <a:t>Q1 2026</a:t>
            </a:r>
          </a:p>
        </p:txBody>
      </p:sp>
      <p:sp>
        <p:nvSpPr>
          <p:cNvPr id="13" name="TextBox 12"/>
          <p:cNvSpPr txBox="1"/>
          <p:nvPr/>
        </p:nvSpPr>
        <p:spPr>
          <a:xfrm>
            <a:off x="162792" y="1887840"/>
            <a:ext cx="2088000" cy="324000"/>
          </a:xfrm>
          <a:prstGeom prst="rect">
            <a:avLst/>
          </a:prstGeom>
          <a:noFill/>
        </p:spPr>
        <p:txBody>
          <a:bodyPr wrap="square">
            <a:spAutoFit/>
          </a:bodyPr>
          <a:lstStyle/>
          <a:p>
            <a:pPr algn="ctr"/>
            <a:r>
              <a:rPr sz="1400" b="1" i="0">
                <a:solidFill>
                  <a:srgbClr val="008CFF"/>
                </a:solidFill>
                <a:latin typeface="Calibri"/>
              </a:rPr>
              <a:t>MVP</a:t>
            </a:r>
          </a:p>
        </p:txBody>
      </p:sp>
      <p:sp>
        <p:nvSpPr>
          <p:cNvPr id="14" name="TextBox 13"/>
          <p:cNvSpPr txBox="1"/>
          <p:nvPr/>
        </p:nvSpPr>
        <p:spPr>
          <a:xfrm>
            <a:off x="162792" y="2229840"/>
            <a:ext cx="2088000" cy="576000"/>
          </a:xfrm>
          <a:prstGeom prst="rect">
            <a:avLst/>
          </a:prstGeom>
          <a:noFill/>
        </p:spPr>
        <p:txBody>
          <a:bodyPr wrap="square">
            <a:spAutoFit/>
          </a:bodyPr>
          <a:lstStyle/>
          <a:p>
            <a:pPr algn="ctr"/>
            <a:r>
              <a:rPr sz="1000" b="0" i="0">
                <a:solidFill>
                  <a:srgbClr val="B0C4DE"/>
                </a:solidFill>
                <a:latin typeface="Calibri"/>
              </a:rPr>
              <a:t>42 tests
Pure Python
Simulation</a:t>
            </a:r>
          </a:p>
        </p:txBody>
      </p:sp>
      <p:sp>
        <p:nvSpPr>
          <p:cNvPr id="15" name="Rectangle 14"/>
          <p:cNvSpPr/>
          <p:nvPr/>
        </p:nvSpPr>
        <p:spPr>
          <a:xfrm>
            <a:off x="306792" y="2823841"/>
            <a:ext cx="1800000" cy="198000"/>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06792" y="2823841"/>
            <a:ext cx="1800000" cy="198000"/>
          </a:xfrm>
          <a:prstGeom prst="rect">
            <a:avLst/>
          </a:prstGeom>
          <a:noFill/>
        </p:spPr>
        <p:txBody>
          <a:bodyPr wrap="square">
            <a:spAutoFit/>
          </a:bodyPr>
          <a:lstStyle/>
          <a:p>
            <a:pPr algn="ctr"/>
            <a:r>
              <a:rPr sz="900" b="1" i="0">
                <a:solidFill>
                  <a:srgbClr val="FFFFFF"/>
                </a:solidFill>
                <a:latin typeface="Calibri"/>
              </a:rPr>
              <a:t>DONE</a:t>
            </a:r>
          </a:p>
        </p:txBody>
      </p:sp>
      <p:sp>
        <p:nvSpPr>
          <p:cNvPr id="17" name="Oval 16"/>
          <p:cNvSpPr/>
          <p:nvPr/>
        </p:nvSpPr>
        <p:spPr>
          <a:xfrm>
            <a:off x="3471696" y="3111840"/>
            <a:ext cx="360000" cy="3600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3651696.0000000005" y="3471840.0"/>
            <a:ext cx="0.0" cy="36000.0"/>
          </a:xfrm>
          <a:prstGeom prst="line">
            <a:avLst/>
          </a:prstGeom>
          <a:ln w="19050">
            <a:solidFill>
              <a:srgbClr val="00C86E"/>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2607696" y="3507840"/>
            <a:ext cx="2088000" cy="1368000"/>
          </a:xfrm>
          <a:prstGeom prst="rect">
            <a:avLst/>
          </a:prstGeom>
          <a:solidFill>
            <a:srgbClr val="0C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607696" y="3507840"/>
            <a:ext cx="2088000" cy="162000"/>
          </a:xfrm>
          <a:prstGeom prst="rect">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607696" y="3507840"/>
            <a:ext cx="2088000" cy="162000"/>
          </a:xfrm>
          <a:prstGeom prst="rect">
            <a:avLst/>
          </a:prstGeom>
          <a:noFill/>
        </p:spPr>
        <p:txBody>
          <a:bodyPr wrap="square">
            <a:spAutoFit/>
          </a:bodyPr>
          <a:lstStyle/>
          <a:p>
            <a:pPr algn="ctr"/>
            <a:r>
              <a:rPr sz="1000" b="1" i="0">
                <a:solidFill>
                  <a:srgbClr val="FFFFFF"/>
                </a:solidFill>
                <a:latin typeface="Calibri"/>
              </a:rPr>
              <a:t>Q3 2026</a:t>
            </a:r>
          </a:p>
        </p:txBody>
      </p:sp>
      <p:sp>
        <p:nvSpPr>
          <p:cNvPr id="22" name="TextBox 21"/>
          <p:cNvSpPr txBox="1"/>
          <p:nvPr/>
        </p:nvSpPr>
        <p:spPr>
          <a:xfrm>
            <a:off x="2607696" y="3687840"/>
            <a:ext cx="2088000" cy="324000"/>
          </a:xfrm>
          <a:prstGeom prst="rect">
            <a:avLst/>
          </a:prstGeom>
          <a:noFill/>
        </p:spPr>
        <p:txBody>
          <a:bodyPr wrap="square">
            <a:spAutoFit/>
          </a:bodyPr>
          <a:lstStyle/>
          <a:p>
            <a:pPr algn="ctr"/>
            <a:r>
              <a:rPr sz="1400" b="1" i="0">
                <a:solidFill>
                  <a:srgbClr val="00C86E"/>
                </a:solidFill>
                <a:latin typeface="Calibri"/>
              </a:rPr>
              <a:t>Hardware</a:t>
            </a:r>
          </a:p>
        </p:txBody>
      </p:sp>
      <p:sp>
        <p:nvSpPr>
          <p:cNvPr id="23" name="TextBox 22"/>
          <p:cNvSpPr txBox="1"/>
          <p:nvPr/>
        </p:nvSpPr>
        <p:spPr>
          <a:xfrm>
            <a:off x="2607696" y="4029840"/>
            <a:ext cx="2088000" cy="576000"/>
          </a:xfrm>
          <a:prstGeom prst="rect">
            <a:avLst/>
          </a:prstGeom>
          <a:noFill/>
        </p:spPr>
        <p:txBody>
          <a:bodyPr wrap="square">
            <a:spAutoFit/>
          </a:bodyPr>
          <a:lstStyle/>
          <a:p>
            <a:pPr algn="ctr"/>
            <a:r>
              <a:rPr sz="1000" b="0" i="0">
                <a:solidFill>
                  <a:srgbClr val="B0C4DE"/>
                </a:solidFill>
                <a:latin typeface="Calibri"/>
              </a:rPr>
              <a:t>SX1276 driver
Raspberry Pi
ESP32 nodes</a:t>
            </a:r>
          </a:p>
        </p:txBody>
      </p:sp>
      <p:sp>
        <p:nvSpPr>
          <p:cNvPr id="24" name="Rectangle 23"/>
          <p:cNvSpPr/>
          <p:nvPr/>
        </p:nvSpPr>
        <p:spPr>
          <a:xfrm>
            <a:off x="2751696" y="4623841"/>
            <a:ext cx="1800000" cy="198000"/>
          </a:xfrm>
          <a:prstGeom prst="rect">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51696" y="4623841"/>
            <a:ext cx="1800000" cy="198000"/>
          </a:xfrm>
          <a:prstGeom prst="rect">
            <a:avLst/>
          </a:prstGeom>
          <a:noFill/>
        </p:spPr>
        <p:txBody>
          <a:bodyPr wrap="square">
            <a:spAutoFit/>
          </a:bodyPr>
          <a:lstStyle/>
          <a:p>
            <a:pPr algn="ctr"/>
            <a:r>
              <a:rPr sz="900" b="1" i="0">
                <a:solidFill>
                  <a:srgbClr val="FFFFFF"/>
                </a:solidFill>
                <a:latin typeface="Calibri"/>
              </a:rPr>
              <a:t>IN PROGRESS</a:t>
            </a:r>
          </a:p>
        </p:txBody>
      </p:sp>
      <p:sp>
        <p:nvSpPr>
          <p:cNvPr id="26" name="Oval 25"/>
          <p:cNvSpPr/>
          <p:nvPr/>
        </p:nvSpPr>
        <p:spPr>
          <a:xfrm>
            <a:off x="5916600" y="3111840"/>
            <a:ext cx="360000" cy="360000"/>
          </a:xfrm>
          <a:prstGeom prst="ellipse">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a:off x="6096600.0" y="3075840.0"/>
            <a:ext cx="0.0" cy="36000.0"/>
          </a:xfrm>
          <a:prstGeom prst="line">
            <a:avLst/>
          </a:prstGeom>
          <a:ln w="19050">
            <a:solidFill>
              <a:srgbClr val="FF8C00"/>
            </a:solidFill>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5052600" y="1707840"/>
            <a:ext cx="2088000" cy="1368000"/>
          </a:xfrm>
          <a:prstGeom prst="rect">
            <a:avLst/>
          </a:prstGeom>
          <a:solidFill>
            <a:srgbClr val="0C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052600" y="1707840"/>
            <a:ext cx="2088000" cy="16200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52600" y="1707840"/>
            <a:ext cx="2088000" cy="162000"/>
          </a:xfrm>
          <a:prstGeom prst="rect">
            <a:avLst/>
          </a:prstGeom>
          <a:noFill/>
        </p:spPr>
        <p:txBody>
          <a:bodyPr wrap="square">
            <a:spAutoFit/>
          </a:bodyPr>
          <a:lstStyle/>
          <a:p>
            <a:pPr algn="ctr"/>
            <a:r>
              <a:rPr sz="1000" b="1" i="0">
                <a:solidFill>
                  <a:srgbClr val="FFFFFF"/>
                </a:solidFill>
                <a:latin typeface="Calibri"/>
              </a:rPr>
              <a:t>Q1 2027</a:t>
            </a:r>
          </a:p>
        </p:txBody>
      </p:sp>
      <p:sp>
        <p:nvSpPr>
          <p:cNvPr id="31" name="TextBox 30"/>
          <p:cNvSpPr txBox="1"/>
          <p:nvPr/>
        </p:nvSpPr>
        <p:spPr>
          <a:xfrm>
            <a:off x="5052600" y="1887840"/>
            <a:ext cx="2088000" cy="324000"/>
          </a:xfrm>
          <a:prstGeom prst="rect">
            <a:avLst/>
          </a:prstGeom>
          <a:noFill/>
        </p:spPr>
        <p:txBody>
          <a:bodyPr wrap="square">
            <a:spAutoFit/>
          </a:bodyPr>
          <a:lstStyle/>
          <a:p>
            <a:pPr algn="ctr"/>
            <a:r>
              <a:rPr sz="1400" b="1" i="0">
                <a:solidFill>
                  <a:srgbClr val="FF8C00"/>
                </a:solidFill>
                <a:latin typeface="Calibri"/>
              </a:rPr>
              <a:t>Protocol
Harden</a:t>
            </a:r>
          </a:p>
        </p:txBody>
      </p:sp>
      <p:sp>
        <p:nvSpPr>
          <p:cNvPr id="32" name="TextBox 31"/>
          <p:cNvSpPr txBox="1"/>
          <p:nvPr/>
        </p:nvSpPr>
        <p:spPr>
          <a:xfrm>
            <a:off x="5052600" y="2229840"/>
            <a:ext cx="2088000" cy="576000"/>
          </a:xfrm>
          <a:prstGeom prst="rect">
            <a:avLst/>
          </a:prstGeom>
          <a:noFill/>
        </p:spPr>
        <p:txBody>
          <a:bodyPr wrap="square">
            <a:spAutoFit/>
          </a:bodyPr>
          <a:lstStyle/>
          <a:p>
            <a:pPr algn="ctr"/>
            <a:r>
              <a:rPr sz="1000" b="0" i="0">
                <a:solidFill>
                  <a:srgbClr val="B0C4DE"/>
                </a:solidFill>
                <a:latin typeface="Calibri"/>
              </a:rPr>
              <a:t>Key revocation
PoW scale
Store-forward</a:t>
            </a:r>
          </a:p>
        </p:txBody>
      </p:sp>
      <p:sp>
        <p:nvSpPr>
          <p:cNvPr id="33" name="Rectangle 32"/>
          <p:cNvSpPr/>
          <p:nvPr/>
        </p:nvSpPr>
        <p:spPr>
          <a:xfrm>
            <a:off x="5196600" y="2823841"/>
            <a:ext cx="1800000" cy="19800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196600" y="2823841"/>
            <a:ext cx="1800000" cy="198000"/>
          </a:xfrm>
          <a:prstGeom prst="rect">
            <a:avLst/>
          </a:prstGeom>
          <a:noFill/>
        </p:spPr>
        <p:txBody>
          <a:bodyPr wrap="square">
            <a:spAutoFit/>
          </a:bodyPr>
          <a:lstStyle/>
          <a:p>
            <a:pPr algn="ctr"/>
            <a:r>
              <a:rPr sz="900" b="1" i="0">
                <a:solidFill>
                  <a:srgbClr val="FFFFFF"/>
                </a:solidFill>
                <a:latin typeface="Calibri"/>
              </a:rPr>
              <a:t>PLANNED</a:t>
            </a:r>
          </a:p>
        </p:txBody>
      </p:sp>
      <p:sp>
        <p:nvSpPr>
          <p:cNvPr id="35" name="Oval 34"/>
          <p:cNvSpPr/>
          <p:nvPr/>
        </p:nvSpPr>
        <p:spPr>
          <a:xfrm>
            <a:off x="8361504" y="3111840"/>
            <a:ext cx="360000" cy="360000"/>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a:off x="8541504.0" y="3471840.0"/>
            <a:ext cx="0.0" cy="36000.0"/>
          </a:xfrm>
          <a:prstGeom prst="line">
            <a:avLst/>
          </a:prstGeom>
          <a:ln w="19050">
            <a:solidFill>
              <a:srgbClr val="FFD700"/>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7497504" y="3507840"/>
            <a:ext cx="2088000" cy="1368000"/>
          </a:xfrm>
          <a:prstGeom prst="rect">
            <a:avLst/>
          </a:prstGeom>
          <a:solidFill>
            <a:srgbClr val="0C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497504" y="3507840"/>
            <a:ext cx="2088000" cy="1620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497504" y="3507840"/>
            <a:ext cx="2088000" cy="162000"/>
          </a:xfrm>
          <a:prstGeom prst="rect">
            <a:avLst/>
          </a:prstGeom>
          <a:noFill/>
        </p:spPr>
        <p:txBody>
          <a:bodyPr wrap="square">
            <a:spAutoFit/>
          </a:bodyPr>
          <a:lstStyle/>
          <a:p>
            <a:pPr algn="ctr"/>
            <a:r>
              <a:rPr sz="1000" b="1" i="0">
                <a:solidFill>
                  <a:srgbClr val="FFFFFF"/>
                </a:solidFill>
                <a:latin typeface="Calibri"/>
              </a:rPr>
              <a:t>Q3 2027</a:t>
            </a:r>
          </a:p>
        </p:txBody>
      </p:sp>
      <p:sp>
        <p:nvSpPr>
          <p:cNvPr id="40" name="TextBox 39"/>
          <p:cNvSpPr txBox="1"/>
          <p:nvPr/>
        </p:nvSpPr>
        <p:spPr>
          <a:xfrm>
            <a:off x="7497504" y="3687840"/>
            <a:ext cx="2088000" cy="324000"/>
          </a:xfrm>
          <a:prstGeom prst="rect">
            <a:avLst/>
          </a:prstGeom>
          <a:noFill/>
        </p:spPr>
        <p:txBody>
          <a:bodyPr wrap="square">
            <a:spAutoFit/>
          </a:bodyPr>
          <a:lstStyle/>
          <a:p>
            <a:pPr algn="ctr"/>
            <a:r>
              <a:rPr sz="1400" b="1" i="0">
                <a:solidFill>
                  <a:srgbClr val="FFD700"/>
                </a:solidFill>
                <a:latin typeface="Calibri"/>
              </a:rPr>
              <a:t>Incentive
Layer</a:t>
            </a:r>
          </a:p>
        </p:txBody>
      </p:sp>
      <p:sp>
        <p:nvSpPr>
          <p:cNvPr id="41" name="TextBox 40"/>
          <p:cNvSpPr txBox="1"/>
          <p:nvPr/>
        </p:nvSpPr>
        <p:spPr>
          <a:xfrm>
            <a:off x="7497504" y="4029840"/>
            <a:ext cx="2088000" cy="576000"/>
          </a:xfrm>
          <a:prstGeom prst="rect">
            <a:avLst/>
          </a:prstGeom>
          <a:noFill/>
        </p:spPr>
        <p:txBody>
          <a:bodyPr wrap="square">
            <a:spAutoFit/>
          </a:bodyPr>
          <a:lstStyle/>
          <a:p>
            <a:pPr algn="ctr"/>
            <a:r>
              <a:rPr sz="1000" b="0" i="0">
                <a:solidFill>
                  <a:srgbClr val="B0C4DE"/>
                </a:solidFill>
                <a:latin typeface="Calibri"/>
              </a:rPr>
              <a:t>Token rewards
Proof-of-BW
Economy</a:t>
            </a:r>
          </a:p>
        </p:txBody>
      </p:sp>
      <p:sp>
        <p:nvSpPr>
          <p:cNvPr id="42" name="Rectangle 41"/>
          <p:cNvSpPr/>
          <p:nvPr/>
        </p:nvSpPr>
        <p:spPr>
          <a:xfrm>
            <a:off x="7641504" y="4623841"/>
            <a:ext cx="1800000" cy="1980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641504" y="4623841"/>
            <a:ext cx="1800000" cy="198000"/>
          </a:xfrm>
          <a:prstGeom prst="rect">
            <a:avLst/>
          </a:prstGeom>
          <a:noFill/>
        </p:spPr>
        <p:txBody>
          <a:bodyPr wrap="square">
            <a:spAutoFit/>
          </a:bodyPr>
          <a:lstStyle/>
          <a:p>
            <a:pPr algn="ctr"/>
            <a:r>
              <a:rPr sz="900" b="1" i="0">
                <a:solidFill>
                  <a:srgbClr val="FFFFFF"/>
                </a:solidFill>
                <a:latin typeface="Calibri"/>
              </a:rPr>
              <a:t>PLANNED</a:t>
            </a:r>
          </a:p>
        </p:txBody>
      </p:sp>
      <p:sp>
        <p:nvSpPr>
          <p:cNvPr id="44" name="Oval 43"/>
          <p:cNvSpPr/>
          <p:nvPr/>
        </p:nvSpPr>
        <p:spPr>
          <a:xfrm>
            <a:off x="10806408" y="3111840"/>
            <a:ext cx="360000" cy="360000"/>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Connector 44"/>
          <p:cNvCxnSpPr/>
          <p:nvPr/>
        </p:nvCxnSpPr>
        <p:spPr>
          <a:xfrm>
            <a:off x="10986408.0" y="3075840.0"/>
            <a:ext cx="0.0" cy="36000.0"/>
          </a:xfrm>
          <a:prstGeom prst="line">
            <a:avLst/>
          </a:prstGeom>
          <a:ln w="19050">
            <a:solidFill>
              <a:srgbClr val="00D4FF"/>
            </a:solidFill>
          </a:ln>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9942408" y="1707840"/>
            <a:ext cx="2088000" cy="1368000"/>
          </a:xfrm>
          <a:prstGeom prst="rect">
            <a:avLst/>
          </a:prstGeom>
          <a:solidFill>
            <a:srgbClr val="0C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9942408" y="1707840"/>
            <a:ext cx="2088000" cy="16200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942408" y="1707840"/>
            <a:ext cx="2088000" cy="162000"/>
          </a:xfrm>
          <a:prstGeom prst="rect">
            <a:avLst/>
          </a:prstGeom>
          <a:noFill/>
        </p:spPr>
        <p:txBody>
          <a:bodyPr wrap="square">
            <a:spAutoFit/>
          </a:bodyPr>
          <a:lstStyle/>
          <a:p>
            <a:pPr algn="ctr"/>
            <a:r>
              <a:rPr sz="1000" b="1" i="0">
                <a:solidFill>
                  <a:srgbClr val="FFFFFF"/>
                </a:solidFill>
                <a:latin typeface="Calibri"/>
              </a:rPr>
              <a:t>2028+</a:t>
            </a:r>
          </a:p>
        </p:txBody>
      </p:sp>
      <p:sp>
        <p:nvSpPr>
          <p:cNvPr id="49" name="TextBox 48"/>
          <p:cNvSpPr txBox="1"/>
          <p:nvPr/>
        </p:nvSpPr>
        <p:spPr>
          <a:xfrm>
            <a:off x="9942408" y="1887840"/>
            <a:ext cx="2088000" cy="324000"/>
          </a:xfrm>
          <a:prstGeom prst="rect">
            <a:avLst/>
          </a:prstGeom>
          <a:noFill/>
        </p:spPr>
        <p:txBody>
          <a:bodyPr wrap="square">
            <a:spAutoFit/>
          </a:bodyPr>
          <a:lstStyle/>
          <a:p>
            <a:pPr algn="ctr"/>
            <a:r>
              <a:rPr sz="1400" b="1" i="0">
                <a:solidFill>
                  <a:srgbClr val="00D4FF"/>
                </a:solidFill>
                <a:latin typeface="Calibri"/>
              </a:rPr>
              <a:t>Global
Network</a:t>
            </a:r>
          </a:p>
        </p:txBody>
      </p:sp>
      <p:sp>
        <p:nvSpPr>
          <p:cNvPr id="50" name="TextBox 49"/>
          <p:cNvSpPr txBox="1"/>
          <p:nvPr/>
        </p:nvSpPr>
        <p:spPr>
          <a:xfrm>
            <a:off x="9942408" y="2229840"/>
            <a:ext cx="2088000" cy="576000"/>
          </a:xfrm>
          <a:prstGeom prst="rect">
            <a:avLst/>
          </a:prstGeom>
          <a:noFill/>
        </p:spPr>
        <p:txBody>
          <a:bodyPr wrap="square">
            <a:spAutoFit/>
          </a:bodyPr>
          <a:lstStyle/>
          <a:p>
            <a:pPr algn="ctr"/>
            <a:r>
              <a:rPr sz="1000" b="0" i="0">
                <a:solidFill>
                  <a:srgbClr val="B0C4DE"/>
                </a:solidFill>
                <a:latin typeface="Calibri"/>
              </a:rPr>
              <a:t>App layer
Browser ext
Mobile app</a:t>
            </a:r>
          </a:p>
        </p:txBody>
      </p:sp>
      <p:sp>
        <p:nvSpPr>
          <p:cNvPr id="51" name="Rectangle 50"/>
          <p:cNvSpPr/>
          <p:nvPr/>
        </p:nvSpPr>
        <p:spPr>
          <a:xfrm>
            <a:off x="10086408" y="2823841"/>
            <a:ext cx="1800000" cy="19800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086408" y="2823841"/>
            <a:ext cx="1800000" cy="198000"/>
          </a:xfrm>
          <a:prstGeom prst="rect">
            <a:avLst/>
          </a:prstGeom>
          <a:noFill/>
        </p:spPr>
        <p:txBody>
          <a:bodyPr wrap="square">
            <a:spAutoFit/>
          </a:bodyPr>
          <a:lstStyle/>
          <a:p>
            <a:pPr algn="ctr"/>
            <a:r>
              <a:rPr sz="900" b="1" i="0">
                <a:solidFill>
                  <a:srgbClr val="FFFFFF"/>
                </a:solidFill>
                <a:latin typeface="Calibri"/>
              </a:rPr>
              <a:t>VISION</a:t>
            </a:r>
          </a:p>
        </p:txBody>
      </p:sp>
      <p:sp>
        <p:nvSpPr>
          <p:cNvPr id="53" name="Rectangle 52"/>
          <p:cNvSpPr/>
          <p:nvPr/>
        </p:nvSpPr>
        <p:spPr>
          <a:xfrm>
            <a:off x="0" y="6534000"/>
            <a:ext cx="12193200" cy="324000"/>
          </a:xfrm>
          <a:prstGeom prst="rect">
            <a:avLst/>
          </a:prstGeom>
          <a:solidFill>
            <a:srgbClr val="0F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60000" y="6552000"/>
            <a:ext cx="11473200" cy="288000"/>
          </a:xfrm>
          <a:prstGeom prst="rect">
            <a:avLst/>
          </a:prstGeom>
          <a:noFill/>
        </p:spPr>
        <p:txBody>
          <a:bodyPr wrap="square">
            <a:spAutoFit/>
          </a:bodyPr>
          <a:lstStyle/>
          <a:p>
            <a:pPr algn="ctr"/>
            <a:r>
              <a:rPr sz="1000" b="0" i="0">
                <a:solidFill>
                  <a:srgbClr val="B0C4DE"/>
                </a:solidFill>
                <a:latin typeface="Calibri"/>
              </a:rPr>
              <a:t>MegaNet MVP  |  Executive Briefing  |  2026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42A"/>
        </a:solidFill>
        <a:effectLst/>
      </p:bgPr>
    </p:bg>
    <p:spTree>
      <p:nvGrpSpPr>
        <p:cNvPr id="1" name=""/>
        <p:cNvGrpSpPr/>
        <p:nvPr/>
      </p:nvGrpSpPr>
      <p:grpSpPr/>
      <p:sp>
        <p:nvSpPr>
          <p:cNvPr id="2" name="Rectangle 1"/>
          <p:cNvSpPr/>
          <p:nvPr/>
        </p:nvSpPr>
        <p:spPr>
          <a:xfrm>
            <a:off x="0" y="0"/>
            <a:ext cx="12193200" cy="864000"/>
          </a:xfrm>
          <a:prstGeom prst="rect">
            <a:avLst/>
          </a:prstGeom>
          <a:solidFill>
            <a:srgbClr val="0F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4000"/>
            <a:ext cx="12193200" cy="54000"/>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0000" y="90000"/>
            <a:ext cx="11473200" cy="576000"/>
          </a:xfrm>
          <a:prstGeom prst="rect">
            <a:avLst/>
          </a:prstGeom>
          <a:noFill/>
        </p:spPr>
        <p:txBody>
          <a:bodyPr wrap="square">
            <a:spAutoFit/>
          </a:bodyPr>
          <a:lstStyle/>
          <a:p>
            <a:pPr algn="l"/>
            <a:r>
              <a:rPr sz="2600" b="1" i="0">
                <a:solidFill>
                  <a:srgbClr val="FFFFFF"/>
                </a:solidFill>
                <a:latin typeface="Calibri"/>
              </a:rPr>
              <a:t>Competitive Landscape</a:t>
            </a:r>
          </a:p>
        </p:txBody>
      </p:sp>
      <p:sp>
        <p:nvSpPr>
          <p:cNvPr id="5" name="TextBox 4"/>
          <p:cNvSpPr txBox="1"/>
          <p:nvPr/>
        </p:nvSpPr>
        <p:spPr>
          <a:xfrm>
            <a:off x="360000" y="558000"/>
            <a:ext cx="11473200" cy="324000"/>
          </a:xfrm>
          <a:prstGeom prst="rect">
            <a:avLst/>
          </a:prstGeom>
          <a:noFill/>
        </p:spPr>
        <p:txBody>
          <a:bodyPr wrap="square">
            <a:spAutoFit/>
          </a:bodyPr>
          <a:lstStyle/>
          <a:p>
            <a:pPr algn="l"/>
            <a:r>
              <a:rPr sz="1300" b="0" i="0">
                <a:solidFill>
                  <a:srgbClr val="00D4FF"/>
                </a:solidFill>
                <a:latin typeface="Calibri"/>
              </a:rPr>
              <a:t>How MegaNet compares to existing solutions</a:t>
            </a:r>
          </a:p>
        </p:txBody>
      </p:sp>
      <p:sp>
        <p:nvSpPr>
          <p:cNvPr id="6" name="Rectangle 5"/>
          <p:cNvSpPr/>
          <p:nvPr/>
        </p:nvSpPr>
        <p:spPr>
          <a:xfrm>
            <a:off x="180000" y="972000"/>
            <a:ext cx="2700000" cy="450000"/>
          </a:xfrm>
          <a:prstGeom prst="rect">
            <a:avLst/>
          </a:prstGeom>
          <a:solidFill>
            <a:srgbClr val="0F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880000" y="972000"/>
            <a:ext cx="1710000" cy="450000"/>
          </a:xfrm>
          <a:prstGeom prst="rect">
            <a:avLst/>
          </a:prstGeom>
          <a:solidFill>
            <a:srgbClr val="0F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80000" y="972000"/>
            <a:ext cx="1710000" cy="450000"/>
          </a:xfrm>
          <a:prstGeom prst="rect">
            <a:avLst/>
          </a:prstGeom>
          <a:noFill/>
        </p:spPr>
        <p:txBody>
          <a:bodyPr wrap="square">
            <a:spAutoFit/>
          </a:bodyPr>
          <a:lstStyle/>
          <a:p>
            <a:pPr algn="ctr"/>
            <a:r>
              <a:rPr sz="1100" b="1" i="0">
                <a:solidFill>
                  <a:srgbClr val="FFFFFF"/>
                </a:solidFill>
                <a:latin typeface="Calibri"/>
              </a:rPr>
              <a:t>Traditional
Internet</a:t>
            </a:r>
          </a:p>
        </p:txBody>
      </p:sp>
      <p:sp>
        <p:nvSpPr>
          <p:cNvPr id="9" name="Rectangle 8"/>
          <p:cNvSpPr/>
          <p:nvPr/>
        </p:nvSpPr>
        <p:spPr>
          <a:xfrm>
            <a:off x="4608000" y="972000"/>
            <a:ext cx="1710000" cy="450000"/>
          </a:xfrm>
          <a:prstGeom prst="rect">
            <a:avLst/>
          </a:prstGeom>
          <a:solidFill>
            <a:srgbClr val="0F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08000" y="972000"/>
            <a:ext cx="1710000" cy="450000"/>
          </a:xfrm>
          <a:prstGeom prst="rect">
            <a:avLst/>
          </a:prstGeom>
          <a:noFill/>
        </p:spPr>
        <p:txBody>
          <a:bodyPr wrap="square">
            <a:spAutoFit/>
          </a:bodyPr>
          <a:lstStyle/>
          <a:p>
            <a:pPr algn="ctr"/>
            <a:r>
              <a:rPr sz="1100" b="1" i="0">
                <a:solidFill>
                  <a:srgbClr val="FFFFFF"/>
                </a:solidFill>
                <a:latin typeface="Calibri"/>
              </a:rPr>
              <a:t>Tor / VPN</a:t>
            </a:r>
          </a:p>
        </p:txBody>
      </p:sp>
      <p:sp>
        <p:nvSpPr>
          <p:cNvPr id="11" name="Rectangle 10"/>
          <p:cNvSpPr/>
          <p:nvPr/>
        </p:nvSpPr>
        <p:spPr>
          <a:xfrm>
            <a:off x="6336000" y="972000"/>
            <a:ext cx="1710000" cy="450000"/>
          </a:xfrm>
          <a:prstGeom prst="rect">
            <a:avLst/>
          </a:prstGeom>
          <a:solidFill>
            <a:srgbClr val="0F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36000" y="972000"/>
            <a:ext cx="1710000" cy="450000"/>
          </a:xfrm>
          <a:prstGeom prst="rect">
            <a:avLst/>
          </a:prstGeom>
          <a:noFill/>
        </p:spPr>
        <p:txBody>
          <a:bodyPr wrap="square">
            <a:spAutoFit/>
          </a:bodyPr>
          <a:lstStyle/>
          <a:p>
            <a:pPr algn="ctr"/>
            <a:r>
              <a:rPr sz="1100" b="1" i="0">
                <a:solidFill>
                  <a:srgbClr val="FFFFFF"/>
                </a:solidFill>
                <a:latin typeface="Calibri"/>
              </a:rPr>
              <a:t>Mesh
Networks</a:t>
            </a:r>
          </a:p>
        </p:txBody>
      </p:sp>
      <p:sp>
        <p:nvSpPr>
          <p:cNvPr id="13" name="Rectangle 12"/>
          <p:cNvSpPr/>
          <p:nvPr/>
        </p:nvSpPr>
        <p:spPr>
          <a:xfrm>
            <a:off x="8064000" y="972000"/>
            <a:ext cx="1710000" cy="450000"/>
          </a:xfrm>
          <a:prstGeom prst="rect">
            <a:avLst/>
          </a:prstGeom>
          <a:solidFill>
            <a:srgbClr val="0F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64000" y="972000"/>
            <a:ext cx="1710000" cy="450000"/>
          </a:xfrm>
          <a:prstGeom prst="rect">
            <a:avLst/>
          </a:prstGeom>
          <a:noFill/>
        </p:spPr>
        <p:txBody>
          <a:bodyPr wrap="square">
            <a:spAutoFit/>
          </a:bodyPr>
          <a:lstStyle/>
          <a:p>
            <a:pPr algn="ctr"/>
            <a:r>
              <a:rPr sz="1100" b="1" i="0">
                <a:solidFill>
                  <a:srgbClr val="FFFFFF"/>
                </a:solidFill>
                <a:latin typeface="Calibri"/>
              </a:rPr>
              <a:t>Satellite
(Starlink)</a:t>
            </a:r>
          </a:p>
        </p:txBody>
      </p:sp>
      <p:sp>
        <p:nvSpPr>
          <p:cNvPr id="15" name="Rectangle 14"/>
          <p:cNvSpPr/>
          <p:nvPr/>
        </p:nvSpPr>
        <p:spPr>
          <a:xfrm>
            <a:off x="9792000" y="972000"/>
            <a:ext cx="1710000" cy="450000"/>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92000" y="972000"/>
            <a:ext cx="1710000" cy="450000"/>
          </a:xfrm>
          <a:prstGeom prst="rect">
            <a:avLst/>
          </a:prstGeom>
          <a:noFill/>
        </p:spPr>
        <p:txBody>
          <a:bodyPr wrap="square">
            <a:spAutoFit/>
          </a:bodyPr>
          <a:lstStyle/>
          <a:p>
            <a:pPr algn="ctr"/>
            <a:r>
              <a:rPr sz="1100" b="1" i="0">
                <a:solidFill>
                  <a:srgbClr val="FFFFFF"/>
                </a:solidFill>
                <a:latin typeface="Calibri"/>
              </a:rPr>
              <a:t>MegaNet</a:t>
            </a:r>
          </a:p>
        </p:txBody>
      </p:sp>
      <p:sp>
        <p:nvSpPr>
          <p:cNvPr id="17" name="Rectangle 16"/>
          <p:cNvSpPr/>
          <p:nvPr/>
        </p:nvSpPr>
        <p:spPr>
          <a:xfrm>
            <a:off x="180000" y="1422000"/>
            <a:ext cx="11340000" cy="432000"/>
          </a:xfrm>
          <a:prstGeom prst="rect">
            <a:avLst/>
          </a:prstGeom>
          <a:solidFill>
            <a:srgbClr val="1020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2000" y="1422000"/>
            <a:ext cx="2592000" cy="432000"/>
          </a:xfrm>
          <a:prstGeom prst="rect">
            <a:avLst/>
          </a:prstGeom>
          <a:noFill/>
        </p:spPr>
        <p:txBody>
          <a:bodyPr wrap="square">
            <a:spAutoFit/>
          </a:bodyPr>
          <a:lstStyle/>
          <a:p>
            <a:pPr algn="l"/>
            <a:r>
              <a:rPr sz="1100" b="0" i="0">
                <a:solidFill>
                  <a:srgbClr val="FFFFFF"/>
                </a:solidFill>
                <a:latin typeface="Calibri"/>
              </a:rPr>
              <a:t>Censorship Resistance</a:t>
            </a:r>
          </a:p>
        </p:txBody>
      </p:sp>
      <p:sp>
        <p:nvSpPr>
          <p:cNvPr id="19" name="Oval 18"/>
          <p:cNvSpPr/>
          <p:nvPr/>
        </p:nvSpPr>
        <p:spPr>
          <a:xfrm>
            <a:off x="2980800" y="156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265200" y="158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3535200" y="158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805200" y="158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075200" y="158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708800" y="156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978800" y="156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248800" y="156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533200" y="158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803200" y="158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436800" y="156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706800" y="156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976800" y="156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261200" y="158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531200" y="158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164800" y="156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8434800" y="156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719200" y="158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989200" y="158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259200" y="158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9892800" y="1567800"/>
            <a:ext cx="158400" cy="1584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162800" y="1567800"/>
            <a:ext cx="158400" cy="1584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0432800" y="1567800"/>
            <a:ext cx="158400" cy="1584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0702800" y="1567800"/>
            <a:ext cx="158400" cy="1584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0972800" y="1567800"/>
            <a:ext cx="158400" cy="1584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80000" y="1872000"/>
            <a:ext cx="11340000" cy="432000"/>
          </a:xfrm>
          <a:prstGeom prst="rect">
            <a:avLst/>
          </a:prstGeom>
          <a:solidFill>
            <a:srgbClr val="0A14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52000" y="1872000"/>
            <a:ext cx="2592000" cy="432000"/>
          </a:xfrm>
          <a:prstGeom prst="rect">
            <a:avLst/>
          </a:prstGeom>
          <a:noFill/>
        </p:spPr>
        <p:txBody>
          <a:bodyPr wrap="square">
            <a:spAutoFit/>
          </a:bodyPr>
          <a:lstStyle/>
          <a:p>
            <a:pPr algn="l"/>
            <a:r>
              <a:rPr sz="1100" b="0" i="0">
                <a:solidFill>
                  <a:srgbClr val="FFFFFF"/>
                </a:solidFill>
                <a:latin typeface="Calibri"/>
              </a:rPr>
              <a:t>Privacy by Default</a:t>
            </a:r>
          </a:p>
        </p:txBody>
      </p:sp>
      <p:sp>
        <p:nvSpPr>
          <p:cNvPr id="46" name="Oval 45"/>
          <p:cNvSpPr/>
          <p:nvPr/>
        </p:nvSpPr>
        <p:spPr>
          <a:xfrm>
            <a:off x="2980800" y="201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3265200" y="203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3535200" y="203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3805200" y="203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4075200" y="203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4708800" y="201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4978800" y="201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5248800" y="201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5518800" y="201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5803200" y="203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6436800" y="201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6706800" y="201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6991200" y="203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7261200" y="203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7531200" y="203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8164800" y="201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8434800" y="201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8719200" y="203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8989200" y="203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9259200" y="203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9892800" y="2017800"/>
            <a:ext cx="158400" cy="1584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10162800" y="2017800"/>
            <a:ext cx="158400" cy="1584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10432800" y="2017800"/>
            <a:ext cx="158400" cy="1584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10702800" y="2017800"/>
            <a:ext cx="158400" cy="1584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10972800" y="2017800"/>
            <a:ext cx="158400" cy="1584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180000" y="2322000"/>
            <a:ext cx="11340000" cy="432000"/>
          </a:xfrm>
          <a:prstGeom prst="rect">
            <a:avLst/>
          </a:prstGeom>
          <a:solidFill>
            <a:srgbClr val="1020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252000" y="2322000"/>
            <a:ext cx="2592000" cy="432000"/>
          </a:xfrm>
          <a:prstGeom prst="rect">
            <a:avLst/>
          </a:prstGeom>
          <a:noFill/>
        </p:spPr>
        <p:txBody>
          <a:bodyPr wrap="square">
            <a:spAutoFit/>
          </a:bodyPr>
          <a:lstStyle/>
          <a:p>
            <a:pPr algn="l"/>
            <a:r>
              <a:rPr sz="1100" b="0" i="0">
                <a:solidFill>
                  <a:srgbClr val="FFFFFF"/>
                </a:solidFill>
                <a:latin typeface="Calibri"/>
              </a:rPr>
              <a:t>No Infrastructure</a:t>
            </a:r>
          </a:p>
        </p:txBody>
      </p:sp>
      <p:sp>
        <p:nvSpPr>
          <p:cNvPr id="73" name="Oval 72"/>
          <p:cNvSpPr/>
          <p:nvPr/>
        </p:nvSpPr>
        <p:spPr>
          <a:xfrm>
            <a:off x="2980800" y="246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3265200" y="248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3535200" y="248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3805200" y="248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4075200" y="248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4708800" y="246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4993200" y="248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5263200" y="248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5533200" y="248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5803200" y="248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6436800" y="246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6706800" y="246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6976800" y="246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7261200" y="248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7531200" y="248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8164800" y="246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8434800" y="246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8719200" y="248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8989200" y="248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9259200" y="248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9892800" y="2467800"/>
            <a:ext cx="158400" cy="1584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10162800" y="2467800"/>
            <a:ext cx="158400" cy="1584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10432800" y="2467800"/>
            <a:ext cx="158400" cy="1584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10702800" y="2467800"/>
            <a:ext cx="158400" cy="1584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10972800" y="2467800"/>
            <a:ext cx="158400" cy="1584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180000" y="2772000"/>
            <a:ext cx="11340000" cy="432000"/>
          </a:xfrm>
          <a:prstGeom prst="rect">
            <a:avLst/>
          </a:prstGeom>
          <a:solidFill>
            <a:srgbClr val="0A14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252000" y="2772000"/>
            <a:ext cx="2592000" cy="432000"/>
          </a:xfrm>
          <a:prstGeom prst="rect">
            <a:avLst/>
          </a:prstGeom>
          <a:noFill/>
        </p:spPr>
        <p:txBody>
          <a:bodyPr wrap="square">
            <a:spAutoFit/>
          </a:bodyPr>
          <a:lstStyle/>
          <a:p>
            <a:pPr algn="l"/>
            <a:r>
              <a:rPr sz="1100" b="0" i="0">
                <a:solidFill>
                  <a:srgbClr val="FFFFFF"/>
                </a:solidFill>
                <a:latin typeface="Calibri"/>
              </a:rPr>
              <a:t>Low Cost</a:t>
            </a:r>
          </a:p>
        </p:txBody>
      </p:sp>
      <p:sp>
        <p:nvSpPr>
          <p:cNvPr id="100" name="Oval 99"/>
          <p:cNvSpPr/>
          <p:nvPr/>
        </p:nvSpPr>
        <p:spPr>
          <a:xfrm>
            <a:off x="2980800" y="291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3250800" y="291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3520800" y="291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3805200" y="293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4075200" y="293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4708800" y="291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4978800" y="291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5248800" y="291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5518800" y="291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5803200" y="293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6436800" y="291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6706800" y="291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6976800" y="291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7246800" y="291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7531200" y="293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8164800" y="291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8434800" y="291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8719200" y="293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8989200" y="293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9259200" y="293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9892800" y="2917800"/>
            <a:ext cx="158400" cy="1584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10162800" y="2917800"/>
            <a:ext cx="158400" cy="1584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10432800" y="2917800"/>
            <a:ext cx="158400" cy="1584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10702800" y="2917800"/>
            <a:ext cx="158400" cy="1584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10972800" y="2917800"/>
            <a:ext cx="158400" cy="1584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180000" y="3222000"/>
            <a:ext cx="11340000" cy="432000"/>
          </a:xfrm>
          <a:prstGeom prst="rect">
            <a:avLst/>
          </a:prstGeom>
          <a:solidFill>
            <a:srgbClr val="1020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252000" y="3222000"/>
            <a:ext cx="2592000" cy="432000"/>
          </a:xfrm>
          <a:prstGeom prst="rect">
            <a:avLst/>
          </a:prstGeom>
          <a:noFill/>
        </p:spPr>
        <p:txBody>
          <a:bodyPr wrap="square">
            <a:spAutoFit/>
          </a:bodyPr>
          <a:lstStyle/>
          <a:p>
            <a:pPr algn="l"/>
            <a:r>
              <a:rPr sz="1100" b="0" i="0">
                <a:solidFill>
                  <a:srgbClr val="FFFFFF"/>
                </a:solidFill>
                <a:latin typeface="Calibri"/>
              </a:rPr>
              <a:t>Long Range</a:t>
            </a:r>
          </a:p>
        </p:txBody>
      </p:sp>
      <p:sp>
        <p:nvSpPr>
          <p:cNvPr id="127" name="Oval 126"/>
          <p:cNvSpPr/>
          <p:nvPr/>
        </p:nvSpPr>
        <p:spPr>
          <a:xfrm>
            <a:off x="2980800" y="336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3250800" y="336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3520800" y="336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3790800" y="336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4060800" y="336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4708800" y="336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4978800" y="336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val 133"/>
          <p:cNvSpPr/>
          <p:nvPr/>
        </p:nvSpPr>
        <p:spPr>
          <a:xfrm>
            <a:off x="5248800" y="336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5518800" y="336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Oval 135"/>
          <p:cNvSpPr/>
          <p:nvPr/>
        </p:nvSpPr>
        <p:spPr>
          <a:xfrm>
            <a:off x="5788800" y="336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6436800" y="336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Oval 137"/>
          <p:cNvSpPr/>
          <p:nvPr/>
        </p:nvSpPr>
        <p:spPr>
          <a:xfrm>
            <a:off x="6706800" y="336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val 138"/>
          <p:cNvSpPr/>
          <p:nvPr/>
        </p:nvSpPr>
        <p:spPr>
          <a:xfrm>
            <a:off x="6991200" y="338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Oval 139"/>
          <p:cNvSpPr/>
          <p:nvPr/>
        </p:nvSpPr>
        <p:spPr>
          <a:xfrm>
            <a:off x="7261200" y="338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Oval 140"/>
          <p:cNvSpPr/>
          <p:nvPr/>
        </p:nvSpPr>
        <p:spPr>
          <a:xfrm>
            <a:off x="7531200" y="338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Oval 141"/>
          <p:cNvSpPr/>
          <p:nvPr/>
        </p:nvSpPr>
        <p:spPr>
          <a:xfrm>
            <a:off x="8164800" y="336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Oval 142"/>
          <p:cNvSpPr/>
          <p:nvPr/>
        </p:nvSpPr>
        <p:spPr>
          <a:xfrm>
            <a:off x="8434800" y="336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Oval 143"/>
          <p:cNvSpPr/>
          <p:nvPr/>
        </p:nvSpPr>
        <p:spPr>
          <a:xfrm>
            <a:off x="8704800" y="336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Oval 144"/>
          <p:cNvSpPr/>
          <p:nvPr/>
        </p:nvSpPr>
        <p:spPr>
          <a:xfrm>
            <a:off x="8974800" y="336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Oval 145"/>
          <p:cNvSpPr/>
          <p:nvPr/>
        </p:nvSpPr>
        <p:spPr>
          <a:xfrm>
            <a:off x="9244800" y="336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Oval 146"/>
          <p:cNvSpPr/>
          <p:nvPr/>
        </p:nvSpPr>
        <p:spPr>
          <a:xfrm>
            <a:off x="9892800" y="3367800"/>
            <a:ext cx="158400" cy="1584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Oval 147"/>
          <p:cNvSpPr/>
          <p:nvPr/>
        </p:nvSpPr>
        <p:spPr>
          <a:xfrm>
            <a:off x="10162800" y="3367800"/>
            <a:ext cx="158400" cy="1584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Oval 148"/>
          <p:cNvSpPr/>
          <p:nvPr/>
        </p:nvSpPr>
        <p:spPr>
          <a:xfrm>
            <a:off x="10432800" y="3367800"/>
            <a:ext cx="158400" cy="1584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Oval 149"/>
          <p:cNvSpPr/>
          <p:nvPr/>
        </p:nvSpPr>
        <p:spPr>
          <a:xfrm>
            <a:off x="10702800" y="3367800"/>
            <a:ext cx="158400" cy="1584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Oval 150"/>
          <p:cNvSpPr/>
          <p:nvPr/>
        </p:nvSpPr>
        <p:spPr>
          <a:xfrm>
            <a:off x="10987200" y="338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ectangle 151"/>
          <p:cNvSpPr/>
          <p:nvPr/>
        </p:nvSpPr>
        <p:spPr>
          <a:xfrm>
            <a:off x="180000" y="3672000"/>
            <a:ext cx="11340000" cy="432000"/>
          </a:xfrm>
          <a:prstGeom prst="rect">
            <a:avLst/>
          </a:prstGeom>
          <a:solidFill>
            <a:srgbClr val="0A14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252000" y="3672000"/>
            <a:ext cx="2592000" cy="432000"/>
          </a:xfrm>
          <a:prstGeom prst="rect">
            <a:avLst/>
          </a:prstGeom>
          <a:noFill/>
        </p:spPr>
        <p:txBody>
          <a:bodyPr wrap="square">
            <a:spAutoFit/>
          </a:bodyPr>
          <a:lstStyle/>
          <a:p>
            <a:pPr algn="l"/>
            <a:r>
              <a:rPr sz="1100" b="0" i="0">
                <a:solidFill>
                  <a:srgbClr val="FFFFFF"/>
                </a:solidFill>
                <a:latin typeface="Calibri"/>
              </a:rPr>
              <a:t>Data Rate</a:t>
            </a:r>
          </a:p>
        </p:txBody>
      </p:sp>
      <p:sp>
        <p:nvSpPr>
          <p:cNvPr id="154" name="Oval 153"/>
          <p:cNvSpPr/>
          <p:nvPr/>
        </p:nvSpPr>
        <p:spPr>
          <a:xfrm>
            <a:off x="2980800" y="381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Oval 154"/>
          <p:cNvSpPr/>
          <p:nvPr/>
        </p:nvSpPr>
        <p:spPr>
          <a:xfrm>
            <a:off x="3250800" y="381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Oval 155"/>
          <p:cNvSpPr/>
          <p:nvPr/>
        </p:nvSpPr>
        <p:spPr>
          <a:xfrm>
            <a:off x="3520800" y="381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Oval 156"/>
          <p:cNvSpPr/>
          <p:nvPr/>
        </p:nvSpPr>
        <p:spPr>
          <a:xfrm>
            <a:off x="3790800" y="381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Oval 157"/>
          <p:cNvSpPr/>
          <p:nvPr/>
        </p:nvSpPr>
        <p:spPr>
          <a:xfrm>
            <a:off x="4060800" y="381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Oval 158"/>
          <p:cNvSpPr/>
          <p:nvPr/>
        </p:nvSpPr>
        <p:spPr>
          <a:xfrm>
            <a:off x="4708800" y="381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Oval 159"/>
          <p:cNvSpPr/>
          <p:nvPr/>
        </p:nvSpPr>
        <p:spPr>
          <a:xfrm>
            <a:off x="4978800" y="381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Oval 160"/>
          <p:cNvSpPr/>
          <p:nvPr/>
        </p:nvSpPr>
        <p:spPr>
          <a:xfrm>
            <a:off x="5248800" y="381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Oval 161"/>
          <p:cNvSpPr/>
          <p:nvPr/>
        </p:nvSpPr>
        <p:spPr>
          <a:xfrm>
            <a:off x="5518800" y="381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Oval 162"/>
          <p:cNvSpPr/>
          <p:nvPr/>
        </p:nvSpPr>
        <p:spPr>
          <a:xfrm>
            <a:off x="5788800" y="381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Oval 163"/>
          <p:cNvSpPr/>
          <p:nvPr/>
        </p:nvSpPr>
        <p:spPr>
          <a:xfrm>
            <a:off x="6436800" y="381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Oval 164"/>
          <p:cNvSpPr/>
          <p:nvPr/>
        </p:nvSpPr>
        <p:spPr>
          <a:xfrm>
            <a:off x="6706800" y="381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Oval 165"/>
          <p:cNvSpPr/>
          <p:nvPr/>
        </p:nvSpPr>
        <p:spPr>
          <a:xfrm>
            <a:off x="6976800" y="381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Oval 166"/>
          <p:cNvSpPr/>
          <p:nvPr/>
        </p:nvSpPr>
        <p:spPr>
          <a:xfrm>
            <a:off x="7261200" y="383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Oval 167"/>
          <p:cNvSpPr/>
          <p:nvPr/>
        </p:nvSpPr>
        <p:spPr>
          <a:xfrm>
            <a:off x="7531200" y="383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Oval 168"/>
          <p:cNvSpPr/>
          <p:nvPr/>
        </p:nvSpPr>
        <p:spPr>
          <a:xfrm>
            <a:off x="8164800" y="381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Oval 169"/>
          <p:cNvSpPr/>
          <p:nvPr/>
        </p:nvSpPr>
        <p:spPr>
          <a:xfrm>
            <a:off x="8434800" y="381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Oval 170"/>
          <p:cNvSpPr/>
          <p:nvPr/>
        </p:nvSpPr>
        <p:spPr>
          <a:xfrm>
            <a:off x="8704800" y="381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Oval 171"/>
          <p:cNvSpPr/>
          <p:nvPr/>
        </p:nvSpPr>
        <p:spPr>
          <a:xfrm>
            <a:off x="8974800" y="381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Oval 172"/>
          <p:cNvSpPr/>
          <p:nvPr/>
        </p:nvSpPr>
        <p:spPr>
          <a:xfrm>
            <a:off x="9259200" y="383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Oval 173"/>
          <p:cNvSpPr/>
          <p:nvPr/>
        </p:nvSpPr>
        <p:spPr>
          <a:xfrm>
            <a:off x="9892800" y="3817800"/>
            <a:ext cx="158400" cy="1584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Oval 174"/>
          <p:cNvSpPr/>
          <p:nvPr/>
        </p:nvSpPr>
        <p:spPr>
          <a:xfrm>
            <a:off x="10162800" y="3817800"/>
            <a:ext cx="158400" cy="1584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Oval 175"/>
          <p:cNvSpPr/>
          <p:nvPr/>
        </p:nvSpPr>
        <p:spPr>
          <a:xfrm>
            <a:off x="10447200" y="383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Oval 176"/>
          <p:cNvSpPr/>
          <p:nvPr/>
        </p:nvSpPr>
        <p:spPr>
          <a:xfrm>
            <a:off x="10717200" y="383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Oval 177"/>
          <p:cNvSpPr/>
          <p:nvPr/>
        </p:nvSpPr>
        <p:spPr>
          <a:xfrm>
            <a:off x="10987200" y="383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Rectangle 178"/>
          <p:cNvSpPr/>
          <p:nvPr/>
        </p:nvSpPr>
        <p:spPr>
          <a:xfrm>
            <a:off x="180000" y="4122000"/>
            <a:ext cx="11340000" cy="432000"/>
          </a:xfrm>
          <a:prstGeom prst="rect">
            <a:avLst/>
          </a:prstGeom>
          <a:solidFill>
            <a:srgbClr val="1020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252000" y="4122000"/>
            <a:ext cx="2592000" cy="432000"/>
          </a:xfrm>
          <a:prstGeom prst="rect">
            <a:avLst/>
          </a:prstGeom>
          <a:noFill/>
        </p:spPr>
        <p:txBody>
          <a:bodyPr wrap="square">
            <a:spAutoFit/>
          </a:bodyPr>
          <a:lstStyle/>
          <a:p>
            <a:pPr algn="l"/>
            <a:r>
              <a:rPr sz="1100" b="0" i="0">
                <a:solidFill>
                  <a:srgbClr val="FFFFFF"/>
                </a:solidFill>
                <a:latin typeface="Calibri"/>
              </a:rPr>
              <a:t>Decentralised</a:t>
            </a:r>
          </a:p>
        </p:txBody>
      </p:sp>
      <p:sp>
        <p:nvSpPr>
          <p:cNvPr id="181" name="Oval 180"/>
          <p:cNvSpPr/>
          <p:nvPr/>
        </p:nvSpPr>
        <p:spPr>
          <a:xfrm>
            <a:off x="2980800" y="426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Oval 181"/>
          <p:cNvSpPr/>
          <p:nvPr/>
        </p:nvSpPr>
        <p:spPr>
          <a:xfrm>
            <a:off x="3265200" y="428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Oval 182"/>
          <p:cNvSpPr/>
          <p:nvPr/>
        </p:nvSpPr>
        <p:spPr>
          <a:xfrm>
            <a:off x="3535200" y="428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Oval 183"/>
          <p:cNvSpPr/>
          <p:nvPr/>
        </p:nvSpPr>
        <p:spPr>
          <a:xfrm>
            <a:off x="3805200" y="428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Oval 184"/>
          <p:cNvSpPr/>
          <p:nvPr/>
        </p:nvSpPr>
        <p:spPr>
          <a:xfrm>
            <a:off x="4075200" y="428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Oval 185"/>
          <p:cNvSpPr/>
          <p:nvPr/>
        </p:nvSpPr>
        <p:spPr>
          <a:xfrm>
            <a:off x="4708800" y="426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Oval 186"/>
          <p:cNvSpPr/>
          <p:nvPr/>
        </p:nvSpPr>
        <p:spPr>
          <a:xfrm>
            <a:off x="4978800" y="426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Oval 187"/>
          <p:cNvSpPr/>
          <p:nvPr/>
        </p:nvSpPr>
        <p:spPr>
          <a:xfrm>
            <a:off x="5263200" y="428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Oval 188"/>
          <p:cNvSpPr/>
          <p:nvPr/>
        </p:nvSpPr>
        <p:spPr>
          <a:xfrm>
            <a:off x="5533200" y="428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Oval 189"/>
          <p:cNvSpPr/>
          <p:nvPr/>
        </p:nvSpPr>
        <p:spPr>
          <a:xfrm>
            <a:off x="5803200" y="428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Oval 190"/>
          <p:cNvSpPr/>
          <p:nvPr/>
        </p:nvSpPr>
        <p:spPr>
          <a:xfrm>
            <a:off x="6436800" y="426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Oval 191"/>
          <p:cNvSpPr/>
          <p:nvPr/>
        </p:nvSpPr>
        <p:spPr>
          <a:xfrm>
            <a:off x="6706800" y="426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Oval 192"/>
          <p:cNvSpPr/>
          <p:nvPr/>
        </p:nvSpPr>
        <p:spPr>
          <a:xfrm>
            <a:off x="6976800" y="426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Oval 193"/>
          <p:cNvSpPr/>
          <p:nvPr/>
        </p:nvSpPr>
        <p:spPr>
          <a:xfrm>
            <a:off x="7261200" y="428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Oval 194"/>
          <p:cNvSpPr/>
          <p:nvPr/>
        </p:nvSpPr>
        <p:spPr>
          <a:xfrm>
            <a:off x="7531200" y="428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Oval 195"/>
          <p:cNvSpPr/>
          <p:nvPr/>
        </p:nvSpPr>
        <p:spPr>
          <a:xfrm>
            <a:off x="8164800" y="426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Oval 196"/>
          <p:cNvSpPr/>
          <p:nvPr/>
        </p:nvSpPr>
        <p:spPr>
          <a:xfrm>
            <a:off x="8434800" y="426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Oval 197"/>
          <p:cNvSpPr/>
          <p:nvPr/>
        </p:nvSpPr>
        <p:spPr>
          <a:xfrm>
            <a:off x="8719200" y="428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Oval 198"/>
          <p:cNvSpPr/>
          <p:nvPr/>
        </p:nvSpPr>
        <p:spPr>
          <a:xfrm>
            <a:off x="8989200" y="428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Oval 199"/>
          <p:cNvSpPr/>
          <p:nvPr/>
        </p:nvSpPr>
        <p:spPr>
          <a:xfrm>
            <a:off x="9259200" y="428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Oval 200"/>
          <p:cNvSpPr/>
          <p:nvPr/>
        </p:nvSpPr>
        <p:spPr>
          <a:xfrm>
            <a:off x="9892800" y="4267800"/>
            <a:ext cx="158400" cy="1584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Oval 201"/>
          <p:cNvSpPr/>
          <p:nvPr/>
        </p:nvSpPr>
        <p:spPr>
          <a:xfrm>
            <a:off x="10162800" y="4267800"/>
            <a:ext cx="158400" cy="1584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Oval 202"/>
          <p:cNvSpPr/>
          <p:nvPr/>
        </p:nvSpPr>
        <p:spPr>
          <a:xfrm>
            <a:off x="10432800" y="4267800"/>
            <a:ext cx="158400" cy="1584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Oval 203"/>
          <p:cNvSpPr/>
          <p:nvPr/>
        </p:nvSpPr>
        <p:spPr>
          <a:xfrm>
            <a:off x="10702800" y="4267800"/>
            <a:ext cx="158400" cy="1584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Oval 204"/>
          <p:cNvSpPr/>
          <p:nvPr/>
        </p:nvSpPr>
        <p:spPr>
          <a:xfrm>
            <a:off x="10972800" y="4267800"/>
            <a:ext cx="158400" cy="1584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Rectangle 205"/>
          <p:cNvSpPr/>
          <p:nvPr/>
        </p:nvSpPr>
        <p:spPr>
          <a:xfrm>
            <a:off x="180000" y="4572000"/>
            <a:ext cx="11340000" cy="432000"/>
          </a:xfrm>
          <a:prstGeom prst="rect">
            <a:avLst/>
          </a:prstGeom>
          <a:solidFill>
            <a:srgbClr val="0A14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TextBox 206"/>
          <p:cNvSpPr txBox="1"/>
          <p:nvPr/>
        </p:nvSpPr>
        <p:spPr>
          <a:xfrm>
            <a:off x="252000" y="4572000"/>
            <a:ext cx="2592000" cy="432000"/>
          </a:xfrm>
          <a:prstGeom prst="rect">
            <a:avLst/>
          </a:prstGeom>
          <a:noFill/>
        </p:spPr>
        <p:txBody>
          <a:bodyPr wrap="square">
            <a:spAutoFit/>
          </a:bodyPr>
          <a:lstStyle/>
          <a:p>
            <a:pPr algn="l"/>
            <a:r>
              <a:rPr sz="1100" b="0" i="0">
                <a:solidFill>
                  <a:srgbClr val="FFFFFF"/>
                </a:solidFill>
                <a:latin typeface="Calibri"/>
              </a:rPr>
              <a:t>Open Protocol</a:t>
            </a:r>
          </a:p>
        </p:txBody>
      </p:sp>
      <p:sp>
        <p:nvSpPr>
          <p:cNvPr id="208" name="Oval 207"/>
          <p:cNvSpPr/>
          <p:nvPr/>
        </p:nvSpPr>
        <p:spPr>
          <a:xfrm>
            <a:off x="2980800" y="471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Oval 208"/>
          <p:cNvSpPr/>
          <p:nvPr/>
        </p:nvSpPr>
        <p:spPr>
          <a:xfrm>
            <a:off x="3250800" y="471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Oval 209"/>
          <p:cNvSpPr/>
          <p:nvPr/>
        </p:nvSpPr>
        <p:spPr>
          <a:xfrm>
            <a:off x="3535200" y="473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Oval 210"/>
          <p:cNvSpPr/>
          <p:nvPr/>
        </p:nvSpPr>
        <p:spPr>
          <a:xfrm>
            <a:off x="3805200" y="473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Oval 211"/>
          <p:cNvSpPr/>
          <p:nvPr/>
        </p:nvSpPr>
        <p:spPr>
          <a:xfrm>
            <a:off x="4075200" y="473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Oval 212"/>
          <p:cNvSpPr/>
          <p:nvPr/>
        </p:nvSpPr>
        <p:spPr>
          <a:xfrm>
            <a:off x="4708800" y="471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Oval 213"/>
          <p:cNvSpPr/>
          <p:nvPr/>
        </p:nvSpPr>
        <p:spPr>
          <a:xfrm>
            <a:off x="4978800" y="471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Oval 214"/>
          <p:cNvSpPr/>
          <p:nvPr/>
        </p:nvSpPr>
        <p:spPr>
          <a:xfrm>
            <a:off x="5248800" y="471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Oval 215"/>
          <p:cNvSpPr/>
          <p:nvPr/>
        </p:nvSpPr>
        <p:spPr>
          <a:xfrm>
            <a:off x="5533200" y="473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Oval 216"/>
          <p:cNvSpPr/>
          <p:nvPr/>
        </p:nvSpPr>
        <p:spPr>
          <a:xfrm>
            <a:off x="5803200" y="473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Oval 217"/>
          <p:cNvSpPr/>
          <p:nvPr/>
        </p:nvSpPr>
        <p:spPr>
          <a:xfrm>
            <a:off x="6436800" y="471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Oval 218"/>
          <p:cNvSpPr/>
          <p:nvPr/>
        </p:nvSpPr>
        <p:spPr>
          <a:xfrm>
            <a:off x="6706800" y="471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Oval 219"/>
          <p:cNvSpPr/>
          <p:nvPr/>
        </p:nvSpPr>
        <p:spPr>
          <a:xfrm>
            <a:off x="6976800" y="471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Oval 220"/>
          <p:cNvSpPr/>
          <p:nvPr/>
        </p:nvSpPr>
        <p:spPr>
          <a:xfrm>
            <a:off x="7246800" y="471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Oval 221"/>
          <p:cNvSpPr/>
          <p:nvPr/>
        </p:nvSpPr>
        <p:spPr>
          <a:xfrm>
            <a:off x="7531200" y="473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Oval 222"/>
          <p:cNvSpPr/>
          <p:nvPr/>
        </p:nvSpPr>
        <p:spPr>
          <a:xfrm>
            <a:off x="8164800" y="471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Oval 223"/>
          <p:cNvSpPr/>
          <p:nvPr/>
        </p:nvSpPr>
        <p:spPr>
          <a:xfrm>
            <a:off x="8434800" y="4717800"/>
            <a:ext cx="158400" cy="1584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Oval 224"/>
          <p:cNvSpPr/>
          <p:nvPr/>
        </p:nvSpPr>
        <p:spPr>
          <a:xfrm>
            <a:off x="8719200" y="473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Oval 225"/>
          <p:cNvSpPr/>
          <p:nvPr/>
        </p:nvSpPr>
        <p:spPr>
          <a:xfrm>
            <a:off x="8989200" y="473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Oval 226"/>
          <p:cNvSpPr/>
          <p:nvPr/>
        </p:nvSpPr>
        <p:spPr>
          <a:xfrm>
            <a:off x="9259200" y="4732200"/>
            <a:ext cx="129600" cy="129600"/>
          </a:xfrm>
          <a:prstGeom prst="ellipse">
            <a:avLst/>
          </a:prstGeom>
          <a:solidFill>
            <a:srgbClr val="4A5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Oval 227"/>
          <p:cNvSpPr/>
          <p:nvPr/>
        </p:nvSpPr>
        <p:spPr>
          <a:xfrm>
            <a:off x="9892800" y="4717800"/>
            <a:ext cx="158400" cy="1584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Oval 228"/>
          <p:cNvSpPr/>
          <p:nvPr/>
        </p:nvSpPr>
        <p:spPr>
          <a:xfrm>
            <a:off x="10162800" y="4717800"/>
            <a:ext cx="158400" cy="1584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Oval 229"/>
          <p:cNvSpPr/>
          <p:nvPr/>
        </p:nvSpPr>
        <p:spPr>
          <a:xfrm>
            <a:off x="10432800" y="4717800"/>
            <a:ext cx="158400" cy="1584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Oval 230"/>
          <p:cNvSpPr/>
          <p:nvPr/>
        </p:nvSpPr>
        <p:spPr>
          <a:xfrm>
            <a:off x="10702800" y="4717800"/>
            <a:ext cx="158400" cy="1584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Oval 231"/>
          <p:cNvSpPr/>
          <p:nvPr/>
        </p:nvSpPr>
        <p:spPr>
          <a:xfrm>
            <a:off x="10972800" y="4717800"/>
            <a:ext cx="158400" cy="1584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Rectangle 232"/>
          <p:cNvSpPr/>
          <p:nvPr/>
        </p:nvSpPr>
        <p:spPr>
          <a:xfrm>
            <a:off x="180000" y="5130000"/>
            <a:ext cx="4320000" cy="251999"/>
          </a:xfrm>
          <a:prstGeom prst="rect">
            <a:avLst/>
          </a:prstGeom>
          <a:solidFill>
            <a:srgbClr val="0A14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Oval 233"/>
          <p:cNvSpPr/>
          <p:nvPr/>
        </p:nvSpPr>
        <p:spPr>
          <a:xfrm>
            <a:off x="252000" y="5184000"/>
            <a:ext cx="144000" cy="1440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TextBox 234"/>
          <p:cNvSpPr txBox="1"/>
          <p:nvPr/>
        </p:nvSpPr>
        <p:spPr>
          <a:xfrm>
            <a:off x="468000" y="5147999"/>
            <a:ext cx="3960000" cy="216000"/>
          </a:xfrm>
          <a:prstGeom prst="rect">
            <a:avLst/>
          </a:prstGeom>
          <a:noFill/>
        </p:spPr>
        <p:txBody>
          <a:bodyPr wrap="square">
            <a:spAutoFit/>
          </a:bodyPr>
          <a:lstStyle/>
          <a:p>
            <a:pPr algn="l"/>
            <a:r>
              <a:rPr sz="1000" b="0" i="0">
                <a:solidFill>
                  <a:srgbClr val="B0C4DE"/>
                </a:solidFill>
                <a:latin typeface="Calibri"/>
              </a:rPr>
              <a:t>Filled = capability present  |  5 dots = maximum  |  Green = MegaNet advantage</a:t>
            </a:r>
          </a:p>
        </p:txBody>
      </p:sp>
      <p:sp>
        <p:nvSpPr>
          <p:cNvPr id="236" name="Rectangle 235"/>
          <p:cNvSpPr/>
          <p:nvPr/>
        </p:nvSpPr>
        <p:spPr>
          <a:xfrm>
            <a:off x="0" y="6534000"/>
            <a:ext cx="12193200" cy="324000"/>
          </a:xfrm>
          <a:prstGeom prst="rect">
            <a:avLst/>
          </a:prstGeom>
          <a:solidFill>
            <a:srgbClr val="0F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TextBox 236"/>
          <p:cNvSpPr txBox="1"/>
          <p:nvPr/>
        </p:nvSpPr>
        <p:spPr>
          <a:xfrm>
            <a:off x="360000" y="6552000"/>
            <a:ext cx="11473200" cy="288000"/>
          </a:xfrm>
          <a:prstGeom prst="rect">
            <a:avLst/>
          </a:prstGeom>
          <a:noFill/>
        </p:spPr>
        <p:txBody>
          <a:bodyPr wrap="square">
            <a:spAutoFit/>
          </a:bodyPr>
          <a:lstStyle/>
          <a:p>
            <a:pPr algn="ctr"/>
            <a:r>
              <a:rPr sz="1000" b="0" i="0">
                <a:solidFill>
                  <a:srgbClr val="B0C4DE"/>
                </a:solidFill>
                <a:latin typeface="Calibri"/>
              </a:rPr>
              <a:t>MegaNet MVP  |  Executive Briefing  |  2026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42A"/>
        </a:solidFill>
        <a:effectLst/>
      </p:bgPr>
    </p:bg>
    <p:spTree>
      <p:nvGrpSpPr>
        <p:cNvPr id="1" name=""/>
        <p:cNvGrpSpPr/>
        <p:nvPr/>
      </p:nvGrpSpPr>
      <p:grpSpPr/>
      <p:sp>
        <p:nvSpPr>
          <p:cNvPr id="2" name="Rectangle 1"/>
          <p:cNvSpPr/>
          <p:nvPr/>
        </p:nvSpPr>
        <p:spPr>
          <a:xfrm>
            <a:off x="0" y="0"/>
            <a:ext cx="12193200" cy="864000"/>
          </a:xfrm>
          <a:prstGeom prst="rect">
            <a:avLst/>
          </a:prstGeom>
          <a:solidFill>
            <a:srgbClr val="0F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4000"/>
            <a:ext cx="12193200" cy="54000"/>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0000" y="90000"/>
            <a:ext cx="11473200" cy="576000"/>
          </a:xfrm>
          <a:prstGeom prst="rect">
            <a:avLst/>
          </a:prstGeom>
          <a:noFill/>
        </p:spPr>
        <p:txBody>
          <a:bodyPr wrap="square">
            <a:spAutoFit/>
          </a:bodyPr>
          <a:lstStyle/>
          <a:p>
            <a:pPr algn="l"/>
            <a:r>
              <a:rPr sz="2600" b="1" i="0">
                <a:solidFill>
                  <a:srgbClr val="FFFFFF"/>
                </a:solidFill>
                <a:latin typeface="Calibri"/>
              </a:rPr>
              <a:t>Executive Summary</a:t>
            </a:r>
          </a:p>
        </p:txBody>
      </p:sp>
      <p:sp>
        <p:nvSpPr>
          <p:cNvPr id="5" name="TextBox 4"/>
          <p:cNvSpPr txBox="1"/>
          <p:nvPr/>
        </p:nvSpPr>
        <p:spPr>
          <a:xfrm>
            <a:off x="360000" y="558000"/>
            <a:ext cx="11473200" cy="324000"/>
          </a:xfrm>
          <a:prstGeom prst="rect">
            <a:avLst/>
          </a:prstGeom>
          <a:noFill/>
        </p:spPr>
        <p:txBody>
          <a:bodyPr wrap="square">
            <a:spAutoFit/>
          </a:bodyPr>
          <a:lstStyle/>
          <a:p>
            <a:pPr algn="l"/>
            <a:r>
              <a:rPr sz="1300" b="0" i="0">
                <a:solidFill>
                  <a:srgbClr val="00D4FF"/>
                </a:solidFill>
                <a:latin typeface="Calibri"/>
              </a:rPr>
              <a:t>Three reasons MegaNet matters</a:t>
            </a:r>
          </a:p>
        </p:txBody>
      </p:sp>
      <p:sp>
        <p:nvSpPr>
          <p:cNvPr id="6" name="Rectangle 5"/>
          <p:cNvSpPr/>
          <p:nvPr/>
        </p:nvSpPr>
        <p:spPr>
          <a:xfrm>
            <a:off x="180000" y="972000"/>
            <a:ext cx="3780000" cy="4626000"/>
          </a:xfrm>
          <a:prstGeom prst="rect">
            <a:avLst/>
          </a:prstGeom>
          <a:solidFill>
            <a:srgbClr val="0C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0000" y="972000"/>
            <a:ext cx="3780000" cy="180000"/>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746000" y="1188000"/>
            <a:ext cx="648000" cy="6480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890000" y="1296000"/>
            <a:ext cx="360000" cy="360000"/>
          </a:xfrm>
          <a:prstGeom prst="rect">
            <a:avLst/>
          </a:prstGeom>
          <a:noFill/>
        </p:spPr>
        <p:txBody>
          <a:bodyPr wrap="square">
            <a:spAutoFit/>
          </a:bodyPr>
          <a:lstStyle/>
          <a:p>
            <a:pPr algn="ctr"/>
            <a:r>
              <a:rPr sz="2800" b="1" i="0">
                <a:solidFill>
                  <a:srgbClr val="FFFFFF"/>
                </a:solidFill>
                <a:latin typeface="Calibri"/>
              </a:rPr>
              <a:t>1</a:t>
            </a:r>
          </a:p>
        </p:txBody>
      </p:sp>
      <p:sp>
        <p:nvSpPr>
          <p:cNvPr id="10" name="TextBox 9"/>
          <p:cNvSpPr txBox="1"/>
          <p:nvPr/>
        </p:nvSpPr>
        <p:spPr>
          <a:xfrm>
            <a:off x="324000" y="1979999"/>
            <a:ext cx="3492000" cy="360000"/>
          </a:xfrm>
          <a:prstGeom prst="rect">
            <a:avLst/>
          </a:prstGeom>
          <a:noFill/>
        </p:spPr>
        <p:txBody>
          <a:bodyPr wrap="square">
            <a:spAutoFit/>
          </a:bodyPr>
          <a:lstStyle/>
          <a:p>
            <a:pPr algn="l"/>
            <a:r>
              <a:rPr sz="1700" b="1" i="0">
                <a:solidFill>
                  <a:srgbClr val="008CFF"/>
                </a:solidFill>
                <a:latin typeface="Calibri"/>
              </a:rPr>
              <a:t>1. Freedom</a:t>
            </a:r>
          </a:p>
        </p:txBody>
      </p:sp>
      <p:sp>
        <p:nvSpPr>
          <p:cNvPr id="11" name="TextBox 10"/>
          <p:cNvSpPr txBox="1"/>
          <p:nvPr/>
        </p:nvSpPr>
        <p:spPr>
          <a:xfrm>
            <a:off x="324000" y="2376000"/>
            <a:ext cx="3492000" cy="3114000"/>
          </a:xfrm>
          <a:prstGeom prst="rect">
            <a:avLst/>
          </a:prstGeom>
          <a:noFill/>
        </p:spPr>
        <p:txBody>
          <a:bodyPr wrap="square">
            <a:spAutoFit/>
          </a:bodyPr>
          <a:lstStyle/>
          <a:p>
            <a:pPr algn="l"/>
            <a:r>
              <a:rPr sz="1200" b="0" i="0">
                <a:solidFill>
                  <a:srgbClr val="FFFFFF"/>
                </a:solidFill>
                <a:latin typeface="Calibri"/>
              </a:rPr>
              <a:t>No IP addresses means no government or corporation
can switch off your ability to communicate.
MegaNet is the first protocol where the address
is mathematically derived from who you are,
not where you live or who your ISP is.</a:t>
            </a:r>
          </a:p>
        </p:txBody>
      </p:sp>
      <p:sp>
        <p:nvSpPr>
          <p:cNvPr id="12" name="Rectangle 11"/>
          <p:cNvSpPr/>
          <p:nvPr/>
        </p:nvSpPr>
        <p:spPr>
          <a:xfrm>
            <a:off x="4140000" y="972000"/>
            <a:ext cx="3780000" cy="4626000"/>
          </a:xfrm>
          <a:prstGeom prst="rect">
            <a:avLst/>
          </a:prstGeom>
          <a:solidFill>
            <a:srgbClr val="0C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40000" y="972000"/>
            <a:ext cx="3780000" cy="180000"/>
          </a:xfrm>
          <a:prstGeom prst="rect">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706000" y="1188000"/>
            <a:ext cx="648000" cy="6480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0000" y="1296000"/>
            <a:ext cx="360000" cy="360000"/>
          </a:xfrm>
          <a:prstGeom prst="rect">
            <a:avLst/>
          </a:prstGeom>
          <a:noFill/>
        </p:spPr>
        <p:txBody>
          <a:bodyPr wrap="square">
            <a:spAutoFit/>
          </a:bodyPr>
          <a:lstStyle/>
          <a:p>
            <a:pPr algn="ctr"/>
            <a:r>
              <a:rPr sz="2800" b="1" i="0">
                <a:solidFill>
                  <a:srgbClr val="FFFFFF"/>
                </a:solidFill>
                <a:latin typeface="Calibri"/>
              </a:rPr>
              <a:t>2</a:t>
            </a:r>
          </a:p>
        </p:txBody>
      </p:sp>
      <p:sp>
        <p:nvSpPr>
          <p:cNvPr id="16" name="TextBox 15"/>
          <p:cNvSpPr txBox="1"/>
          <p:nvPr/>
        </p:nvSpPr>
        <p:spPr>
          <a:xfrm>
            <a:off x="4284000" y="1979999"/>
            <a:ext cx="3492000" cy="360000"/>
          </a:xfrm>
          <a:prstGeom prst="rect">
            <a:avLst/>
          </a:prstGeom>
          <a:noFill/>
        </p:spPr>
        <p:txBody>
          <a:bodyPr wrap="square">
            <a:spAutoFit/>
          </a:bodyPr>
          <a:lstStyle/>
          <a:p>
            <a:pPr algn="l"/>
            <a:r>
              <a:rPr sz="1700" b="1" i="0">
                <a:solidFill>
                  <a:srgbClr val="00C86E"/>
                </a:solidFill>
                <a:latin typeface="Calibri"/>
              </a:rPr>
              <a:t>2. Security</a:t>
            </a:r>
          </a:p>
        </p:txBody>
      </p:sp>
      <p:sp>
        <p:nvSpPr>
          <p:cNvPr id="17" name="TextBox 16"/>
          <p:cNvSpPr txBox="1"/>
          <p:nvPr/>
        </p:nvSpPr>
        <p:spPr>
          <a:xfrm>
            <a:off x="4284000" y="2376000"/>
            <a:ext cx="3492000" cy="3114000"/>
          </a:xfrm>
          <a:prstGeom prst="rect">
            <a:avLst/>
          </a:prstGeom>
          <a:noFill/>
        </p:spPr>
        <p:txBody>
          <a:bodyPr wrap="square">
            <a:spAutoFit/>
          </a:bodyPr>
          <a:lstStyle/>
          <a:p>
            <a:pPr algn="l"/>
            <a:r>
              <a:rPr sz="1200" b="0" i="0">
                <a:solidFill>
                  <a:srgbClr val="FFFFFF"/>
                </a:solidFill>
                <a:latin typeface="Calibri"/>
              </a:rPr>
              <a:t>Every message is encrypted end-to-end using
best-in-class algorithms (X25519 + ChaCha20).
Every transaction is signed and immutably
recorded on a blockchain — creating a permanent,
tamper-proof audit trail.</a:t>
            </a:r>
          </a:p>
        </p:txBody>
      </p:sp>
      <p:sp>
        <p:nvSpPr>
          <p:cNvPr id="18" name="Rectangle 17"/>
          <p:cNvSpPr/>
          <p:nvPr/>
        </p:nvSpPr>
        <p:spPr>
          <a:xfrm>
            <a:off x="8100000" y="972000"/>
            <a:ext cx="3780000" cy="4626000"/>
          </a:xfrm>
          <a:prstGeom prst="rect">
            <a:avLst/>
          </a:prstGeom>
          <a:solidFill>
            <a:srgbClr val="0C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00000" y="972000"/>
            <a:ext cx="3780000" cy="18000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666000" y="1188000"/>
            <a:ext cx="648000" cy="648000"/>
          </a:xfrm>
          <a:prstGeom prst="ellipse">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10000" y="1296000"/>
            <a:ext cx="360000" cy="360000"/>
          </a:xfrm>
          <a:prstGeom prst="rect">
            <a:avLst/>
          </a:prstGeom>
          <a:noFill/>
        </p:spPr>
        <p:txBody>
          <a:bodyPr wrap="square">
            <a:spAutoFit/>
          </a:bodyPr>
          <a:lstStyle/>
          <a:p>
            <a:pPr algn="ctr"/>
            <a:r>
              <a:rPr sz="2800" b="1" i="0">
                <a:solidFill>
                  <a:srgbClr val="FFFFFF"/>
                </a:solidFill>
                <a:latin typeface="Calibri"/>
              </a:rPr>
              <a:t>3</a:t>
            </a:r>
          </a:p>
        </p:txBody>
      </p:sp>
      <p:sp>
        <p:nvSpPr>
          <p:cNvPr id="22" name="TextBox 21"/>
          <p:cNvSpPr txBox="1"/>
          <p:nvPr/>
        </p:nvSpPr>
        <p:spPr>
          <a:xfrm>
            <a:off x="8244000" y="1979999"/>
            <a:ext cx="3492000" cy="360000"/>
          </a:xfrm>
          <a:prstGeom prst="rect">
            <a:avLst/>
          </a:prstGeom>
          <a:noFill/>
        </p:spPr>
        <p:txBody>
          <a:bodyPr wrap="square">
            <a:spAutoFit/>
          </a:bodyPr>
          <a:lstStyle/>
          <a:p>
            <a:pPr algn="l"/>
            <a:r>
              <a:rPr sz="1700" b="1" i="0">
                <a:solidFill>
                  <a:srgbClr val="FF8C00"/>
                </a:solidFill>
                <a:latin typeface="Calibri"/>
              </a:rPr>
              <a:t>3. Resilience</a:t>
            </a:r>
          </a:p>
        </p:txBody>
      </p:sp>
      <p:sp>
        <p:nvSpPr>
          <p:cNvPr id="23" name="TextBox 22"/>
          <p:cNvSpPr txBox="1"/>
          <p:nvPr/>
        </p:nvSpPr>
        <p:spPr>
          <a:xfrm>
            <a:off x="8244000" y="2376000"/>
            <a:ext cx="3492000" cy="3114000"/>
          </a:xfrm>
          <a:prstGeom prst="rect">
            <a:avLst/>
          </a:prstGeom>
          <a:noFill/>
        </p:spPr>
        <p:txBody>
          <a:bodyPr wrap="square">
            <a:spAutoFit/>
          </a:bodyPr>
          <a:lstStyle/>
          <a:p>
            <a:pPr algn="l"/>
            <a:r>
              <a:rPr sz="1200" b="0" i="0">
                <a:solidFill>
                  <a:srgbClr val="FFFFFF"/>
                </a:solidFill>
                <a:latin typeface="Calibri"/>
              </a:rPr>
              <a:t>No single gateway, server, or nation can take
down the network. Data is fragmented and
distributed — 'homeless', unownable.
LoRa radio links survive when fibre is cut,
towers are destroyed, or ISPs are coerced.</a:t>
            </a:r>
          </a:p>
        </p:txBody>
      </p:sp>
      <p:sp>
        <p:nvSpPr>
          <p:cNvPr id="24" name="Rectangle 23"/>
          <p:cNvSpPr/>
          <p:nvPr/>
        </p:nvSpPr>
        <p:spPr>
          <a:xfrm>
            <a:off x="0" y="5958000"/>
            <a:ext cx="12193200" cy="576000"/>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0000" y="5994000"/>
            <a:ext cx="11473200" cy="503999"/>
          </a:xfrm>
          <a:prstGeom prst="rect">
            <a:avLst/>
          </a:prstGeom>
          <a:noFill/>
        </p:spPr>
        <p:txBody>
          <a:bodyPr wrap="square">
            <a:spAutoFit/>
          </a:bodyPr>
          <a:lstStyle/>
          <a:p>
            <a:pPr algn="ctr"/>
            <a:r>
              <a:rPr sz="1400" b="1" i="0">
                <a:solidFill>
                  <a:srgbClr val="FFFFFF"/>
                </a:solidFill>
                <a:latin typeface="Calibri"/>
              </a:rPr>
              <a:t>MVP proven  |  42/42 tests pass  |  Full E2E demo: python main.py  |  Ready for hardware phase</a:t>
            </a:r>
          </a:p>
        </p:txBody>
      </p:sp>
      <p:sp>
        <p:nvSpPr>
          <p:cNvPr id="26" name="Rectangle 25"/>
          <p:cNvSpPr/>
          <p:nvPr/>
        </p:nvSpPr>
        <p:spPr>
          <a:xfrm>
            <a:off x="0" y="6534000"/>
            <a:ext cx="12193200" cy="324000"/>
          </a:xfrm>
          <a:prstGeom prst="rect">
            <a:avLst/>
          </a:prstGeom>
          <a:solidFill>
            <a:srgbClr val="0F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0000" y="6552000"/>
            <a:ext cx="11473200" cy="288000"/>
          </a:xfrm>
          <a:prstGeom prst="rect">
            <a:avLst/>
          </a:prstGeom>
          <a:noFill/>
        </p:spPr>
        <p:txBody>
          <a:bodyPr wrap="square">
            <a:spAutoFit/>
          </a:bodyPr>
          <a:lstStyle/>
          <a:p>
            <a:pPr algn="ctr"/>
            <a:r>
              <a:rPr sz="1000" b="0" i="0">
                <a:solidFill>
                  <a:srgbClr val="B0C4DE"/>
                </a:solidFill>
                <a:latin typeface="Calibri"/>
              </a:rPr>
              <a:t>MegaNet MVP  |  Executive Briefing  |  2026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42A"/>
        </a:solidFill>
        <a:effectLst/>
      </p:bgPr>
    </p:bg>
    <p:spTree>
      <p:nvGrpSpPr>
        <p:cNvPr id="1" name=""/>
        <p:cNvGrpSpPr/>
        <p:nvPr/>
      </p:nvGrpSpPr>
      <p:grpSpPr/>
      <p:sp>
        <p:nvSpPr>
          <p:cNvPr id="2" name="Rectangle 1"/>
          <p:cNvSpPr/>
          <p:nvPr/>
        </p:nvSpPr>
        <p:spPr>
          <a:xfrm>
            <a:off x="8291376" y="0"/>
            <a:ext cx="3901824" cy="6858000"/>
          </a:xfrm>
          <a:prstGeom prst="rect">
            <a:avLst/>
          </a:prstGeom>
          <a:solidFill>
            <a:srgbClr val="050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91376" y="0"/>
            <a:ext cx="144000" cy="6858000"/>
          </a:xfrm>
          <a:prstGeom prst="rect">
            <a:avLst/>
          </a:prstGeom>
          <a:solidFill>
            <a:srgbClr val="00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687376" y="0"/>
            <a:ext cx="144000" cy="6858000"/>
          </a:xfrm>
          <a:prstGeom prst="rect">
            <a:avLst/>
          </a:prstGeom>
          <a:solidFill>
            <a:srgbClr val="0032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083376" y="0"/>
            <a:ext cx="144000" cy="6858000"/>
          </a:xfrm>
          <a:prstGeom prst="rect">
            <a:avLst/>
          </a:prstGeom>
          <a:solidFill>
            <a:srgbClr val="002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479376" y="0"/>
            <a:ext cx="144000" cy="6858000"/>
          </a:xfrm>
          <a:prstGeom prst="rect">
            <a:avLst/>
          </a:prstGeom>
          <a:solidFill>
            <a:srgbClr val="001E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376" y="0"/>
            <a:ext cx="144000" cy="6858000"/>
          </a:xfrm>
          <a:prstGeom prst="rect">
            <a:avLst/>
          </a:prstGeom>
          <a:solidFill>
            <a:srgbClr val="0014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982288" y="1826100"/>
            <a:ext cx="2520000" cy="2520000"/>
          </a:xfrm>
          <a:prstGeom prst="ellipse">
            <a:avLst/>
          </a:prstGeom>
          <a:solidFill>
            <a:srgbClr val="001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50288" y="2294100"/>
            <a:ext cx="1584000" cy="1584000"/>
          </a:xfrm>
          <a:prstGeom prst="ellipse">
            <a:avLst/>
          </a:prstGeom>
          <a:solidFill>
            <a:srgbClr val="0032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810288" y="2654100"/>
            <a:ext cx="864000" cy="864000"/>
          </a:xfrm>
          <a:prstGeom prst="ellipse">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062288" y="2906100"/>
            <a:ext cx="360000" cy="3600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10242288.0" y="3086100.0"/>
            <a:ext cx="1018233.7649086285" cy="1018233.7649086285"/>
          </a:xfrm>
          <a:prstGeom prst="line">
            <a:avLst/>
          </a:prstGeom>
          <a:ln w="19050">
            <a:solidFill>
              <a:srgbClr val="008CFF"/>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1098521" y="3942333"/>
            <a:ext cx="324000" cy="32400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flipH="1">
            <a:off x="9224054.235091371" y="3086100.0"/>
            <a:ext cx="1018233.7649086285" cy="1018233.7649086285"/>
          </a:xfrm>
          <a:prstGeom prst="line">
            <a:avLst/>
          </a:prstGeom>
          <a:ln w="19050">
            <a:solidFill>
              <a:srgbClr val="008CFF"/>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9062054" y="3942333"/>
            <a:ext cx="324000" cy="324000"/>
          </a:xfrm>
          <a:prstGeom prst="ellipse">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flipH="1" flipV="1">
            <a:off x="9224054.235091371" y="2067866.2350913717"/>
            <a:ext cx="1018233.7649086285" cy="1018233.7649086283"/>
          </a:xfrm>
          <a:prstGeom prst="line">
            <a:avLst/>
          </a:prstGeom>
          <a:ln w="19050">
            <a:solidFill>
              <a:srgbClr val="008CFF"/>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9062054" y="1905866"/>
            <a:ext cx="324000" cy="324000"/>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flipV="1">
            <a:off x="10242288.0" y="2067866.2350913715"/>
            <a:ext cx="1018233.7649086285" cy="1018233.7649086285"/>
          </a:xfrm>
          <a:prstGeom prst="line">
            <a:avLst/>
          </a:prstGeom>
          <a:ln w="19050">
            <a:solidFill>
              <a:srgbClr val="008CFF"/>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11098521" y="1905866"/>
            <a:ext cx="324000" cy="324000"/>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0000" y="1260000"/>
            <a:ext cx="7560000" cy="3960000"/>
          </a:xfrm>
          <a:prstGeom prst="rect">
            <a:avLst/>
          </a:prstGeom>
          <a:noFill/>
        </p:spPr>
        <p:txBody>
          <a:bodyPr wrap="square">
            <a:spAutoFit/>
          </a:bodyPr>
          <a:lstStyle/>
          <a:p>
            <a:pPr algn="l"/>
            <a:r>
              <a:rPr sz="5200" b="1">
                <a:solidFill>
                  <a:srgbClr val="FFFFFF"/>
                </a:solidFill>
                <a:latin typeface="Calibri"/>
              </a:rPr>
              <a:t>The internet</a:t>
            </a:r>
          </a:p>
          <a:p>
            <a:pPr algn="l"/>
            <a:r>
              <a:rPr sz="5200" b="1">
                <a:solidFill>
                  <a:srgbClr val="008CFF"/>
                </a:solidFill>
                <a:latin typeface="Calibri"/>
              </a:rPr>
              <a:t>can be rebuilt.</a:t>
            </a:r>
          </a:p>
          <a:p>
            <a:pPr algn="l">
              <a:spcAft>
                <a:spcPts val="400"/>
              </a:spcAft>
            </a:pPr>
          </a:p>
          <a:p>
            <a:pPr algn="l"/>
            <a:r>
              <a:rPr sz="2000" b="0">
                <a:solidFill>
                  <a:srgbClr val="00D4FF"/>
                </a:solidFill>
                <a:latin typeface="Calibri"/>
              </a:rPr>
              <a:t>No IPs. No DNS. No censorship.</a:t>
            </a:r>
          </a:p>
          <a:p>
            <a:pPr algn="l"/>
            <a:r>
              <a:rPr sz="2000" b="0">
                <a:solidFill>
                  <a:srgbClr val="00D4FF"/>
                </a:solidFill>
                <a:latin typeface="Calibri"/>
              </a:rPr>
              <a:t>No single point of failure.</a:t>
            </a:r>
          </a:p>
          <a:p>
            <a:pPr algn="l">
              <a:spcAft>
                <a:spcPts val="400"/>
              </a:spcAft>
            </a:pPr>
          </a:p>
          <a:p>
            <a:pPr algn="l"/>
            <a:r>
              <a:rPr sz="1300" b="0">
                <a:solidFill>
                  <a:srgbClr val="B0C4DE"/>
                </a:solidFill>
                <a:latin typeface="Calibri"/>
              </a:rPr>
              <a:t>MegaNet MVP v1.0 | 2026</a:t>
            </a:r>
          </a:p>
        </p:txBody>
      </p:sp>
      <p:sp>
        <p:nvSpPr>
          <p:cNvPr id="21" name="Rectangle 20"/>
          <p:cNvSpPr/>
          <p:nvPr/>
        </p:nvSpPr>
        <p:spPr>
          <a:xfrm>
            <a:off x="0" y="5958000"/>
            <a:ext cx="8280000" cy="900000"/>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80000" y="6030001"/>
            <a:ext cx="7920000" cy="720000"/>
          </a:xfrm>
          <a:prstGeom prst="rect">
            <a:avLst/>
          </a:prstGeom>
          <a:noFill/>
        </p:spPr>
        <p:txBody>
          <a:bodyPr wrap="square">
            <a:spAutoFit/>
          </a:bodyPr>
          <a:lstStyle/>
          <a:p>
            <a:pPr algn="ctr"/>
            <a:r>
              <a:rPr sz="1400" b="1" i="0">
                <a:solidFill>
                  <a:srgbClr val="FFFFFF"/>
                </a:solidFill>
                <a:latin typeface="Calibri"/>
              </a:rPr>
              <a:t>Code: /usr/src/meganet  |  Run: python main.py  |  Questions?</a:t>
            </a:r>
          </a:p>
        </p:txBody>
      </p:sp>
      <p:sp>
        <p:nvSpPr>
          <p:cNvPr id="23" name="Rectangle 22"/>
          <p:cNvSpPr/>
          <p:nvPr/>
        </p:nvSpPr>
        <p:spPr>
          <a:xfrm>
            <a:off x="0" y="6534000"/>
            <a:ext cx="12193200" cy="324000"/>
          </a:xfrm>
          <a:prstGeom prst="rect">
            <a:avLst/>
          </a:prstGeom>
          <a:solidFill>
            <a:srgbClr val="0F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0000" y="6552000"/>
            <a:ext cx="11473200" cy="288000"/>
          </a:xfrm>
          <a:prstGeom prst="rect">
            <a:avLst/>
          </a:prstGeom>
          <a:noFill/>
        </p:spPr>
        <p:txBody>
          <a:bodyPr wrap="square">
            <a:spAutoFit/>
          </a:bodyPr>
          <a:lstStyle/>
          <a:p>
            <a:pPr algn="ctr"/>
            <a:r>
              <a:rPr sz="1000" b="0" i="0">
                <a:solidFill>
                  <a:srgbClr val="B0C4DE"/>
                </a:solidFill>
                <a:latin typeface="Calibri"/>
              </a:rPr>
              <a:t>MegaNet MVP  |  Executive Briefing  |  Hacking Conference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